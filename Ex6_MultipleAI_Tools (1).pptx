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Word Count</c:v>
                </c:pt>
              </c:strCache>
            </c:strRef>
          </c:tx>
          <c:spPr>
            <a:solidFill>
              <a:srgbClr val="10A37F"/>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10A37F"/>
              </a:solidFill>
              <a:effectLst/>
            </c:spPr>
          </c:dPt>
          <c:dPt>
            <c:idx val="1"/>
            <c:invertIfNegative val="0"/>
            <c:bubble3D val="0"/>
            <c:spPr>
              <a:solidFill>
                <a:srgbClr val="7B46E0"/>
              </a:solidFill>
              <a:effectLst/>
            </c:spPr>
          </c:dPt>
          <c:dPt>
            <c:idx val="2"/>
            <c:invertIfNegative val="0"/>
            <c:bubble3D val="0"/>
            <c:spPr>
              <a:solidFill>
                <a:srgbClr val="1A73E8"/>
              </a:solidFill>
              <a:effectLst/>
            </c:spPr>
          </c:dPt>
          <c:cat>
            <c:multiLvlStrRef>
              <c:f>Sheet1!$A$2:$A$4</c:f>
              <c:multiLvlStrCache>
                <c:ptCount val="3"/>
                <c:lvl>
                  <c:pt idx="0">
                    <c:v>OpenAI</c:v>
                  </c:pt>
                  <c:pt idx="1">
                    <c:v>Claude</c:v>
                  </c:pt>
                  <c:pt idx="2">
                    <c:v>Gemini</c:v>
                  </c:pt>
                </c:lvl>
              </c:multiLvlStrCache>
            </c:multiLvlStrRef>
          </c:cat>
          <c:val>
            <c:numRef>
              <c:f>Sheet1!$B$2:$B$4</c:f>
              <c:numCache>
                <c:formatCode>General</c:formatCode>
                <c:ptCount val="3"/>
                <c:pt idx="0">
                  <c:v>142</c:v>
                </c:pt>
                <c:pt idx="1">
                  <c:v>189</c:v>
                </c:pt>
                <c:pt idx="2">
                  <c:v>165</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Latency</c:v>
                </c:pt>
              </c:strCache>
            </c:strRef>
          </c:tx>
          <c:spPr>
            <a:solidFill>
              <a:srgbClr val="10A37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0A37F"/>
              </a:solidFill>
              <a:effectLst/>
            </c:spPr>
          </c:dPt>
          <c:dPt>
            <c:idx val="1"/>
            <c:invertIfNegative val="0"/>
            <c:bubble3D val="0"/>
            <c:spPr>
              <a:solidFill>
                <a:srgbClr val="7B46E0"/>
              </a:solidFill>
              <a:effectLst/>
            </c:spPr>
          </c:dPt>
          <c:dPt>
            <c:idx val="2"/>
            <c:invertIfNegative val="0"/>
            <c:bubble3D val="0"/>
            <c:spPr>
              <a:solidFill>
                <a:srgbClr val="1A73E8"/>
              </a:solidFill>
              <a:effectLst/>
            </c:spPr>
          </c:dPt>
          <c:cat>
            <c:multiLvlStrRef>
              <c:f>Sheet1!$A$2:$A$4</c:f>
              <c:multiLvlStrCache>
                <c:ptCount val="3"/>
                <c:lvl>
                  <c:pt idx="0">
                    <c:v>OpenAI</c:v>
                  </c:pt>
                  <c:pt idx="1">
                    <c:v>Claude</c:v>
                  </c:pt>
                  <c:pt idx="2">
                    <c:v>Gemini</c:v>
                  </c:pt>
                </c:lvl>
              </c:multiLvlStrCache>
            </c:multiLvlStrRef>
          </c:cat>
          <c:val>
            <c:numRef>
              <c:f>Sheet1!$B$2:$B$4</c:f>
              <c:numCache>
                <c:formatCode>General</c:formatCode>
                <c:ptCount val="3"/>
                <c:pt idx="0">
                  <c:v>1.23</c:v>
                </c:pt>
                <c:pt idx="1">
                  <c:v>1.87</c:v>
                </c:pt>
                <c:pt idx="2">
                  <c:v>1.44</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Shape 1"/>
          <p:cNvSpPr/>
          <p:nvPr/>
        </p:nvSpPr>
        <p:spPr>
          <a:xfrm>
            <a:off x="457200" y="228600"/>
            <a:ext cx="64008" cy="64008"/>
          </a:xfrm>
          <a:prstGeom prst="ellipse">
            <a:avLst/>
          </a:prstGeom>
          <a:solidFill>
            <a:srgbClr val="FFFFFF">
              <a:alpha val="12000"/>
            </a:srgbClr>
          </a:solidFill>
          <a:ln w="12700">
            <a:solidFill>
              <a:srgbClr val="FFFFFF">
                <a:alpha val="12000"/>
              </a:srgbClr>
            </a:solidFill>
            <a:prstDash val="solid"/>
          </a:ln>
        </p:spPr>
      </p:sp>
      <p:sp>
        <p:nvSpPr>
          <p:cNvPr id="4" name="Shape 2"/>
          <p:cNvSpPr/>
          <p:nvPr/>
        </p:nvSpPr>
        <p:spPr>
          <a:xfrm>
            <a:off x="1234440" y="228600"/>
            <a:ext cx="64008" cy="64008"/>
          </a:xfrm>
          <a:prstGeom prst="ellipse">
            <a:avLst/>
          </a:prstGeom>
          <a:solidFill>
            <a:srgbClr val="FFFFFF">
              <a:alpha val="12000"/>
            </a:srgbClr>
          </a:solidFill>
          <a:ln w="12700">
            <a:solidFill>
              <a:srgbClr val="FFFFFF">
                <a:alpha val="12000"/>
              </a:srgbClr>
            </a:solidFill>
            <a:prstDash val="solid"/>
          </a:ln>
        </p:spPr>
      </p:sp>
      <p:sp>
        <p:nvSpPr>
          <p:cNvPr id="5" name="Shape 3"/>
          <p:cNvSpPr/>
          <p:nvPr/>
        </p:nvSpPr>
        <p:spPr>
          <a:xfrm>
            <a:off x="2011680" y="228600"/>
            <a:ext cx="64008" cy="64008"/>
          </a:xfrm>
          <a:prstGeom prst="ellipse">
            <a:avLst/>
          </a:prstGeom>
          <a:solidFill>
            <a:srgbClr val="FFFFFF">
              <a:alpha val="12000"/>
            </a:srgbClr>
          </a:solidFill>
          <a:ln w="12700">
            <a:solidFill>
              <a:srgbClr val="FFFFFF">
                <a:alpha val="12000"/>
              </a:srgbClr>
            </a:solidFill>
            <a:prstDash val="solid"/>
          </a:ln>
        </p:spPr>
      </p:sp>
      <p:sp>
        <p:nvSpPr>
          <p:cNvPr id="6" name="Shape 4"/>
          <p:cNvSpPr/>
          <p:nvPr/>
        </p:nvSpPr>
        <p:spPr>
          <a:xfrm>
            <a:off x="2788920" y="228600"/>
            <a:ext cx="64008" cy="64008"/>
          </a:xfrm>
          <a:prstGeom prst="ellipse">
            <a:avLst/>
          </a:prstGeom>
          <a:solidFill>
            <a:srgbClr val="FFFFFF">
              <a:alpha val="12000"/>
            </a:srgbClr>
          </a:solidFill>
          <a:ln w="12700">
            <a:solidFill>
              <a:srgbClr val="FFFFFF">
                <a:alpha val="12000"/>
              </a:srgbClr>
            </a:solidFill>
            <a:prstDash val="solid"/>
          </a:ln>
        </p:spPr>
      </p:sp>
      <p:sp>
        <p:nvSpPr>
          <p:cNvPr id="7" name="Shape 5"/>
          <p:cNvSpPr/>
          <p:nvPr/>
        </p:nvSpPr>
        <p:spPr>
          <a:xfrm>
            <a:off x="3566160" y="228600"/>
            <a:ext cx="64008" cy="64008"/>
          </a:xfrm>
          <a:prstGeom prst="ellipse">
            <a:avLst/>
          </a:prstGeom>
          <a:solidFill>
            <a:srgbClr val="FFFFFF">
              <a:alpha val="12000"/>
            </a:srgbClr>
          </a:solidFill>
          <a:ln w="12700">
            <a:solidFill>
              <a:srgbClr val="FFFFFF">
                <a:alpha val="12000"/>
              </a:srgbClr>
            </a:solidFill>
            <a:prstDash val="solid"/>
          </a:ln>
        </p:spPr>
      </p:sp>
      <p:sp>
        <p:nvSpPr>
          <p:cNvPr id="8" name="Shape 6"/>
          <p:cNvSpPr/>
          <p:nvPr/>
        </p:nvSpPr>
        <p:spPr>
          <a:xfrm>
            <a:off x="4343400" y="228600"/>
            <a:ext cx="64008" cy="64008"/>
          </a:xfrm>
          <a:prstGeom prst="ellipse">
            <a:avLst/>
          </a:prstGeom>
          <a:solidFill>
            <a:srgbClr val="FFFFFF">
              <a:alpha val="12000"/>
            </a:srgbClr>
          </a:solidFill>
          <a:ln w="12700">
            <a:solidFill>
              <a:srgbClr val="FFFFFF">
                <a:alpha val="12000"/>
              </a:srgbClr>
            </a:solidFill>
            <a:prstDash val="solid"/>
          </a:ln>
        </p:spPr>
      </p:sp>
      <p:sp>
        <p:nvSpPr>
          <p:cNvPr id="9" name="Shape 7"/>
          <p:cNvSpPr/>
          <p:nvPr/>
        </p:nvSpPr>
        <p:spPr>
          <a:xfrm>
            <a:off x="5120640" y="228600"/>
            <a:ext cx="64008" cy="64008"/>
          </a:xfrm>
          <a:prstGeom prst="ellipse">
            <a:avLst/>
          </a:prstGeom>
          <a:solidFill>
            <a:srgbClr val="FFFFFF">
              <a:alpha val="12000"/>
            </a:srgbClr>
          </a:solidFill>
          <a:ln w="12700">
            <a:solidFill>
              <a:srgbClr val="FFFFFF">
                <a:alpha val="12000"/>
              </a:srgbClr>
            </a:solidFill>
            <a:prstDash val="solid"/>
          </a:ln>
        </p:spPr>
      </p:sp>
      <p:sp>
        <p:nvSpPr>
          <p:cNvPr id="10" name="Shape 8"/>
          <p:cNvSpPr/>
          <p:nvPr/>
        </p:nvSpPr>
        <p:spPr>
          <a:xfrm>
            <a:off x="5897880" y="228600"/>
            <a:ext cx="64008" cy="64008"/>
          </a:xfrm>
          <a:prstGeom prst="ellipse">
            <a:avLst/>
          </a:prstGeom>
          <a:solidFill>
            <a:srgbClr val="FFFFFF">
              <a:alpha val="12000"/>
            </a:srgbClr>
          </a:solidFill>
          <a:ln w="12700">
            <a:solidFill>
              <a:srgbClr val="FFFFFF">
                <a:alpha val="12000"/>
              </a:srgbClr>
            </a:solidFill>
            <a:prstDash val="solid"/>
          </a:ln>
        </p:spPr>
      </p:sp>
      <p:sp>
        <p:nvSpPr>
          <p:cNvPr id="11" name="Shape 9"/>
          <p:cNvSpPr/>
          <p:nvPr/>
        </p:nvSpPr>
        <p:spPr>
          <a:xfrm>
            <a:off x="6675120" y="228600"/>
            <a:ext cx="64008" cy="64008"/>
          </a:xfrm>
          <a:prstGeom prst="ellipse">
            <a:avLst/>
          </a:prstGeom>
          <a:solidFill>
            <a:srgbClr val="FFFFFF">
              <a:alpha val="12000"/>
            </a:srgbClr>
          </a:solidFill>
          <a:ln w="12700">
            <a:solidFill>
              <a:srgbClr val="FFFFFF">
                <a:alpha val="12000"/>
              </a:srgbClr>
            </a:solidFill>
            <a:prstDash val="solid"/>
          </a:ln>
        </p:spPr>
      </p:sp>
      <p:sp>
        <p:nvSpPr>
          <p:cNvPr id="12" name="Shape 10"/>
          <p:cNvSpPr/>
          <p:nvPr/>
        </p:nvSpPr>
        <p:spPr>
          <a:xfrm>
            <a:off x="7452360" y="228600"/>
            <a:ext cx="64008" cy="64008"/>
          </a:xfrm>
          <a:prstGeom prst="ellipse">
            <a:avLst/>
          </a:prstGeom>
          <a:solidFill>
            <a:srgbClr val="FFFFFF">
              <a:alpha val="12000"/>
            </a:srgbClr>
          </a:solidFill>
          <a:ln w="12700">
            <a:solidFill>
              <a:srgbClr val="FFFFFF">
                <a:alpha val="12000"/>
              </a:srgbClr>
            </a:solidFill>
            <a:prstDash val="solid"/>
          </a:ln>
        </p:spPr>
      </p:sp>
      <p:sp>
        <p:nvSpPr>
          <p:cNvPr id="13" name="Shape 11"/>
          <p:cNvSpPr/>
          <p:nvPr/>
        </p:nvSpPr>
        <p:spPr>
          <a:xfrm>
            <a:off x="8229600" y="228600"/>
            <a:ext cx="64008" cy="64008"/>
          </a:xfrm>
          <a:prstGeom prst="ellipse">
            <a:avLst/>
          </a:prstGeom>
          <a:solidFill>
            <a:srgbClr val="FFFFFF">
              <a:alpha val="12000"/>
            </a:srgbClr>
          </a:solidFill>
          <a:ln w="12700">
            <a:solidFill>
              <a:srgbClr val="FFFFFF">
                <a:alpha val="12000"/>
              </a:srgbClr>
            </a:solidFill>
            <a:prstDash val="solid"/>
          </a:ln>
        </p:spPr>
      </p:sp>
      <p:sp>
        <p:nvSpPr>
          <p:cNvPr id="14" name="Shape 12"/>
          <p:cNvSpPr/>
          <p:nvPr/>
        </p:nvSpPr>
        <p:spPr>
          <a:xfrm>
            <a:off x="9006840" y="228600"/>
            <a:ext cx="64008" cy="64008"/>
          </a:xfrm>
          <a:prstGeom prst="ellipse">
            <a:avLst/>
          </a:prstGeom>
          <a:solidFill>
            <a:srgbClr val="FFFFFF">
              <a:alpha val="12000"/>
            </a:srgbClr>
          </a:solidFill>
          <a:ln w="12700">
            <a:solidFill>
              <a:srgbClr val="FFFFFF">
                <a:alpha val="12000"/>
              </a:srgbClr>
            </a:solidFill>
            <a:prstDash val="solid"/>
          </a:ln>
        </p:spPr>
      </p:sp>
      <p:sp>
        <p:nvSpPr>
          <p:cNvPr id="15" name="Shape 13"/>
          <p:cNvSpPr/>
          <p:nvPr/>
        </p:nvSpPr>
        <p:spPr>
          <a:xfrm>
            <a:off x="457200" y="1051560"/>
            <a:ext cx="64008" cy="64008"/>
          </a:xfrm>
          <a:prstGeom prst="ellipse">
            <a:avLst/>
          </a:prstGeom>
          <a:solidFill>
            <a:srgbClr val="FFFFFF">
              <a:alpha val="12000"/>
            </a:srgbClr>
          </a:solidFill>
          <a:ln w="12700">
            <a:solidFill>
              <a:srgbClr val="FFFFFF">
                <a:alpha val="12000"/>
              </a:srgbClr>
            </a:solidFill>
            <a:prstDash val="solid"/>
          </a:ln>
        </p:spPr>
      </p:sp>
      <p:sp>
        <p:nvSpPr>
          <p:cNvPr id="16" name="Shape 14"/>
          <p:cNvSpPr/>
          <p:nvPr/>
        </p:nvSpPr>
        <p:spPr>
          <a:xfrm>
            <a:off x="1234440" y="1051560"/>
            <a:ext cx="64008" cy="64008"/>
          </a:xfrm>
          <a:prstGeom prst="ellipse">
            <a:avLst/>
          </a:prstGeom>
          <a:solidFill>
            <a:srgbClr val="FFFFFF">
              <a:alpha val="12000"/>
            </a:srgbClr>
          </a:solidFill>
          <a:ln w="12700">
            <a:solidFill>
              <a:srgbClr val="FFFFFF">
                <a:alpha val="12000"/>
              </a:srgbClr>
            </a:solidFill>
            <a:prstDash val="solid"/>
          </a:ln>
        </p:spPr>
      </p:sp>
      <p:sp>
        <p:nvSpPr>
          <p:cNvPr id="17" name="Shape 15"/>
          <p:cNvSpPr/>
          <p:nvPr/>
        </p:nvSpPr>
        <p:spPr>
          <a:xfrm>
            <a:off x="2011680" y="1051560"/>
            <a:ext cx="64008" cy="64008"/>
          </a:xfrm>
          <a:prstGeom prst="ellipse">
            <a:avLst/>
          </a:prstGeom>
          <a:solidFill>
            <a:srgbClr val="FFFFFF">
              <a:alpha val="12000"/>
            </a:srgbClr>
          </a:solidFill>
          <a:ln w="12700">
            <a:solidFill>
              <a:srgbClr val="FFFFFF">
                <a:alpha val="12000"/>
              </a:srgbClr>
            </a:solidFill>
            <a:prstDash val="solid"/>
          </a:ln>
        </p:spPr>
      </p:sp>
      <p:sp>
        <p:nvSpPr>
          <p:cNvPr id="18" name="Shape 16"/>
          <p:cNvSpPr/>
          <p:nvPr/>
        </p:nvSpPr>
        <p:spPr>
          <a:xfrm>
            <a:off x="2788920" y="1051560"/>
            <a:ext cx="64008" cy="64008"/>
          </a:xfrm>
          <a:prstGeom prst="ellipse">
            <a:avLst/>
          </a:prstGeom>
          <a:solidFill>
            <a:srgbClr val="FFFFFF">
              <a:alpha val="12000"/>
            </a:srgbClr>
          </a:solidFill>
          <a:ln w="12700">
            <a:solidFill>
              <a:srgbClr val="FFFFFF">
                <a:alpha val="12000"/>
              </a:srgbClr>
            </a:solidFill>
            <a:prstDash val="solid"/>
          </a:ln>
        </p:spPr>
      </p:sp>
      <p:sp>
        <p:nvSpPr>
          <p:cNvPr id="19" name="Shape 17"/>
          <p:cNvSpPr/>
          <p:nvPr/>
        </p:nvSpPr>
        <p:spPr>
          <a:xfrm>
            <a:off x="3566160" y="1051560"/>
            <a:ext cx="64008" cy="64008"/>
          </a:xfrm>
          <a:prstGeom prst="ellipse">
            <a:avLst/>
          </a:prstGeom>
          <a:solidFill>
            <a:srgbClr val="FFFFFF">
              <a:alpha val="12000"/>
            </a:srgbClr>
          </a:solidFill>
          <a:ln w="12700">
            <a:solidFill>
              <a:srgbClr val="FFFFFF">
                <a:alpha val="12000"/>
              </a:srgbClr>
            </a:solidFill>
            <a:prstDash val="solid"/>
          </a:ln>
        </p:spPr>
      </p:sp>
      <p:sp>
        <p:nvSpPr>
          <p:cNvPr id="20" name="Shape 18"/>
          <p:cNvSpPr/>
          <p:nvPr/>
        </p:nvSpPr>
        <p:spPr>
          <a:xfrm>
            <a:off x="4343400" y="1051560"/>
            <a:ext cx="64008" cy="64008"/>
          </a:xfrm>
          <a:prstGeom prst="ellipse">
            <a:avLst/>
          </a:prstGeom>
          <a:solidFill>
            <a:srgbClr val="FFFFFF">
              <a:alpha val="12000"/>
            </a:srgbClr>
          </a:solidFill>
          <a:ln w="12700">
            <a:solidFill>
              <a:srgbClr val="FFFFFF">
                <a:alpha val="12000"/>
              </a:srgbClr>
            </a:solidFill>
            <a:prstDash val="solid"/>
          </a:ln>
        </p:spPr>
      </p:sp>
      <p:sp>
        <p:nvSpPr>
          <p:cNvPr id="21" name="Shape 19"/>
          <p:cNvSpPr/>
          <p:nvPr/>
        </p:nvSpPr>
        <p:spPr>
          <a:xfrm>
            <a:off x="5120640" y="1051560"/>
            <a:ext cx="64008" cy="64008"/>
          </a:xfrm>
          <a:prstGeom prst="ellipse">
            <a:avLst/>
          </a:prstGeom>
          <a:solidFill>
            <a:srgbClr val="FFFFFF">
              <a:alpha val="12000"/>
            </a:srgbClr>
          </a:solidFill>
          <a:ln w="12700">
            <a:solidFill>
              <a:srgbClr val="FFFFFF">
                <a:alpha val="12000"/>
              </a:srgbClr>
            </a:solidFill>
            <a:prstDash val="solid"/>
          </a:ln>
        </p:spPr>
      </p:sp>
      <p:sp>
        <p:nvSpPr>
          <p:cNvPr id="22" name="Shape 20"/>
          <p:cNvSpPr/>
          <p:nvPr/>
        </p:nvSpPr>
        <p:spPr>
          <a:xfrm>
            <a:off x="5897880" y="1051560"/>
            <a:ext cx="64008" cy="64008"/>
          </a:xfrm>
          <a:prstGeom prst="ellipse">
            <a:avLst/>
          </a:prstGeom>
          <a:solidFill>
            <a:srgbClr val="FFFFFF">
              <a:alpha val="12000"/>
            </a:srgbClr>
          </a:solidFill>
          <a:ln w="12700">
            <a:solidFill>
              <a:srgbClr val="FFFFFF">
                <a:alpha val="12000"/>
              </a:srgbClr>
            </a:solidFill>
            <a:prstDash val="solid"/>
          </a:ln>
        </p:spPr>
      </p:sp>
      <p:sp>
        <p:nvSpPr>
          <p:cNvPr id="23" name="Shape 21"/>
          <p:cNvSpPr/>
          <p:nvPr/>
        </p:nvSpPr>
        <p:spPr>
          <a:xfrm>
            <a:off x="6675120" y="1051560"/>
            <a:ext cx="64008" cy="64008"/>
          </a:xfrm>
          <a:prstGeom prst="ellipse">
            <a:avLst/>
          </a:prstGeom>
          <a:solidFill>
            <a:srgbClr val="FFFFFF">
              <a:alpha val="12000"/>
            </a:srgbClr>
          </a:solidFill>
          <a:ln w="12700">
            <a:solidFill>
              <a:srgbClr val="FFFFFF">
                <a:alpha val="12000"/>
              </a:srgbClr>
            </a:solidFill>
            <a:prstDash val="solid"/>
          </a:ln>
        </p:spPr>
      </p:sp>
      <p:sp>
        <p:nvSpPr>
          <p:cNvPr id="24" name="Shape 22"/>
          <p:cNvSpPr/>
          <p:nvPr/>
        </p:nvSpPr>
        <p:spPr>
          <a:xfrm>
            <a:off x="7452360" y="1051560"/>
            <a:ext cx="64008" cy="64008"/>
          </a:xfrm>
          <a:prstGeom prst="ellipse">
            <a:avLst/>
          </a:prstGeom>
          <a:solidFill>
            <a:srgbClr val="FFFFFF">
              <a:alpha val="12000"/>
            </a:srgbClr>
          </a:solidFill>
          <a:ln w="12700">
            <a:solidFill>
              <a:srgbClr val="FFFFFF">
                <a:alpha val="12000"/>
              </a:srgbClr>
            </a:solidFill>
            <a:prstDash val="solid"/>
          </a:ln>
        </p:spPr>
      </p:sp>
      <p:sp>
        <p:nvSpPr>
          <p:cNvPr id="25" name="Shape 23"/>
          <p:cNvSpPr/>
          <p:nvPr/>
        </p:nvSpPr>
        <p:spPr>
          <a:xfrm>
            <a:off x="8229600" y="1051560"/>
            <a:ext cx="64008" cy="64008"/>
          </a:xfrm>
          <a:prstGeom prst="ellipse">
            <a:avLst/>
          </a:prstGeom>
          <a:solidFill>
            <a:srgbClr val="FFFFFF">
              <a:alpha val="12000"/>
            </a:srgbClr>
          </a:solidFill>
          <a:ln w="12700">
            <a:solidFill>
              <a:srgbClr val="FFFFFF">
                <a:alpha val="12000"/>
              </a:srgbClr>
            </a:solidFill>
            <a:prstDash val="solid"/>
          </a:ln>
        </p:spPr>
      </p:sp>
      <p:sp>
        <p:nvSpPr>
          <p:cNvPr id="26" name="Shape 24"/>
          <p:cNvSpPr/>
          <p:nvPr/>
        </p:nvSpPr>
        <p:spPr>
          <a:xfrm>
            <a:off x="9006840" y="1051560"/>
            <a:ext cx="64008" cy="64008"/>
          </a:xfrm>
          <a:prstGeom prst="ellipse">
            <a:avLst/>
          </a:prstGeom>
          <a:solidFill>
            <a:srgbClr val="FFFFFF">
              <a:alpha val="12000"/>
            </a:srgbClr>
          </a:solidFill>
          <a:ln w="12700">
            <a:solidFill>
              <a:srgbClr val="FFFFFF">
                <a:alpha val="12000"/>
              </a:srgbClr>
            </a:solidFill>
            <a:prstDash val="solid"/>
          </a:ln>
        </p:spPr>
      </p:sp>
      <p:sp>
        <p:nvSpPr>
          <p:cNvPr id="27" name="Shape 25"/>
          <p:cNvSpPr/>
          <p:nvPr/>
        </p:nvSpPr>
        <p:spPr>
          <a:xfrm>
            <a:off x="457200" y="1874520"/>
            <a:ext cx="64008" cy="64008"/>
          </a:xfrm>
          <a:prstGeom prst="ellipse">
            <a:avLst/>
          </a:prstGeom>
          <a:solidFill>
            <a:srgbClr val="FFFFFF">
              <a:alpha val="12000"/>
            </a:srgbClr>
          </a:solidFill>
          <a:ln w="12700">
            <a:solidFill>
              <a:srgbClr val="FFFFFF">
                <a:alpha val="12000"/>
              </a:srgbClr>
            </a:solidFill>
            <a:prstDash val="solid"/>
          </a:ln>
        </p:spPr>
      </p:sp>
      <p:sp>
        <p:nvSpPr>
          <p:cNvPr id="28" name="Shape 26"/>
          <p:cNvSpPr/>
          <p:nvPr/>
        </p:nvSpPr>
        <p:spPr>
          <a:xfrm>
            <a:off x="1234440" y="1874520"/>
            <a:ext cx="64008" cy="64008"/>
          </a:xfrm>
          <a:prstGeom prst="ellipse">
            <a:avLst/>
          </a:prstGeom>
          <a:solidFill>
            <a:srgbClr val="FFFFFF">
              <a:alpha val="12000"/>
            </a:srgbClr>
          </a:solidFill>
          <a:ln w="12700">
            <a:solidFill>
              <a:srgbClr val="FFFFFF">
                <a:alpha val="12000"/>
              </a:srgbClr>
            </a:solidFill>
            <a:prstDash val="solid"/>
          </a:ln>
        </p:spPr>
      </p:sp>
      <p:sp>
        <p:nvSpPr>
          <p:cNvPr id="29" name="Shape 27"/>
          <p:cNvSpPr/>
          <p:nvPr/>
        </p:nvSpPr>
        <p:spPr>
          <a:xfrm>
            <a:off x="2011680" y="1874520"/>
            <a:ext cx="64008" cy="64008"/>
          </a:xfrm>
          <a:prstGeom prst="ellipse">
            <a:avLst/>
          </a:prstGeom>
          <a:solidFill>
            <a:srgbClr val="FFFFFF">
              <a:alpha val="12000"/>
            </a:srgbClr>
          </a:solidFill>
          <a:ln w="12700">
            <a:solidFill>
              <a:srgbClr val="FFFFFF">
                <a:alpha val="12000"/>
              </a:srgbClr>
            </a:solidFill>
            <a:prstDash val="solid"/>
          </a:ln>
        </p:spPr>
      </p:sp>
      <p:sp>
        <p:nvSpPr>
          <p:cNvPr id="30" name="Shape 28"/>
          <p:cNvSpPr/>
          <p:nvPr/>
        </p:nvSpPr>
        <p:spPr>
          <a:xfrm>
            <a:off x="2788920" y="1874520"/>
            <a:ext cx="64008" cy="64008"/>
          </a:xfrm>
          <a:prstGeom prst="ellipse">
            <a:avLst/>
          </a:prstGeom>
          <a:solidFill>
            <a:srgbClr val="FFFFFF">
              <a:alpha val="12000"/>
            </a:srgbClr>
          </a:solidFill>
          <a:ln w="12700">
            <a:solidFill>
              <a:srgbClr val="FFFFFF">
                <a:alpha val="12000"/>
              </a:srgbClr>
            </a:solidFill>
            <a:prstDash val="solid"/>
          </a:ln>
        </p:spPr>
      </p:sp>
      <p:sp>
        <p:nvSpPr>
          <p:cNvPr id="31" name="Shape 29"/>
          <p:cNvSpPr/>
          <p:nvPr/>
        </p:nvSpPr>
        <p:spPr>
          <a:xfrm>
            <a:off x="3566160" y="1874520"/>
            <a:ext cx="64008" cy="64008"/>
          </a:xfrm>
          <a:prstGeom prst="ellipse">
            <a:avLst/>
          </a:prstGeom>
          <a:solidFill>
            <a:srgbClr val="FFFFFF">
              <a:alpha val="12000"/>
            </a:srgbClr>
          </a:solidFill>
          <a:ln w="12700">
            <a:solidFill>
              <a:srgbClr val="FFFFFF">
                <a:alpha val="12000"/>
              </a:srgbClr>
            </a:solidFill>
            <a:prstDash val="solid"/>
          </a:ln>
        </p:spPr>
      </p:sp>
      <p:sp>
        <p:nvSpPr>
          <p:cNvPr id="32" name="Shape 30"/>
          <p:cNvSpPr/>
          <p:nvPr/>
        </p:nvSpPr>
        <p:spPr>
          <a:xfrm>
            <a:off x="4343400" y="1874520"/>
            <a:ext cx="64008" cy="64008"/>
          </a:xfrm>
          <a:prstGeom prst="ellipse">
            <a:avLst/>
          </a:prstGeom>
          <a:solidFill>
            <a:srgbClr val="FFFFFF">
              <a:alpha val="12000"/>
            </a:srgbClr>
          </a:solidFill>
          <a:ln w="12700">
            <a:solidFill>
              <a:srgbClr val="FFFFFF">
                <a:alpha val="12000"/>
              </a:srgbClr>
            </a:solidFill>
            <a:prstDash val="solid"/>
          </a:ln>
        </p:spPr>
      </p:sp>
      <p:sp>
        <p:nvSpPr>
          <p:cNvPr id="33" name="Shape 31"/>
          <p:cNvSpPr/>
          <p:nvPr/>
        </p:nvSpPr>
        <p:spPr>
          <a:xfrm>
            <a:off x="5120640" y="1874520"/>
            <a:ext cx="64008" cy="64008"/>
          </a:xfrm>
          <a:prstGeom prst="ellipse">
            <a:avLst/>
          </a:prstGeom>
          <a:solidFill>
            <a:srgbClr val="FFFFFF">
              <a:alpha val="12000"/>
            </a:srgbClr>
          </a:solidFill>
          <a:ln w="12700">
            <a:solidFill>
              <a:srgbClr val="FFFFFF">
                <a:alpha val="12000"/>
              </a:srgbClr>
            </a:solidFill>
            <a:prstDash val="solid"/>
          </a:ln>
        </p:spPr>
      </p:sp>
      <p:sp>
        <p:nvSpPr>
          <p:cNvPr id="34" name="Shape 32"/>
          <p:cNvSpPr/>
          <p:nvPr/>
        </p:nvSpPr>
        <p:spPr>
          <a:xfrm>
            <a:off x="5897880" y="1874520"/>
            <a:ext cx="64008" cy="64008"/>
          </a:xfrm>
          <a:prstGeom prst="ellipse">
            <a:avLst/>
          </a:prstGeom>
          <a:solidFill>
            <a:srgbClr val="FFFFFF">
              <a:alpha val="12000"/>
            </a:srgbClr>
          </a:solidFill>
          <a:ln w="12700">
            <a:solidFill>
              <a:srgbClr val="FFFFFF">
                <a:alpha val="12000"/>
              </a:srgbClr>
            </a:solidFill>
            <a:prstDash val="solid"/>
          </a:ln>
        </p:spPr>
      </p:sp>
      <p:sp>
        <p:nvSpPr>
          <p:cNvPr id="35" name="Shape 33"/>
          <p:cNvSpPr/>
          <p:nvPr/>
        </p:nvSpPr>
        <p:spPr>
          <a:xfrm>
            <a:off x="6675120" y="1874520"/>
            <a:ext cx="64008" cy="64008"/>
          </a:xfrm>
          <a:prstGeom prst="ellipse">
            <a:avLst/>
          </a:prstGeom>
          <a:solidFill>
            <a:srgbClr val="FFFFFF">
              <a:alpha val="12000"/>
            </a:srgbClr>
          </a:solidFill>
          <a:ln w="12700">
            <a:solidFill>
              <a:srgbClr val="FFFFFF">
                <a:alpha val="12000"/>
              </a:srgbClr>
            </a:solidFill>
            <a:prstDash val="solid"/>
          </a:ln>
        </p:spPr>
      </p:sp>
      <p:sp>
        <p:nvSpPr>
          <p:cNvPr id="36" name="Shape 34"/>
          <p:cNvSpPr/>
          <p:nvPr/>
        </p:nvSpPr>
        <p:spPr>
          <a:xfrm>
            <a:off x="7452360" y="1874520"/>
            <a:ext cx="64008" cy="64008"/>
          </a:xfrm>
          <a:prstGeom prst="ellipse">
            <a:avLst/>
          </a:prstGeom>
          <a:solidFill>
            <a:srgbClr val="FFFFFF">
              <a:alpha val="12000"/>
            </a:srgbClr>
          </a:solidFill>
          <a:ln w="12700">
            <a:solidFill>
              <a:srgbClr val="FFFFFF">
                <a:alpha val="12000"/>
              </a:srgbClr>
            </a:solidFill>
            <a:prstDash val="solid"/>
          </a:ln>
        </p:spPr>
      </p:sp>
      <p:sp>
        <p:nvSpPr>
          <p:cNvPr id="37" name="Shape 35"/>
          <p:cNvSpPr/>
          <p:nvPr/>
        </p:nvSpPr>
        <p:spPr>
          <a:xfrm>
            <a:off x="8229600" y="1874520"/>
            <a:ext cx="64008" cy="64008"/>
          </a:xfrm>
          <a:prstGeom prst="ellipse">
            <a:avLst/>
          </a:prstGeom>
          <a:solidFill>
            <a:srgbClr val="FFFFFF">
              <a:alpha val="12000"/>
            </a:srgbClr>
          </a:solidFill>
          <a:ln w="12700">
            <a:solidFill>
              <a:srgbClr val="FFFFFF">
                <a:alpha val="12000"/>
              </a:srgbClr>
            </a:solidFill>
            <a:prstDash val="solid"/>
          </a:ln>
        </p:spPr>
      </p:sp>
      <p:sp>
        <p:nvSpPr>
          <p:cNvPr id="38" name="Shape 36"/>
          <p:cNvSpPr/>
          <p:nvPr/>
        </p:nvSpPr>
        <p:spPr>
          <a:xfrm>
            <a:off x="9006840" y="1874520"/>
            <a:ext cx="64008" cy="64008"/>
          </a:xfrm>
          <a:prstGeom prst="ellipse">
            <a:avLst/>
          </a:prstGeom>
          <a:solidFill>
            <a:srgbClr val="FFFFFF">
              <a:alpha val="12000"/>
            </a:srgbClr>
          </a:solidFill>
          <a:ln w="12700">
            <a:solidFill>
              <a:srgbClr val="FFFFFF">
                <a:alpha val="12000"/>
              </a:srgbClr>
            </a:solidFill>
            <a:prstDash val="solid"/>
          </a:ln>
        </p:spPr>
      </p:sp>
      <p:sp>
        <p:nvSpPr>
          <p:cNvPr id="39" name="Shape 37"/>
          <p:cNvSpPr/>
          <p:nvPr/>
        </p:nvSpPr>
        <p:spPr>
          <a:xfrm>
            <a:off x="457200" y="2697480"/>
            <a:ext cx="64008" cy="64008"/>
          </a:xfrm>
          <a:prstGeom prst="ellipse">
            <a:avLst/>
          </a:prstGeom>
          <a:solidFill>
            <a:srgbClr val="FFFFFF">
              <a:alpha val="12000"/>
            </a:srgbClr>
          </a:solidFill>
          <a:ln w="12700">
            <a:solidFill>
              <a:srgbClr val="FFFFFF">
                <a:alpha val="12000"/>
              </a:srgbClr>
            </a:solidFill>
            <a:prstDash val="solid"/>
          </a:ln>
        </p:spPr>
      </p:sp>
      <p:sp>
        <p:nvSpPr>
          <p:cNvPr id="40" name="Shape 38"/>
          <p:cNvSpPr/>
          <p:nvPr/>
        </p:nvSpPr>
        <p:spPr>
          <a:xfrm>
            <a:off x="1234440" y="2697480"/>
            <a:ext cx="64008" cy="64008"/>
          </a:xfrm>
          <a:prstGeom prst="ellipse">
            <a:avLst/>
          </a:prstGeom>
          <a:solidFill>
            <a:srgbClr val="FFFFFF">
              <a:alpha val="12000"/>
            </a:srgbClr>
          </a:solidFill>
          <a:ln w="12700">
            <a:solidFill>
              <a:srgbClr val="FFFFFF">
                <a:alpha val="12000"/>
              </a:srgbClr>
            </a:solidFill>
            <a:prstDash val="solid"/>
          </a:ln>
        </p:spPr>
      </p:sp>
      <p:sp>
        <p:nvSpPr>
          <p:cNvPr id="41" name="Shape 39"/>
          <p:cNvSpPr/>
          <p:nvPr/>
        </p:nvSpPr>
        <p:spPr>
          <a:xfrm>
            <a:off x="2011680" y="2697480"/>
            <a:ext cx="64008" cy="64008"/>
          </a:xfrm>
          <a:prstGeom prst="ellipse">
            <a:avLst/>
          </a:prstGeom>
          <a:solidFill>
            <a:srgbClr val="FFFFFF">
              <a:alpha val="12000"/>
            </a:srgbClr>
          </a:solidFill>
          <a:ln w="12700">
            <a:solidFill>
              <a:srgbClr val="FFFFFF">
                <a:alpha val="12000"/>
              </a:srgbClr>
            </a:solidFill>
            <a:prstDash val="solid"/>
          </a:ln>
        </p:spPr>
      </p:sp>
      <p:sp>
        <p:nvSpPr>
          <p:cNvPr id="42" name="Shape 40"/>
          <p:cNvSpPr/>
          <p:nvPr/>
        </p:nvSpPr>
        <p:spPr>
          <a:xfrm>
            <a:off x="2788920" y="2697480"/>
            <a:ext cx="64008" cy="64008"/>
          </a:xfrm>
          <a:prstGeom prst="ellipse">
            <a:avLst/>
          </a:prstGeom>
          <a:solidFill>
            <a:srgbClr val="FFFFFF">
              <a:alpha val="12000"/>
            </a:srgbClr>
          </a:solidFill>
          <a:ln w="12700">
            <a:solidFill>
              <a:srgbClr val="FFFFFF">
                <a:alpha val="12000"/>
              </a:srgbClr>
            </a:solidFill>
            <a:prstDash val="solid"/>
          </a:ln>
        </p:spPr>
      </p:sp>
      <p:sp>
        <p:nvSpPr>
          <p:cNvPr id="43" name="Shape 41"/>
          <p:cNvSpPr/>
          <p:nvPr/>
        </p:nvSpPr>
        <p:spPr>
          <a:xfrm>
            <a:off x="3566160" y="2697480"/>
            <a:ext cx="64008" cy="64008"/>
          </a:xfrm>
          <a:prstGeom prst="ellipse">
            <a:avLst/>
          </a:prstGeom>
          <a:solidFill>
            <a:srgbClr val="FFFFFF">
              <a:alpha val="12000"/>
            </a:srgbClr>
          </a:solidFill>
          <a:ln w="12700">
            <a:solidFill>
              <a:srgbClr val="FFFFFF">
                <a:alpha val="12000"/>
              </a:srgbClr>
            </a:solidFill>
            <a:prstDash val="solid"/>
          </a:ln>
        </p:spPr>
      </p:sp>
      <p:sp>
        <p:nvSpPr>
          <p:cNvPr id="44" name="Shape 42"/>
          <p:cNvSpPr/>
          <p:nvPr/>
        </p:nvSpPr>
        <p:spPr>
          <a:xfrm>
            <a:off x="4343400" y="2697480"/>
            <a:ext cx="64008" cy="64008"/>
          </a:xfrm>
          <a:prstGeom prst="ellipse">
            <a:avLst/>
          </a:prstGeom>
          <a:solidFill>
            <a:srgbClr val="FFFFFF">
              <a:alpha val="12000"/>
            </a:srgbClr>
          </a:solidFill>
          <a:ln w="12700">
            <a:solidFill>
              <a:srgbClr val="FFFFFF">
                <a:alpha val="12000"/>
              </a:srgbClr>
            </a:solidFill>
            <a:prstDash val="solid"/>
          </a:ln>
        </p:spPr>
      </p:sp>
      <p:sp>
        <p:nvSpPr>
          <p:cNvPr id="45" name="Shape 43"/>
          <p:cNvSpPr/>
          <p:nvPr/>
        </p:nvSpPr>
        <p:spPr>
          <a:xfrm>
            <a:off x="5120640" y="2697480"/>
            <a:ext cx="64008" cy="64008"/>
          </a:xfrm>
          <a:prstGeom prst="ellipse">
            <a:avLst/>
          </a:prstGeom>
          <a:solidFill>
            <a:srgbClr val="FFFFFF">
              <a:alpha val="12000"/>
            </a:srgbClr>
          </a:solidFill>
          <a:ln w="12700">
            <a:solidFill>
              <a:srgbClr val="FFFFFF">
                <a:alpha val="12000"/>
              </a:srgbClr>
            </a:solidFill>
            <a:prstDash val="solid"/>
          </a:ln>
        </p:spPr>
      </p:sp>
      <p:sp>
        <p:nvSpPr>
          <p:cNvPr id="46" name="Shape 44"/>
          <p:cNvSpPr/>
          <p:nvPr/>
        </p:nvSpPr>
        <p:spPr>
          <a:xfrm>
            <a:off x="5897880" y="2697480"/>
            <a:ext cx="64008" cy="64008"/>
          </a:xfrm>
          <a:prstGeom prst="ellipse">
            <a:avLst/>
          </a:prstGeom>
          <a:solidFill>
            <a:srgbClr val="FFFFFF">
              <a:alpha val="12000"/>
            </a:srgbClr>
          </a:solidFill>
          <a:ln w="12700">
            <a:solidFill>
              <a:srgbClr val="FFFFFF">
                <a:alpha val="12000"/>
              </a:srgbClr>
            </a:solidFill>
            <a:prstDash val="solid"/>
          </a:ln>
        </p:spPr>
      </p:sp>
      <p:sp>
        <p:nvSpPr>
          <p:cNvPr id="47" name="Shape 45"/>
          <p:cNvSpPr/>
          <p:nvPr/>
        </p:nvSpPr>
        <p:spPr>
          <a:xfrm>
            <a:off x="6675120" y="2697480"/>
            <a:ext cx="64008" cy="64008"/>
          </a:xfrm>
          <a:prstGeom prst="ellipse">
            <a:avLst/>
          </a:prstGeom>
          <a:solidFill>
            <a:srgbClr val="FFFFFF">
              <a:alpha val="12000"/>
            </a:srgbClr>
          </a:solidFill>
          <a:ln w="12700">
            <a:solidFill>
              <a:srgbClr val="FFFFFF">
                <a:alpha val="12000"/>
              </a:srgbClr>
            </a:solidFill>
            <a:prstDash val="solid"/>
          </a:ln>
        </p:spPr>
      </p:sp>
      <p:sp>
        <p:nvSpPr>
          <p:cNvPr id="48" name="Shape 46"/>
          <p:cNvSpPr/>
          <p:nvPr/>
        </p:nvSpPr>
        <p:spPr>
          <a:xfrm>
            <a:off x="7452360" y="2697480"/>
            <a:ext cx="64008" cy="64008"/>
          </a:xfrm>
          <a:prstGeom prst="ellipse">
            <a:avLst/>
          </a:prstGeom>
          <a:solidFill>
            <a:srgbClr val="FFFFFF">
              <a:alpha val="12000"/>
            </a:srgbClr>
          </a:solidFill>
          <a:ln w="12700">
            <a:solidFill>
              <a:srgbClr val="FFFFFF">
                <a:alpha val="12000"/>
              </a:srgbClr>
            </a:solidFill>
            <a:prstDash val="solid"/>
          </a:ln>
        </p:spPr>
      </p:sp>
      <p:sp>
        <p:nvSpPr>
          <p:cNvPr id="49" name="Shape 47"/>
          <p:cNvSpPr/>
          <p:nvPr/>
        </p:nvSpPr>
        <p:spPr>
          <a:xfrm>
            <a:off x="8229600" y="2697480"/>
            <a:ext cx="64008" cy="64008"/>
          </a:xfrm>
          <a:prstGeom prst="ellipse">
            <a:avLst/>
          </a:prstGeom>
          <a:solidFill>
            <a:srgbClr val="FFFFFF">
              <a:alpha val="12000"/>
            </a:srgbClr>
          </a:solidFill>
          <a:ln w="12700">
            <a:solidFill>
              <a:srgbClr val="FFFFFF">
                <a:alpha val="12000"/>
              </a:srgbClr>
            </a:solidFill>
            <a:prstDash val="solid"/>
          </a:ln>
        </p:spPr>
      </p:sp>
      <p:sp>
        <p:nvSpPr>
          <p:cNvPr id="50" name="Shape 48"/>
          <p:cNvSpPr/>
          <p:nvPr/>
        </p:nvSpPr>
        <p:spPr>
          <a:xfrm>
            <a:off x="9006840" y="2697480"/>
            <a:ext cx="64008" cy="64008"/>
          </a:xfrm>
          <a:prstGeom prst="ellipse">
            <a:avLst/>
          </a:prstGeom>
          <a:solidFill>
            <a:srgbClr val="FFFFFF">
              <a:alpha val="12000"/>
            </a:srgbClr>
          </a:solidFill>
          <a:ln w="12700">
            <a:solidFill>
              <a:srgbClr val="FFFFFF">
                <a:alpha val="12000"/>
              </a:srgbClr>
            </a:solidFill>
            <a:prstDash val="solid"/>
          </a:ln>
        </p:spPr>
      </p:sp>
      <p:sp>
        <p:nvSpPr>
          <p:cNvPr id="51" name="Shape 49"/>
          <p:cNvSpPr/>
          <p:nvPr/>
        </p:nvSpPr>
        <p:spPr>
          <a:xfrm>
            <a:off x="457200" y="3520440"/>
            <a:ext cx="64008" cy="64008"/>
          </a:xfrm>
          <a:prstGeom prst="ellipse">
            <a:avLst/>
          </a:prstGeom>
          <a:solidFill>
            <a:srgbClr val="FFFFFF">
              <a:alpha val="12000"/>
            </a:srgbClr>
          </a:solidFill>
          <a:ln w="12700">
            <a:solidFill>
              <a:srgbClr val="FFFFFF">
                <a:alpha val="12000"/>
              </a:srgbClr>
            </a:solidFill>
            <a:prstDash val="solid"/>
          </a:ln>
        </p:spPr>
      </p:sp>
      <p:sp>
        <p:nvSpPr>
          <p:cNvPr id="52" name="Shape 50"/>
          <p:cNvSpPr/>
          <p:nvPr/>
        </p:nvSpPr>
        <p:spPr>
          <a:xfrm>
            <a:off x="1234440" y="3520440"/>
            <a:ext cx="64008" cy="64008"/>
          </a:xfrm>
          <a:prstGeom prst="ellipse">
            <a:avLst/>
          </a:prstGeom>
          <a:solidFill>
            <a:srgbClr val="FFFFFF">
              <a:alpha val="12000"/>
            </a:srgbClr>
          </a:solidFill>
          <a:ln w="12700">
            <a:solidFill>
              <a:srgbClr val="FFFFFF">
                <a:alpha val="12000"/>
              </a:srgbClr>
            </a:solidFill>
            <a:prstDash val="solid"/>
          </a:ln>
        </p:spPr>
      </p:sp>
      <p:sp>
        <p:nvSpPr>
          <p:cNvPr id="53" name="Shape 51"/>
          <p:cNvSpPr/>
          <p:nvPr/>
        </p:nvSpPr>
        <p:spPr>
          <a:xfrm>
            <a:off x="2011680" y="3520440"/>
            <a:ext cx="64008" cy="64008"/>
          </a:xfrm>
          <a:prstGeom prst="ellipse">
            <a:avLst/>
          </a:prstGeom>
          <a:solidFill>
            <a:srgbClr val="FFFFFF">
              <a:alpha val="12000"/>
            </a:srgbClr>
          </a:solidFill>
          <a:ln w="12700">
            <a:solidFill>
              <a:srgbClr val="FFFFFF">
                <a:alpha val="12000"/>
              </a:srgbClr>
            </a:solidFill>
            <a:prstDash val="solid"/>
          </a:ln>
        </p:spPr>
      </p:sp>
      <p:sp>
        <p:nvSpPr>
          <p:cNvPr id="54" name="Shape 52"/>
          <p:cNvSpPr/>
          <p:nvPr/>
        </p:nvSpPr>
        <p:spPr>
          <a:xfrm>
            <a:off x="2788920" y="3520440"/>
            <a:ext cx="64008" cy="64008"/>
          </a:xfrm>
          <a:prstGeom prst="ellipse">
            <a:avLst/>
          </a:prstGeom>
          <a:solidFill>
            <a:srgbClr val="FFFFFF">
              <a:alpha val="12000"/>
            </a:srgbClr>
          </a:solidFill>
          <a:ln w="12700">
            <a:solidFill>
              <a:srgbClr val="FFFFFF">
                <a:alpha val="12000"/>
              </a:srgbClr>
            </a:solidFill>
            <a:prstDash val="solid"/>
          </a:ln>
        </p:spPr>
      </p:sp>
      <p:sp>
        <p:nvSpPr>
          <p:cNvPr id="55" name="Shape 53"/>
          <p:cNvSpPr/>
          <p:nvPr/>
        </p:nvSpPr>
        <p:spPr>
          <a:xfrm>
            <a:off x="3566160" y="3520440"/>
            <a:ext cx="64008" cy="64008"/>
          </a:xfrm>
          <a:prstGeom prst="ellipse">
            <a:avLst/>
          </a:prstGeom>
          <a:solidFill>
            <a:srgbClr val="FFFFFF">
              <a:alpha val="12000"/>
            </a:srgbClr>
          </a:solidFill>
          <a:ln w="12700">
            <a:solidFill>
              <a:srgbClr val="FFFFFF">
                <a:alpha val="12000"/>
              </a:srgbClr>
            </a:solidFill>
            <a:prstDash val="solid"/>
          </a:ln>
        </p:spPr>
      </p:sp>
      <p:sp>
        <p:nvSpPr>
          <p:cNvPr id="56" name="Shape 54"/>
          <p:cNvSpPr/>
          <p:nvPr/>
        </p:nvSpPr>
        <p:spPr>
          <a:xfrm>
            <a:off x="4343400" y="3520440"/>
            <a:ext cx="64008" cy="64008"/>
          </a:xfrm>
          <a:prstGeom prst="ellipse">
            <a:avLst/>
          </a:prstGeom>
          <a:solidFill>
            <a:srgbClr val="FFFFFF">
              <a:alpha val="12000"/>
            </a:srgbClr>
          </a:solidFill>
          <a:ln w="12700">
            <a:solidFill>
              <a:srgbClr val="FFFFFF">
                <a:alpha val="12000"/>
              </a:srgbClr>
            </a:solidFill>
            <a:prstDash val="solid"/>
          </a:ln>
        </p:spPr>
      </p:sp>
      <p:sp>
        <p:nvSpPr>
          <p:cNvPr id="57" name="Shape 55"/>
          <p:cNvSpPr/>
          <p:nvPr/>
        </p:nvSpPr>
        <p:spPr>
          <a:xfrm>
            <a:off x="5120640" y="3520440"/>
            <a:ext cx="64008" cy="64008"/>
          </a:xfrm>
          <a:prstGeom prst="ellipse">
            <a:avLst/>
          </a:prstGeom>
          <a:solidFill>
            <a:srgbClr val="FFFFFF">
              <a:alpha val="12000"/>
            </a:srgbClr>
          </a:solidFill>
          <a:ln w="12700">
            <a:solidFill>
              <a:srgbClr val="FFFFFF">
                <a:alpha val="12000"/>
              </a:srgbClr>
            </a:solidFill>
            <a:prstDash val="solid"/>
          </a:ln>
        </p:spPr>
      </p:sp>
      <p:sp>
        <p:nvSpPr>
          <p:cNvPr id="58" name="Shape 56"/>
          <p:cNvSpPr/>
          <p:nvPr/>
        </p:nvSpPr>
        <p:spPr>
          <a:xfrm>
            <a:off x="5897880" y="3520440"/>
            <a:ext cx="64008" cy="64008"/>
          </a:xfrm>
          <a:prstGeom prst="ellipse">
            <a:avLst/>
          </a:prstGeom>
          <a:solidFill>
            <a:srgbClr val="FFFFFF">
              <a:alpha val="12000"/>
            </a:srgbClr>
          </a:solidFill>
          <a:ln w="12700">
            <a:solidFill>
              <a:srgbClr val="FFFFFF">
                <a:alpha val="12000"/>
              </a:srgbClr>
            </a:solidFill>
            <a:prstDash val="solid"/>
          </a:ln>
        </p:spPr>
      </p:sp>
      <p:sp>
        <p:nvSpPr>
          <p:cNvPr id="59" name="Shape 57"/>
          <p:cNvSpPr/>
          <p:nvPr/>
        </p:nvSpPr>
        <p:spPr>
          <a:xfrm>
            <a:off x="6675120" y="3520440"/>
            <a:ext cx="64008" cy="64008"/>
          </a:xfrm>
          <a:prstGeom prst="ellipse">
            <a:avLst/>
          </a:prstGeom>
          <a:solidFill>
            <a:srgbClr val="FFFFFF">
              <a:alpha val="12000"/>
            </a:srgbClr>
          </a:solidFill>
          <a:ln w="12700">
            <a:solidFill>
              <a:srgbClr val="FFFFFF">
                <a:alpha val="12000"/>
              </a:srgbClr>
            </a:solidFill>
            <a:prstDash val="solid"/>
          </a:ln>
        </p:spPr>
      </p:sp>
      <p:sp>
        <p:nvSpPr>
          <p:cNvPr id="60" name="Shape 58"/>
          <p:cNvSpPr/>
          <p:nvPr/>
        </p:nvSpPr>
        <p:spPr>
          <a:xfrm>
            <a:off x="7452360" y="3520440"/>
            <a:ext cx="64008" cy="64008"/>
          </a:xfrm>
          <a:prstGeom prst="ellipse">
            <a:avLst/>
          </a:prstGeom>
          <a:solidFill>
            <a:srgbClr val="FFFFFF">
              <a:alpha val="12000"/>
            </a:srgbClr>
          </a:solidFill>
          <a:ln w="12700">
            <a:solidFill>
              <a:srgbClr val="FFFFFF">
                <a:alpha val="12000"/>
              </a:srgbClr>
            </a:solidFill>
            <a:prstDash val="solid"/>
          </a:ln>
        </p:spPr>
      </p:sp>
      <p:sp>
        <p:nvSpPr>
          <p:cNvPr id="61" name="Shape 59"/>
          <p:cNvSpPr/>
          <p:nvPr/>
        </p:nvSpPr>
        <p:spPr>
          <a:xfrm>
            <a:off x="8229600" y="3520440"/>
            <a:ext cx="64008" cy="64008"/>
          </a:xfrm>
          <a:prstGeom prst="ellipse">
            <a:avLst/>
          </a:prstGeom>
          <a:solidFill>
            <a:srgbClr val="FFFFFF">
              <a:alpha val="12000"/>
            </a:srgbClr>
          </a:solidFill>
          <a:ln w="12700">
            <a:solidFill>
              <a:srgbClr val="FFFFFF">
                <a:alpha val="12000"/>
              </a:srgbClr>
            </a:solidFill>
            <a:prstDash val="solid"/>
          </a:ln>
        </p:spPr>
      </p:sp>
      <p:sp>
        <p:nvSpPr>
          <p:cNvPr id="62" name="Shape 60"/>
          <p:cNvSpPr/>
          <p:nvPr/>
        </p:nvSpPr>
        <p:spPr>
          <a:xfrm>
            <a:off x="9006840" y="3520440"/>
            <a:ext cx="64008" cy="64008"/>
          </a:xfrm>
          <a:prstGeom prst="ellipse">
            <a:avLst/>
          </a:prstGeom>
          <a:solidFill>
            <a:srgbClr val="FFFFFF">
              <a:alpha val="12000"/>
            </a:srgbClr>
          </a:solidFill>
          <a:ln w="12700">
            <a:solidFill>
              <a:srgbClr val="FFFFFF">
                <a:alpha val="12000"/>
              </a:srgbClr>
            </a:solidFill>
            <a:prstDash val="solid"/>
          </a:ln>
        </p:spPr>
      </p:sp>
      <p:sp>
        <p:nvSpPr>
          <p:cNvPr id="63" name="Shape 61"/>
          <p:cNvSpPr/>
          <p:nvPr/>
        </p:nvSpPr>
        <p:spPr>
          <a:xfrm>
            <a:off x="457200" y="4343400"/>
            <a:ext cx="64008" cy="64008"/>
          </a:xfrm>
          <a:prstGeom prst="ellipse">
            <a:avLst/>
          </a:prstGeom>
          <a:solidFill>
            <a:srgbClr val="FFFFFF">
              <a:alpha val="12000"/>
            </a:srgbClr>
          </a:solidFill>
          <a:ln w="12700">
            <a:solidFill>
              <a:srgbClr val="FFFFFF">
                <a:alpha val="12000"/>
              </a:srgbClr>
            </a:solidFill>
            <a:prstDash val="solid"/>
          </a:ln>
        </p:spPr>
      </p:sp>
      <p:sp>
        <p:nvSpPr>
          <p:cNvPr id="64" name="Shape 62"/>
          <p:cNvSpPr/>
          <p:nvPr/>
        </p:nvSpPr>
        <p:spPr>
          <a:xfrm>
            <a:off x="1234440" y="4343400"/>
            <a:ext cx="64008" cy="64008"/>
          </a:xfrm>
          <a:prstGeom prst="ellipse">
            <a:avLst/>
          </a:prstGeom>
          <a:solidFill>
            <a:srgbClr val="FFFFFF">
              <a:alpha val="12000"/>
            </a:srgbClr>
          </a:solidFill>
          <a:ln w="12700">
            <a:solidFill>
              <a:srgbClr val="FFFFFF">
                <a:alpha val="12000"/>
              </a:srgbClr>
            </a:solidFill>
            <a:prstDash val="solid"/>
          </a:ln>
        </p:spPr>
      </p:sp>
      <p:sp>
        <p:nvSpPr>
          <p:cNvPr id="65" name="Shape 63"/>
          <p:cNvSpPr/>
          <p:nvPr/>
        </p:nvSpPr>
        <p:spPr>
          <a:xfrm>
            <a:off x="2011680" y="4343400"/>
            <a:ext cx="64008" cy="64008"/>
          </a:xfrm>
          <a:prstGeom prst="ellipse">
            <a:avLst/>
          </a:prstGeom>
          <a:solidFill>
            <a:srgbClr val="FFFFFF">
              <a:alpha val="12000"/>
            </a:srgbClr>
          </a:solidFill>
          <a:ln w="12700">
            <a:solidFill>
              <a:srgbClr val="FFFFFF">
                <a:alpha val="12000"/>
              </a:srgbClr>
            </a:solidFill>
            <a:prstDash val="solid"/>
          </a:ln>
        </p:spPr>
      </p:sp>
      <p:sp>
        <p:nvSpPr>
          <p:cNvPr id="66" name="Shape 64"/>
          <p:cNvSpPr/>
          <p:nvPr/>
        </p:nvSpPr>
        <p:spPr>
          <a:xfrm>
            <a:off x="2788920" y="4343400"/>
            <a:ext cx="64008" cy="64008"/>
          </a:xfrm>
          <a:prstGeom prst="ellipse">
            <a:avLst/>
          </a:prstGeom>
          <a:solidFill>
            <a:srgbClr val="FFFFFF">
              <a:alpha val="12000"/>
            </a:srgbClr>
          </a:solidFill>
          <a:ln w="12700">
            <a:solidFill>
              <a:srgbClr val="FFFFFF">
                <a:alpha val="12000"/>
              </a:srgbClr>
            </a:solidFill>
            <a:prstDash val="solid"/>
          </a:ln>
        </p:spPr>
      </p:sp>
      <p:sp>
        <p:nvSpPr>
          <p:cNvPr id="67" name="Shape 65"/>
          <p:cNvSpPr/>
          <p:nvPr/>
        </p:nvSpPr>
        <p:spPr>
          <a:xfrm>
            <a:off x="3566160" y="4343400"/>
            <a:ext cx="64008" cy="64008"/>
          </a:xfrm>
          <a:prstGeom prst="ellipse">
            <a:avLst/>
          </a:prstGeom>
          <a:solidFill>
            <a:srgbClr val="FFFFFF">
              <a:alpha val="12000"/>
            </a:srgbClr>
          </a:solidFill>
          <a:ln w="12700">
            <a:solidFill>
              <a:srgbClr val="FFFFFF">
                <a:alpha val="12000"/>
              </a:srgbClr>
            </a:solidFill>
            <a:prstDash val="solid"/>
          </a:ln>
        </p:spPr>
      </p:sp>
      <p:sp>
        <p:nvSpPr>
          <p:cNvPr id="68" name="Shape 66"/>
          <p:cNvSpPr/>
          <p:nvPr/>
        </p:nvSpPr>
        <p:spPr>
          <a:xfrm>
            <a:off x="4343400" y="4343400"/>
            <a:ext cx="64008" cy="64008"/>
          </a:xfrm>
          <a:prstGeom prst="ellipse">
            <a:avLst/>
          </a:prstGeom>
          <a:solidFill>
            <a:srgbClr val="FFFFFF">
              <a:alpha val="12000"/>
            </a:srgbClr>
          </a:solidFill>
          <a:ln w="12700">
            <a:solidFill>
              <a:srgbClr val="FFFFFF">
                <a:alpha val="12000"/>
              </a:srgbClr>
            </a:solidFill>
            <a:prstDash val="solid"/>
          </a:ln>
        </p:spPr>
      </p:sp>
      <p:sp>
        <p:nvSpPr>
          <p:cNvPr id="69" name="Shape 67"/>
          <p:cNvSpPr/>
          <p:nvPr/>
        </p:nvSpPr>
        <p:spPr>
          <a:xfrm>
            <a:off x="5120640" y="4343400"/>
            <a:ext cx="64008" cy="64008"/>
          </a:xfrm>
          <a:prstGeom prst="ellipse">
            <a:avLst/>
          </a:prstGeom>
          <a:solidFill>
            <a:srgbClr val="FFFFFF">
              <a:alpha val="12000"/>
            </a:srgbClr>
          </a:solidFill>
          <a:ln w="12700">
            <a:solidFill>
              <a:srgbClr val="FFFFFF">
                <a:alpha val="12000"/>
              </a:srgbClr>
            </a:solidFill>
            <a:prstDash val="solid"/>
          </a:ln>
        </p:spPr>
      </p:sp>
      <p:sp>
        <p:nvSpPr>
          <p:cNvPr id="70" name="Shape 68"/>
          <p:cNvSpPr/>
          <p:nvPr/>
        </p:nvSpPr>
        <p:spPr>
          <a:xfrm>
            <a:off x="5897880" y="4343400"/>
            <a:ext cx="64008" cy="64008"/>
          </a:xfrm>
          <a:prstGeom prst="ellipse">
            <a:avLst/>
          </a:prstGeom>
          <a:solidFill>
            <a:srgbClr val="FFFFFF">
              <a:alpha val="12000"/>
            </a:srgbClr>
          </a:solidFill>
          <a:ln w="12700">
            <a:solidFill>
              <a:srgbClr val="FFFFFF">
                <a:alpha val="12000"/>
              </a:srgbClr>
            </a:solidFill>
            <a:prstDash val="solid"/>
          </a:ln>
        </p:spPr>
      </p:sp>
      <p:sp>
        <p:nvSpPr>
          <p:cNvPr id="71" name="Shape 69"/>
          <p:cNvSpPr/>
          <p:nvPr/>
        </p:nvSpPr>
        <p:spPr>
          <a:xfrm>
            <a:off x="6675120" y="4343400"/>
            <a:ext cx="64008" cy="64008"/>
          </a:xfrm>
          <a:prstGeom prst="ellipse">
            <a:avLst/>
          </a:prstGeom>
          <a:solidFill>
            <a:srgbClr val="FFFFFF">
              <a:alpha val="12000"/>
            </a:srgbClr>
          </a:solidFill>
          <a:ln w="12700">
            <a:solidFill>
              <a:srgbClr val="FFFFFF">
                <a:alpha val="12000"/>
              </a:srgbClr>
            </a:solidFill>
            <a:prstDash val="solid"/>
          </a:ln>
        </p:spPr>
      </p:sp>
      <p:sp>
        <p:nvSpPr>
          <p:cNvPr id="72" name="Shape 70"/>
          <p:cNvSpPr/>
          <p:nvPr/>
        </p:nvSpPr>
        <p:spPr>
          <a:xfrm>
            <a:off x="7452360" y="4343400"/>
            <a:ext cx="64008" cy="64008"/>
          </a:xfrm>
          <a:prstGeom prst="ellipse">
            <a:avLst/>
          </a:prstGeom>
          <a:solidFill>
            <a:srgbClr val="FFFFFF">
              <a:alpha val="12000"/>
            </a:srgbClr>
          </a:solidFill>
          <a:ln w="12700">
            <a:solidFill>
              <a:srgbClr val="FFFFFF">
                <a:alpha val="12000"/>
              </a:srgbClr>
            </a:solidFill>
            <a:prstDash val="solid"/>
          </a:ln>
        </p:spPr>
      </p:sp>
      <p:sp>
        <p:nvSpPr>
          <p:cNvPr id="73" name="Shape 71"/>
          <p:cNvSpPr/>
          <p:nvPr/>
        </p:nvSpPr>
        <p:spPr>
          <a:xfrm>
            <a:off x="8229600" y="4343400"/>
            <a:ext cx="64008" cy="64008"/>
          </a:xfrm>
          <a:prstGeom prst="ellipse">
            <a:avLst/>
          </a:prstGeom>
          <a:solidFill>
            <a:srgbClr val="FFFFFF">
              <a:alpha val="12000"/>
            </a:srgbClr>
          </a:solidFill>
          <a:ln w="12700">
            <a:solidFill>
              <a:srgbClr val="FFFFFF">
                <a:alpha val="12000"/>
              </a:srgbClr>
            </a:solidFill>
            <a:prstDash val="solid"/>
          </a:ln>
        </p:spPr>
      </p:sp>
      <p:sp>
        <p:nvSpPr>
          <p:cNvPr id="74" name="Shape 72"/>
          <p:cNvSpPr/>
          <p:nvPr/>
        </p:nvSpPr>
        <p:spPr>
          <a:xfrm>
            <a:off x="9006840" y="4343400"/>
            <a:ext cx="64008" cy="64008"/>
          </a:xfrm>
          <a:prstGeom prst="ellipse">
            <a:avLst/>
          </a:prstGeom>
          <a:solidFill>
            <a:srgbClr val="FFFFFF">
              <a:alpha val="12000"/>
            </a:srgbClr>
          </a:solidFill>
          <a:ln w="12700">
            <a:solidFill>
              <a:srgbClr val="FFFFFF">
                <a:alpha val="12000"/>
              </a:srgbClr>
            </a:solidFill>
            <a:prstDash val="solid"/>
          </a:ln>
        </p:spPr>
      </p:sp>
      <p:sp>
        <p:nvSpPr>
          <p:cNvPr id="75" name="Shape 73"/>
          <p:cNvSpPr/>
          <p:nvPr/>
        </p:nvSpPr>
        <p:spPr>
          <a:xfrm>
            <a:off x="5029200" y="182880"/>
            <a:ext cx="4114800" cy="4114800"/>
          </a:xfrm>
          <a:prstGeom prst="ellipse">
            <a:avLst/>
          </a:prstGeom>
          <a:solidFill>
            <a:srgbClr val="0096C7">
              <a:alpha val="10000"/>
            </a:srgbClr>
          </a:solidFill>
          <a:ln w="12700">
            <a:solidFill>
              <a:srgbClr val="00B4D8">
                <a:alpha val="30000"/>
              </a:srgbClr>
            </a:solidFill>
            <a:prstDash val="solid"/>
          </a:ln>
        </p:spPr>
      </p:sp>
      <p:sp>
        <p:nvSpPr>
          <p:cNvPr id="76" name="Shape 74"/>
          <p:cNvSpPr/>
          <p:nvPr/>
        </p:nvSpPr>
        <p:spPr>
          <a:xfrm>
            <a:off x="320040" y="411480"/>
            <a:ext cx="2011680" cy="438912"/>
          </a:xfrm>
          <a:prstGeom prst="rect">
            <a:avLst/>
          </a:prstGeom>
          <a:solidFill>
            <a:srgbClr val="00B4D8"/>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77" name="Text 75"/>
          <p:cNvSpPr/>
          <p:nvPr/>
        </p:nvSpPr>
        <p:spPr>
          <a:xfrm>
            <a:off x="320040" y="411480"/>
            <a:ext cx="2011680" cy="438912"/>
          </a:xfrm>
          <a:prstGeom prst="rect">
            <a:avLst/>
          </a:prstGeom>
          <a:noFill/>
          <a:ln/>
        </p:spPr>
        <p:txBody>
          <a:bodyPr wrap="square" lIns="0" tIns="0" rIns="0" bIns="0" rtlCol="0" anchor="ctr"/>
          <a:lstStyle/>
          <a:p>
            <a:pPr algn="ctr" indent="0" marL="0">
              <a:buNone/>
            </a:pPr>
            <a:r>
              <a:rPr lang="en-US" sz="900" b="1" dirty="0">
                <a:solidFill>
                  <a:srgbClr val="0D1B2A"/>
                </a:solidFill>
              </a:rPr>
              <a:t>EXPERIMENT NO. 6</a:t>
            </a:r>
            <a:endParaRPr lang="en-US" sz="900" dirty="0"/>
          </a:p>
        </p:txBody>
      </p:sp>
      <p:sp>
        <p:nvSpPr>
          <p:cNvPr id="78" name="Text 76"/>
          <p:cNvSpPr/>
          <p:nvPr/>
        </p:nvSpPr>
        <p:spPr>
          <a:xfrm>
            <a:off x="320040" y="1024128"/>
            <a:ext cx="8503920" cy="658368"/>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Development of Python Code</a:t>
            </a:r>
            <a:endParaRPr lang="en-US" sz="3400" dirty="0"/>
          </a:p>
        </p:txBody>
      </p:sp>
      <p:sp>
        <p:nvSpPr>
          <p:cNvPr id="79" name="Text 77"/>
          <p:cNvSpPr/>
          <p:nvPr/>
        </p:nvSpPr>
        <p:spPr>
          <a:xfrm>
            <a:off x="320040" y="1645920"/>
            <a:ext cx="8503920" cy="658368"/>
          </a:xfrm>
          <a:prstGeom prst="rect">
            <a:avLst/>
          </a:prstGeom>
          <a:noFill/>
          <a:ln/>
        </p:spPr>
        <p:txBody>
          <a:bodyPr wrap="square" rtlCol="0" anchor="ctr"/>
          <a:lstStyle/>
          <a:p>
            <a:pPr indent="0" marL="0">
              <a:buNone/>
            </a:pPr>
            <a:r>
              <a:rPr lang="en-US" sz="3400" b="1" dirty="0">
                <a:solidFill>
                  <a:srgbClr val="00B4D8"/>
                </a:solidFill>
                <a:latin typeface="Calibri" pitchFamily="34" charset="0"/>
                <a:ea typeface="Calibri" pitchFamily="34" charset="-122"/>
                <a:cs typeface="Calibri" pitchFamily="34" charset="-120"/>
              </a:rPr>
              <a:t>Compatible with Multiple AI Tools</a:t>
            </a:r>
            <a:endParaRPr lang="en-US" sz="3400" dirty="0"/>
          </a:p>
        </p:txBody>
      </p:sp>
      <p:sp>
        <p:nvSpPr>
          <p:cNvPr id="80" name="Text 78"/>
          <p:cNvSpPr/>
          <p:nvPr/>
        </p:nvSpPr>
        <p:spPr>
          <a:xfrm>
            <a:off x="320040" y="2468880"/>
            <a:ext cx="8503920" cy="438912"/>
          </a:xfrm>
          <a:prstGeom prst="rect">
            <a:avLst/>
          </a:prstGeom>
          <a:noFill/>
          <a:ln/>
        </p:spPr>
        <p:txBody>
          <a:bodyPr wrap="square" rtlCol="0" anchor="ctr"/>
          <a:lstStyle/>
          <a:p>
            <a:pPr indent="0" marL="0">
              <a:buNone/>
            </a:pPr>
            <a:r>
              <a:rPr lang="en-US" sz="1400" i="1" dirty="0">
                <a:solidFill>
                  <a:srgbClr val="90CAF9"/>
                </a:solidFill>
                <a:latin typeface="Calibri" pitchFamily="34" charset="0"/>
                <a:ea typeface="Calibri" pitchFamily="34" charset="-122"/>
                <a:cs typeface="Calibri" pitchFamily="34" charset="-120"/>
              </a:rPr>
              <a:t>Integrating APIs · Comparing Outputs · Generating Actionable Insights</a:t>
            </a:r>
            <a:endParaRPr lang="en-US" sz="1400" dirty="0"/>
          </a:p>
        </p:txBody>
      </p:sp>
      <p:sp>
        <p:nvSpPr>
          <p:cNvPr id="81" name="Shape 79"/>
          <p:cNvSpPr/>
          <p:nvPr/>
        </p:nvSpPr>
        <p:spPr>
          <a:xfrm>
            <a:off x="320040" y="3035808"/>
            <a:ext cx="5029200" cy="36576"/>
          </a:xfrm>
          <a:prstGeom prst="rect">
            <a:avLst/>
          </a:prstGeom>
          <a:solidFill>
            <a:srgbClr val="00B4D8"/>
          </a:solidFill>
          <a:ln w="12700">
            <a:solidFill>
              <a:srgbClr val="00B4D8"/>
            </a:solidFill>
            <a:prstDash val="solid"/>
          </a:ln>
        </p:spPr>
      </p:sp>
      <p:sp>
        <p:nvSpPr>
          <p:cNvPr id="82" name="Shape 80"/>
          <p:cNvSpPr/>
          <p:nvPr/>
        </p:nvSpPr>
        <p:spPr>
          <a:xfrm>
            <a:off x="320040" y="3246120"/>
            <a:ext cx="2606040" cy="502920"/>
          </a:xfrm>
          <a:prstGeom prst="rect">
            <a:avLst/>
          </a:prstGeom>
          <a:solidFill>
            <a:srgbClr val="FFFFFF">
              <a:alpha val="10000"/>
            </a:srgbClr>
          </a:solidFill>
          <a:ln w="12700">
            <a:solidFill>
              <a:srgbClr val="00B4D8">
                <a:alpha val="70000"/>
              </a:srgbClr>
            </a:solidFill>
            <a:prstDash val="solid"/>
          </a:ln>
        </p:spPr>
      </p:sp>
      <p:sp>
        <p:nvSpPr>
          <p:cNvPr id="83" name="Text 81"/>
          <p:cNvSpPr/>
          <p:nvPr/>
        </p:nvSpPr>
        <p:spPr>
          <a:xfrm>
            <a:off x="393192" y="3246120"/>
            <a:ext cx="2468880" cy="502920"/>
          </a:xfrm>
          <a:prstGeom prst="rect">
            <a:avLst/>
          </a:prstGeom>
          <a:noFill/>
          <a:ln/>
        </p:spPr>
        <p:txBody>
          <a:bodyPr wrap="square" rtlCol="0" anchor="ctr"/>
          <a:lstStyle/>
          <a:p>
            <a:pPr indent="0" marL="0">
              <a:buNone/>
            </a:pPr>
            <a:r>
              <a:rPr lang="en-US" sz="1100" b="1" dirty="0">
                <a:solidFill>
                  <a:srgbClr val="00B4D8"/>
                </a:solidFill>
              </a:rPr>
              <a:t>Language: </a:t>
            </a:r>
            <a:pPr indent="0" marL="0">
              <a:buNone/>
            </a:pPr>
            <a:r>
              <a:rPr lang="en-US" sz="1100" dirty="0">
                <a:solidFill>
                  <a:srgbClr val="FFFFFF"/>
                </a:solidFill>
              </a:rPr>
              <a:t>Python 3.x</a:t>
            </a:r>
            <a:endParaRPr lang="en-US" sz="1100" dirty="0"/>
          </a:p>
        </p:txBody>
      </p:sp>
      <p:sp>
        <p:nvSpPr>
          <p:cNvPr id="84" name="Shape 82"/>
          <p:cNvSpPr/>
          <p:nvPr/>
        </p:nvSpPr>
        <p:spPr>
          <a:xfrm>
            <a:off x="3154680" y="3246120"/>
            <a:ext cx="2606040" cy="502920"/>
          </a:xfrm>
          <a:prstGeom prst="rect">
            <a:avLst/>
          </a:prstGeom>
          <a:solidFill>
            <a:srgbClr val="FFFFFF">
              <a:alpha val="10000"/>
            </a:srgbClr>
          </a:solidFill>
          <a:ln w="12700">
            <a:solidFill>
              <a:srgbClr val="00B4D8">
                <a:alpha val="70000"/>
              </a:srgbClr>
            </a:solidFill>
            <a:prstDash val="solid"/>
          </a:ln>
        </p:spPr>
      </p:sp>
      <p:sp>
        <p:nvSpPr>
          <p:cNvPr id="85" name="Text 83"/>
          <p:cNvSpPr/>
          <p:nvPr/>
        </p:nvSpPr>
        <p:spPr>
          <a:xfrm>
            <a:off x="3227832" y="3246120"/>
            <a:ext cx="2468880" cy="502920"/>
          </a:xfrm>
          <a:prstGeom prst="rect">
            <a:avLst/>
          </a:prstGeom>
          <a:noFill/>
          <a:ln/>
        </p:spPr>
        <p:txBody>
          <a:bodyPr wrap="square" rtlCol="0" anchor="ctr"/>
          <a:lstStyle/>
          <a:p>
            <a:pPr indent="0" marL="0">
              <a:buNone/>
            </a:pPr>
            <a:r>
              <a:rPr lang="en-US" sz="1100" b="1" dirty="0">
                <a:solidFill>
                  <a:srgbClr val="00B4D8"/>
                </a:solidFill>
              </a:rPr>
              <a:t>Domain: </a:t>
            </a:r>
            <a:pPr indent="0" marL="0">
              <a:buNone/>
            </a:pPr>
            <a:r>
              <a:rPr lang="en-US" sz="1100" dirty="0">
                <a:solidFill>
                  <a:srgbClr val="FFFFFF"/>
                </a:solidFill>
              </a:rPr>
              <a:t>AI / API Integration</a:t>
            </a:r>
            <a:endParaRPr lang="en-US" sz="1100" dirty="0"/>
          </a:p>
        </p:txBody>
      </p:sp>
      <p:sp>
        <p:nvSpPr>
          <p:cNvPr id="86" name="Shape 84"/>
          <p:cNvSpPr/>
          <p:nvPr/>
        </p:nvSpPr>
        <p:spPr>
          <a:xfrm>
            <a:off x="5989320" y="3246120"/>
            <a:ext cx="2606040" cy="502920"/>
          </a:xfrm>
          <a:prstGeom prst="rect">
            <a:avLst/>
          </a:prstGeom>
          <a:solidFill>
            <a:srgbClr val="FFFFFF">
              <a:alpha val="10000"/>
            </a:srgbClr>
          </a:solidFill>
          <a:ln w="12700">
            <a:solidFill>
              <a:srgbClr val="00B4D8">
                <a:alpha val="70000"/>
              </a:srgbClr>
            </a:solidFill>
            <a:prstDash val="solid"/>
          </a:ln>
        </p:spPr>
      </p:sp>
      <p:sp>
        <p:nvSpPr>
          <p:cNvPr id="87" name="Text 85"/>
          <p:cNvSpPr/>
          <p:nvPr/>
        </p:nvSpPr>
        <p:spPr>
          <a:xfrm>
            <a:off x="6062472" y="3246120"/>
            <a:ext cx="2468880" cy="502920"/>
          </a:xfrm>
          <a:prstGeom prst="rect">
            <a:avLst/>
          </a:prstGeom>
          <a:noFill/>
          <a:ln/>
        </p:spPr>
        <p:txBody>
          <a:bodyPr wrap="square" rtlCol="0" anchor="ctr"/>
          <a:lstStyle/>
          <a:p>
            <a:pPr indent="0" marL="0">
              <a:buNone/>
            </a:pPr>
            <a:r>
              <a:rPr lang="en-US" sz="1100" b="1" dirty="0">
                <a:solidFill>
                  <a:srgbClr val="00B4D8"/>
                </a:solidFill>
              </a:rPr>
              <a:t>Type: </a:t>
            </a:r>
            <a:pPr indent="0" marL="0">
              <a:buNone/>
            </a:pPr>
            <a:r>
              <a:rPr lang="en-US" sz="1100" dirty="0">
                <a:solidFill>
                  <a:srgbClr val="FFFFFF"/>
                </a:solidFill>
              </a:rPr>
              <a:t>Lab Exercise</a:t>
            </a:r>
            <a:endParaRPr lang="en-US" sz="1100" dirty="0"/>
          </a:p>
        </p:txBody>
      </p:sp>
      <p:sp>
        <p:nvSpPr>
          <p:cNvPr id="88" name="Shape 86"/>
          <p:cNvSpPr/>
          <p:nvPr/>
        </p:nvSpPr>
        <p:spPr>
          <a:xfrm>
            <a:off x="320040" y="3931920"/>
            <a:ext cx="5303520" cy="594360"/>
          </a:xfrm>
          <a:prstGeom prst="rect">
            <a:avLst/>
          </a:prstGeom>
          <a:solidFill>
            <a:srgbClr val="FFFFFF">
              <a:alpha val="8000"/>
            </a:srgbClr>
          </a:solidFill>
          <a:ln w="12700">
            <a:solidFill>
              <a:srgbClr val="00B4D8">
                <a:alpha val="60000"/>
              </a:srgbClr>
            </a:solidFill>
            <a:prstDash val="solid"/>
          </a:ln>
        </p:spPr>
      </p:sp>
      <p:sp>
        <p:nvSpPr>
          <p:cNvPr id="89" name="Text 87"/>
          <p:cNvSpPr/>
          <p:nvPr/>
        </p:nvSpPr>
        <p:spPr>
          <a:xfrm>
            <a:off x="438912" y="3931920"/>
            <a:ext cx="5120640" cy="594360"/>
          </a:xfrm>
          <a:prstGeom prst="rect">
            <a:avLst/>
          </a:prstGeom>
          <a:noFill/>
          <a:ln/>
        </p:spPr>
        <p:txBody>
          <a:bodyPr wrap="square" rtlCol="0" anchor="ctr"/>
          <a:lstStyle/>
          <a:p>
            <a:pPr indent="0" marL="0">
              <a:buNone/>
            </a:pPr>
            <a:r>
              <a:rPr lang="en-US" sz="1200" b="1" dirty="0">
                <a:solidFill>
                  <a:srgbClr val="00B4D8"/>
                </a:solidFill>
              </a:rPr>
              <a:t>Name: </a:t>
            </a:r>
            <a:pPr indent="0" marL="0">
              <a:buNone/>
            </a:pPr>
            <a:r>
              <a:rPr lang="en-US" sz="1200" b="1" dirty="0">
                <a:solidFill>
                  <a:srgbClr val="FFFFFF"/>
                </a:solidFill>
              </a:rPr>
              <a:t>KELVIN PRABHU . G</a:t>
            </a:r>
            <a:pPr indent="0" marL="0">
              <a:buNone/>
            </a:pPr>
            <a:r>
              <a:rPr lang="en-US" sz="1200" b="1" dirty="0">
                <a:solidFill>
                  <a:srgbClr val="00B4D8"/>
                </a:solidFill>
              </a:rPr>
              <a:t>     Ref No: </a:t>
            </a:r>
            <a:pPr indent="0" marL="0">
              <a:buNone/>
            </a:pPr>
            <a:r>
              <a:rPr lang="en-US" sz="1200" b="1" dirty="0">
                <a:solidFill>
                  <a:srgbClr val="FFFFFF"/>
                </a:solidFill>
              </a:rPr>
              <a:t>212225060122</a:t>
            </a:r>
            <a:endParaRPr lang="en-US" sz="1200" dirty="0"/>
          </a:p>
        </p:txBody>
      </p:sp>
      <p:sp>
        <p:nvSpPr>
          <p:cNvPr id="90" name="Text 88"/>
          <p:cNvSpPr/>
          <p:nvPr/>
        </p:nvSpPr>
        <p:spPr>
          <a:xfrm>
            <a:off x="320040" y="4663440"/>
            <a:ext cx="8503920" cy="274320"/>
          </a:xfrm>
          <a:prstGeom prst="rect">
            <a:avLst/>
          </a:prstGeom>
          <a:noFill/>
          <a:ln/>
        </p:spPr>
        <p:txBody>
          <a:bodyPr wrap="square" rtlCol="0" anchor="ctr"/>
          <a:lstStyle/>
          <a:p>
            <a:pPr algn="r" indent="0" marL="0">
              <a:buNone/>
            </a:pPr>
            <a:r>
              <a:rPr lang="en-US" sz="1000" dirty="0">
                <a:solidFill>
                  <a:srgbClr val="546E7A"/>
                </a:solidFill>
              </a:rPr>
              <a:t>Artificial Intelligence &amp; Python Programming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Shape 1"/>
          <p:cNvSpPr/>
          <p:nvPr/>
        </p:nvSpPr>
        <p:spPr>
          <a:xfrm>
            <a:off x="0" y="1005840"/>
            <a:ext cx="9144000" cy="54864"/>
          </a:xfrm>
          <a:prstGeom prst="rect">
            <a:avLst/>
          </a:prstGeom>
          <a:solidFill>
            <a:srgbClr val="00B4D8"/>
          </a:solidFill>
          <a:ln w="12700">
            <a:solidFill>
              <a:srgbClr val="00B4D8"/>
            </a:solidFill>
            <a:prstDash val="solid"/>
          </a:ln>
        </p:spPr>
      </p:sp>
      <p:sp>
        <p:nvSpPr>
          <p:cNvPr id="4" name="Text 2"/>
          <p:cNvSpPr/>
          <p:nvPr/>
        </p:nvSpPr>
        <p:spPr>
          <a:xfrm>
            <a:off x="365760" y="0"/>
            <a:ext cx="8412480" cy="10058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AIM &amp; OBJECTIVES</a:t>
            </a:r>
            <a:endParaRPr lang="en-US" sz="2800" dirty="0"/>
          </a:p>
        </p:txBody>
      </p:sp>
      <p:sp>
        <p:nvSpPr>
          <p:cNvPr id="5" name="Text 3"/>
          <p:cNvSpPr/>
          <p:nvPr/>
        </p:nvSpPr>
        <p:spPr>
          <a:xfrm>
            <a:off x="8046720" y="0"/>
            <a:ext cx="914400" cy="1005840"/>
          </a:xfrm>
          <a:prstGeom prst="rect">
            <a:avLst/>
          </a:prstGeom>
          <a:noFill/>
          <a:ln/>
        </p:spPr>
        <p:txBody>
          <a:bodyPr wrap="square" rtlCol="0" anchor="ctr"/>
          <a:lstStyle/>
          <a:p>
            <a:pPr algn="r" indent="0" marL="0">
              <a:buNone/>
            </a:pPr>
            <a:r>
              <a:rPr lang="en-US" sz="1000" dirty="0">
                <a:solidFill>
                  <a:srgbClr val="00B4D8"/>
                </a:solidFill>
              </a:rPr>
              <a:t>Slide 02</a:t>
            </a:r>
            <a:endParaRPr lang="en-US" sz="1000" dirty="0"/>
          </a:p>
        </p:txBody>
      </p:sp>
      <p:sp>
        <p:nvSpPr>
          <p:cNvPr id="6" name="Shape 4"/>
          <p:cNvSpPr/>
          <p:nvPr/>
        </p:nvSpPr>
        <p:spPr>
          <a:xfrm>
            <a:off x="365760" y="1234440"/>
            <a:ext cx="8412480" cy="960120"/>
          </a:xfrm>
          <a:prstGeom prst="rect">
            <a:avLst/>
          </a:prstGeom>
          <a:solidFill>
            <a:srgbClr val="E3F2FD"/>
          </a:solidFill>
          <a:ln w="12700">
            <a:solidFill>
              <a:srgbClr val="1565C0">
                <a:alpha val="40000"/>
              </a:srgbClr>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234440"/>
            <a:ext cx="91440" cy="960120"/>
          </a:xfrm>
          <a:prstGeom prst="rect">
            <a:avLst/>
          </a:prstGeom>
          <a:solidFill>
            <a:srgbClr val="1565C0"/>
          </a:solidFill>
          <a:ln w="12700">
            <a:solidFill>
              <a:srgbClr val="1565C0"/>
            </a:solidFill>
            <a:prstDash val="solid"/>
          </a:ln>
        </p:spPr>
      </p:sp>
      <p:sp>
        <p:nvSpPr>
          <p:cNvPr id="8" name="Text 6"/>
          <p:cNvSpPr/>
          <p:nvPr/>
        </p:nvSpPr>
        <p:spPr>
          <a:xfrm>
            <a:off x="548640" y="1252728"/>
            <a:ext cx="8046720" cy="914400"/>
          </a:xfrm>
          <a:prstGeom prst="rect">
            <a:avLst/>
          </a:prstGeom>
          <a:noFill/>
          <a:ln/>
        </p:spPr>
        <p:txBody>
          <a:bodyPr wrap="square" rtlCol="0" anchor="ctr"/>
          <a:lstStyle/>
          <a:p>
            <a:pPr indent="0" marL="0">
              <a:buNone/>
            </a:pPr>
            <a:r>
              <a:rPr lang="en-US" sz="1250" b="1" dirty="0">
                <a:solidFill>
                  <a:srgbClr val="1565C0"/>
                </a:solidFill>
              </a:rPr>
              <a:t>AIM:  </a:t>
            </a:r>
            <a:pPr indent="0" marL="0">
              <a:buNone/>
            </a:pPr>
            <a:r>
              <a:rPr lang="en-US" sz="1250" dirty="0">
                <a:solidFill>
                  <a:srgbClr val="0D1B2A"/>
                </a:solidFill>
              </a:rPr>
              <a:t>Write and implement Python code that integrates with multiple AI tools to automate the task of interacting with APIs, comparing outputs, and generating actionable insights.</a:t>
            </a:r>
            <a:endParaRPr lang="en-US" sz="1250" dirty="0"/>
          </a:p>
        </p:txBody>
      </p:sp>
      <p:sp>
        <p:nvSpPr>
          <p:cNvPr id="9" name="Text 7"/>
          <p:cNvSpPr/>
          <p:nvPr/>
        </p:nvSpPr>
        <p:spPr>
          <a:xfrm>
            <a:off x="365760" y="2395728"/>
            <a:ext cx="8412480" cy="329184"/>
          </a:xfrm>
          <a:prstGeom prst="rect">
            <a:avLst/>
          </a:prstGeom>
          <a:noFill/>
          <a:ln/>
        </p:spPr>
        <p:txBody>
          <a:bodyPr wrap="square" rtlCol="0" anchor="ctr"/>
          <a:lstStyle/>
          <a:p>
            <a:pPr indent="0" marL="0">
              <a:buNone/>
            </a:pPr>
            <a:r>
              <a:rPr lang="en-US" sz="1300" b="1" dirty="0">
                <a:solidFill>
                  <a:srgbClr val="1565C0"/>
                </a:solidFill>
              </a:rPr>
              <a:t>KEY OBJECTIVES</a:t>
            </a:r>
            <a:endParaRPr lang="en-US" sz="1300" dirty="0"/>
          </a:p>
        </p:txBody>
      </p:sp>
      <p:sp>
        <p:nvSpPr>
          <p:cNvPr id="10" name="Shape 8"/>
          <p:cNvSpPr/>
          <p:nvPr/>
        </p:nvSpPr>
        <p:spPr>
          <a:xfrm>
            <a:off x="365760" y="2816352"/>
            <a:ext cx="4023360" cy="73152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457200" y="2971800"/>
            <a:ext cx="420624" cy="420624"/>
          </a:xfrm>
          <a:prstGeom prst="ellipse">
            <a:avLst/>
          </a:prstGeom>
          <a:solidFill>
            <a:srgbClr val="1565C0"/>
          </a:solidFill>
          <a:ln w="12700">
            <a:solidFill>
              <a:srgbClr val="1565C0"/>
            </a:solidFill>
            <a:prstDash val="solid"/>
          </a:ln>
        </p:spPr>
      </p:sp>
      <p:sp>
        <p:nvSpPr>
          <p:cNvPr id="12" name="Text 10"/>
          <p:cNvSpPr/>
          <p:nvPr/>
        </p:nvSpPr>
        <p:spPr>
          <a:xfrm>
            <a:off x="457200"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3" name="Text 11"/>
          <p:cNvSpPr/>
          <p:nvPr/>
        </p:nvSpPr>
        <p:spPr>
          <a:xfrm>
            <a:off x="960120" y="2889504"/>
            <a:ext cx="3337560" cy="594360"/>
          </a:xfrm>
          <a:prstGeom prst="rect">
            <a:avLst/>
          </a:prstGeom>
          <a:noFill/>
          <a:ln/>
        </p:spPr>
        <p:txBody>
          <a:bodyPr wrap="square" rtlCol="0" anchor="ctr"/>
          <a:lstStyle/>
          <a:p>
            <a:pPr indent="0" marL="0">
              <a:buNone/>
            </a:pPr>
            <a:r>
              <a:rPr lang="en-US" sz="1100" dirty="0">
                <a:solidFill>
                  <a:srgbClr val="0D1B2A"/>
                </a:solidFill>
              </a:rPr>
              <a:t>Integrate Python code with multiple AI APIs (OpenAI, Gemini, Claude, etc.)</a:t>
            </a:r>
            <a:endParaRPr lang="en-US" sz="1100" dirty="0"/>
          </a:p>
        </p:txBody>
      </p:sp>
      <p:sp>
        <p:nvSpPr>
          <p:cNvPr id="14" name="Shape 12"/>
          <p:cNvSpPr/>
          <p:nvPr/>
        </p:nvSpPr>
        <p:spPr>
          <a:xfrm>
            <a:off x="4663440" y="2816352"/>
            <a:ext cx="4023360" cy="73152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754880" y="2971800"/>
            <a:ext cx="420624" cy="420624"/>
          </a:xfrm>
          <a:prstGeom prst="ellipse">
            <a:avLst/>
          </a:prstGeom>
          <a:solidFill>
            <a:srgbClr val="1565C0"/>
          </a:solidFill>
          <a:ln w="12700">
            <a:solidFill>
              <a:srgbClr val="1565C0"/>
            </a:solidFill>
            <a:prstDash val="solid"/>
          </a:ln>
        </p:spPr>
      </p:sp>
      <p:sp>
        <p:nvSpPr>
          <p:cNvPr id="16" name="Text 14"/>
          <p:cNvSpPr/>
          <p:nvPr/>
        </p:nvSpPr>
        <p:spPr>
          <a:xfrm>
            <a:off x="4754880"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5"/>
          <p:cNvSpPr/>
          <p:nvPr/>
        </p:nvSpPr>
        <p:spPr>
          <a:xfrm>
            <a:off x="5257800" y="2889504"/>
            <a:ext cx="3337560" cy="594360"/>
          </a:xfrm>
          <a:prstGeom prst="rect">
            <a:avLst/>
          </a:prstGeom>
          <a:noFill/>
          <a:ln/>
        </p:spPr>
        <p:txBody>
          <a:bodyPr wrap="square" rtlCol="0" anchor="ctr"/>
          <a:lstStyle/>
          <a:p>
            <a:pPr indent="0" marL="0">
              <a:buNone/>
            </a:pPr>
            <a:r>
              <a:rPr lang="en-US" sz="1100" dirty="0">
                <a:solidFill>
                  <a:srgbClr val="0D1B2A"/>
                </a:solidFill>
              </a:rPr>
              <a:t>Automate prompt submission and response collection across AI services</a:t>
            </a:r>
            <a:endParaRPr lang="en-US" sz="1100" dirty="0"/>
          </a:p>
        </p:txBody>
      </p:sp>
      <p:sp>
        <p:nvSpPr>
          <p:cNvPr id="18" name="Shape 16"/>
          <p:cNvSpPr/>
          <p:nvPr/>
        </p:nvSpPr>
        <p:spPr>
          <a:xfrm>
            <a:off x="365760" y="3685032"/>
            <a:ext cx="4023360" cy="73152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457200" y="3840480"/>
            <a:ext cx="420624" cy="420624"/>
          </a:xfrm>
          <a:prstGeom prst="ellipse">
            <a:avLst/>
          </a:prstGeom>
          <a:solidFill>
            <a:srgbClr val="1565C0"/>
          </a:solidFill>
          <a:ln w="12700">
            <a:solidFill>
              <a:srgbClr val="1565C0"/>
            </a:solidFill>
            <a:prstDash val="solid"/>
          </a:ln>
        </p:spPr>
      </p:sp>
      <p:sp>
        <p:nvSpPr>
          <p:cNvPr id="20" name="Text 18"/>
          <p:cNvSpPr/>
          <p:nvPr/>
        </p:nvSpPr>
        <p:spPr>
          <a:xfrm>
            <a:off x="457200" y="3840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960120" y="3758184"/>
            <a:ext cx="3337560" cy="594360"/>
          </a:xfrm>
          <a:prstGeom prst="rect">
            <a:avLst/>
          </a:prstGeom>
          <a:noFill/>
          <a:ln/>
        </p:spPr>
        <p:txBody>
          <a:bodyPr wrap="square" rtlCol="0" anchor="ctr"/>
          <a:lstStyle/>
          <a:p>
            <a:pPr indent="0" marL="0">
              <a:buNone/>
            </a:pPr>
            <a:r>
              <a:rPr lang="en-US" sz="1100" dirty="0">
                <a:solidFill>
                  <a:srgbClr val="0D1B2A"/>
                </a:solidFill>
              </a:rPr>
              <a:t>Compare outputs from different APIs for the same query or task</a:t>
            </a:r>
            <a:endParaRPr lang="en-US" sz="1100" dirty="0"/>
          </a:p>
        </p:txBody>
      </p:sp>
      <p:sp>
        <p:nvSpPr>
          <p:cNvPr id="22" name="Shape 20"/>
          <p:cNvSpPr/>
          <p:nvPr/>
        </p:nvSpPr>
        <p:spPr>
          <a:xfrm>
            <a:off x="4663440" y="3685032"/>
            <a:ext cx="4023360" cy="73152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4754880" y="3840480"/>
            <a:ext cx="420624" cy="420624"/>
          </a:xfrm>
          <a:prstGeom prst="ellipse">
            <a:avLst/>
          </a:prstGeom>
          <a:solidFill>
            <a:srgbClr val="1565C0"/>
          </a:solidFill>
          <a:ln w="12700">
            <a:solidFill>
              <a:srgbClr val="1565C0"/>
            </a:solidFill>
            <a:prstDash val="solid"/>
          </a:ln>
        </p:spPr>
      </p:sp>
      <p:sp>
        <p:nvSpPr>
          <p:cNvPr id="24" name="Text 22"/>
          <p:cNvSpPr/>
          <p:nvPr/>
        </p:nvSpPr>
        <p:spPr>
          <a:xfrm>
            <a:off x="4754880" y="3840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3"/>
          <p:cNvSpPr/>
          <p:nvPr/>
        </p:nvSpPr>
        <p:spPr>
          <a:xfrm>
            <a:off x="5257800" y="3758184"/>
            <a:ext cx="3337560" cy="594360"/>
          </a:xfrm>
          <a:prstGeom prst="rect">
            <a:avLst/>
          </a:prstGeom>
          <a:noFill/>
          <a:ln/>
        </p:spPr>
        <p:txBody>
          <a:bodyPr wrap="square" rtlCol="0" anchor="ctr"/>
          <a:lstStyle/>
          <a:p>
            <a:pPr indent="0" marL="0">
              <a:buNone/>
            </a:pPr>
            <a:r>
              <a:rPr lang="en-US" sz="1100" dirty="0">
                <a:solidFill>
                  <a:srgbClr val="0D1B2A"/>
                </a:solidFill>
              </a:rPr>
              <a:t>Analyze and visualize AI responses to generate actionable insights</a:t>
            </a:r>
            <a:endParaRPr lang="en-US" sz="1100" dirty="0"/>
          </a:p>
        </p:txBody>
      </p:sp>
      <p:sp>
        <p:nvSpPr>
          <p:cNvPr id="26" name="Shape 24"/>
          <p:cNvSpPr/>
          <p:nvPr/>
        </p:nvSpPr>
        <p:spPr>
          <a:xfrm>
            <a:off x="0" y="4983480"/>
            <a:ext cx="9144000" cy="160020"/>
          </a:xfrm>
          <a:prstGeom prst="rect">
            <a:avLst/>
          </a:prstGeom>
          <a:solidFill>
            <a:srgbClr val="0D1B2A"/>
          </a:solidFill>
          <a:ln w="12700">
            <a:solidFill>
              <a:srgbClr val="0D1B2A"/>
            </a:solidFill>
            <a:prstDash val="solid"/>
          </a:ln>
        </p:spPr>
      </p:sp>
      <p:sp>
        <p:nvSpPr>
          <p:cNvPr id="27" name="Text 25"/>
          <p:cNvSpPr/>
          <p:nvPr/>
        </p:nvSpPr>
        <p:spPr>
          <a:xfrm>
            <a:off x="274320" y="4983480"/>
            <a:ext cx="8595360" cy="160020"/>
          </a:xfrm>
          <a:prstGeom prst="rect">
            <a:avLst/>
          </a:prstGeom>
          <a:noFill/>
          <a:ln/>
        </p:spPr>
        <p:txBody>
          <a:bodyPr wrap="square" rtlCol="0" anchor="ctr"/>
          <a:lstStyle/>
          <a:p>
            <a:pPr indent="0" marL="0">
              <a:buNone/>
            </a:pPr>
            <a:r>
              <a:rPr lang="en-US" sz="900" dirty="0">
                <a:solidFill>
                  <a:srgbClr val="00B4D8"/>
                </a:solidFill>
              </a:rPr>
              <a:t>Ex.No.6 — Python Code with Multiple AI Tools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Shape 1"/>
          <p:cNvSpPr/>
          <p:nvPr/>
        </p:nvSpPr>
        <p:spPr>
          <a:xfrm>
            <a:off x="0" y="1005840"/>
            <a:ext cx="9144000" cy="54864"/>
          </a:xfrm>
          <a:prstGeom prst="rect">
            <a:avLst/>
          </a:prstGeom>
          <a:solidFill>
            <a:srgbClr val="0096C7"/>
          </a:solidFill>
          <a:ln w="12700">
            <a:solidFill>
              <a:srgbClr val="0096C7"/>
            </a:solidFill>
            <a:prstDash val="solid"/>
          </a:ln>
        </p:spPr>
      </p:sp>
      <p:sp>
        <p:nvSpPr>
          <p:cNvPr id="4" name="Text 2"/>
          <p:cNvSpPr/>
          <p:nvPr/>
        </p:nvSpPr>
        <p:spPr>
          <a:xfrm>
            <a:off x="365760" y="0"/>
            <a:ext cx="8412480" cy="10058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5" name="Text 3"/>
          <p:cNvSpPr/>
          <p:nvPr/>
        </p:nvSpPr>
        <p:spPr>
          <a:xfrm>
            <a:off x="8046720" y="0"/>
            <a:ext cx="914400" cy="1005840"/>
          </a:xfrm>
          <a:prstGeom prst="rect">
            <a:avLst/>
          </a:prstGeom>
          <a:noFill/>
          <a:ln/>
        </p:spPr>
        <p:txBody>
          <a:bodyPr wrap="square" rtlCol="0" anchor="ctr"/>
          <a:lstStyle/>
          <a:p>
            <a:pPr algn="r" indent="0" marL="0">
              <a:buNone/>
            </a:pPr>
            <a:r>
              <a:rPr lang="en-US" sz="1000" dirty="0">
                <a:solidFill>
                  <a:srgbClr val="00B4D8"/>
                </a:solidFill>
              </a:rPr>
              <a:t>Slide 03</a:t>
            </a:r>
            <a:endParaRPr lang="en-US" sz="1000" dirty="0"/>
          </a:p>
        </p:txBody>
      </p:sp>
      <p:sp>
        <p:nvSpPr>
          <p:cNvPr id="6" name="Shape 4"/>
          <p:cNvSpPr/>
          <p:nvPr/>
        </p:nvSpPr>
        <p:spPr>
          <a:xfrm>
            <a:off x="3474720" y="1280160"/>
            <a:ext cx="2194560" cy="685800"/>
          </a:xfrm>
          <a:prstGeom prst="rect">
            <a:avLst/>
          </a:prstGeom>
          <a:solidFill>
            <a:srgbClr val="0D1B2A"/>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3474720" y="1280160"/>
            <a:ext cx="2194560" cy="685800"/>
          </a:xfrm>
          <a:prstGeom prst="rect">
            <a:avLst/>
          </a:prstGeom>
          <a:noFill/>
          <a:ln/>
        </p:spPr>
        <p:txBody>
          <a:bodyPr wrap="square" rtlCol="0" anchor="ctr"/>
          <a:lstStyle/>
          <a:p>
            <a:pPr algn="ctr" indent="0" marL="0">
              <a:buNone/>
            </a:pPr>
            <a:r>
              <a:rPr lang="en-US" sz="1100" b="1" dirty="0">
                <a:solidFill>
                  <a:srgbClr val="FFFFFF"/>
                </a:solidFill>
              </a:rPr>
              <a:t>Python Script</a:t>
            </a:r>
            <a:endParaRPr lang="en-US" sz="1100" dirty="0"/>
          </a:p>
          <a:p>
            <a:pPr algn="ctr" indent="0" marL="0">
              <a:buNone/>
            </a:pPr>
            <a:r>
              <a:rPr lang="en-US" sz="1100" b="1" dirty="0">
                <a:solidFill>
                  <a:srgbClr val="FFFFFF"/>
                </a:solidFill>
              </a:rPr>
              <a:t>(Orchestrator)</a:t>
            </a:r>
            <a:endParaRPr lang="en-US" sz="1100" dirty="0"/>
          </a:p>
        </p:txBody>
      </p:sp>
      <p:sp>
        <p:nvSpPr>
          <p:cNvPr id="8" name="Shape 6"/>
          <p:cNvSpPr/>
          <p:nvPr/>
        </p:nvSpPr>
        <p:spPr>
          <a:xfrm>
            <a:off x="1051560" y="1984248"/>
            <a:ext cx="45720" cy="475488"/>
          </a:xfrm>
          <a:prstGeom prst="rect">
            <a:avLst/>
          </a:prstGeom>
          <a:solidFill>
            <a:srgbClr val="546E7A"/>
          </a:solidFill>
          <a:ln w="12700">
            <a:solidFill>
              <a:srgbClr val="546E7A"/>
            </a:solidFill>
            <a:prstDash val="solid"/>
          </a:ln>
        </p:spPr>
      </p:sp>
      <p:sp>
        <p:nvSpPr>
          <p:cNvPr id="9" name="Shape 7"/>
          <p:cNvSpPr/>
          <p:nvPr/>
        </p:nvSpPr>
        <p:spPr>
          <a:xfrm>
            <a:off x="228600" y="2468880"/>
            <a:ext cx="1737360" cy="621792"/>
          </a:xfrm>
          <a:prstGeom prst="rect">
            <a:avLst/>
          </a:prstGeom>
          <a:solidFill>
            <a:srgbClr val="10A37F"/>
          </a:solidFill>
          <a:ln w="12700">
            <a:solidFill>
              <a:srgbClr val="10A37F"/>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228600" y="2468880"/>
            <a:ext cx="1737360" cy="621792"/>
          </a:xfrm>
          <a:prstGeom prst="rect">
            <a:avLst/>
          </a:prstGeom>
          <a:noFill/>
          <a:ln/>
        </p:spPr>
        <p:txBody>
          <a:bodyPr wrap="square" lIns="0" tIns="0" rIns="0" bIns="0" rtlCol="0" anchor="ctr"/>
          <a:lstStyle/>
          <a:p>
            <a:pPr algn="ctr" indent="0" marL="0">
              <a:buNone/>
            </a:pPr>
            <a:r>
              <a:rPr lang="en-US" sz="1100" b="1" dirty="0">
                <a:solidFill>
                  <a:srgbClr val="FFFFFF"/>
                </a:solidFill>
              </a:rPr>
              <a:t>OpenAI GPT</a:t>
            </a:r>
            <a:endParaRPr lang="en-US" sz="1100" dirty="0"/>
          </a:p>
        </p:txBody>
      </p:sp>
      <p:sp>
        <p:nvSpPr>
          <p:cNvPr id="11" name="Shape 9"/>
          <p:cNvSpPr/>
          <p:nvPr/>
        </p:nvSpPr>
        <p:spPr>
          <a:xfrm>
            <a:off x="3154680" y="1984248"/>
            <a:ext cx="45720" cy="475488"/>
          </a:xfrm>
          <a:prstGeom prst="rect">
            <a:avLst/>
          </a:prstGeom>
          <a:solidFill>
            <a:srgbClr val="546E7A"/>
          </a:solidFill>
          <a:ln w="12700">
            <a:solidFill>
              <a:srgbClr val="546E7A"/>
            </a:solidFill>
            <a:prstDash val="solid"/>
          </a:ln>
        </p:spPr>
      </p:sp>
      <p:sp>
        <p:nvSpPr>
          <p:cNvPr id="12" name="Shape 10"/>
          <p:cNvSpPr/>
          <p:nvPr/>
        </p:nvSpPr>
        <p:spPr>
          <a:xfrm>
            <a:off x="2331720" y="2468880"/>
            <a:ext cx="1737360" cy="621792"/>
          </a:xfrm>
          <a:prstGeom prst="rect">
            <a:avLst/>
          </a:prstGeom>
          <a:solidFill>
            <a:srgbClr val="7B46E0"/>
          </a:solidFill>
          <a:ln w="12700">
            <a:solidFill>
              <a:srgbClr val="7B46E0"/>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2331720" y="2468880"/>
            <a:ext cx="1737360" cy="621792"/>
          </a:xfrm>
          <a:prstGeom prst="rect">
            <a:avLst/>
          </a:prstGeom>
          <a:noFill/>
          <a:ln/>
        </p:spPr>
        <p:txBody>
          <a:bodyPr wrap="square" lIns="0" tIns="0" rIns="0" bIns="0" rtlCol="0" anchor="ctr"/>
          <a:lstStyle/>
          <a:p>
            <a:pPr algn="ctr" indent="0" marL="0">
              <a:buNone/>
            </a:pPr>
            <a:r>
              <a:rPr lang="en-US" sz="1100" b="1" dirty="0">
                <a:solidFill>
                  <a:srgbClr val="FFFFFF"/>
                </a:solidFill>
              </a:rPr>
              <a:t>Claude API</a:t>
            </a:r>
            <a:endParaRPr lang="en-US" sz="1100" dirty="0"/>
          </a:p>
        </p:txBody>
      </p:sp>
      <p:sp>
        <p:nvSpPr>
          <p:cNvPr id="14" name="Shape 12"/>
          <p:cNvSpPr/>
          <p:nvPr/>
        </p:nvSpPr>
        <p:spPr>
          <a:xfrm>
            <a:off x="5257800" y="1984248"/>
            <a:ext cx="45720" cy="475488"/>
          </a:xfrm>
          <a:prstGeom prst="rect">
            <a:avLst/>
          </a:prstGeom>
          <a:solidFill>
            <a:srgbClr val="546E7A"/>
          </a:solidFill>
          <a:ln w="12700">
            <a:solidFill>
              <a:srgbClr val="546E7A"/>
            </a:solidFill>
            <a:prstDash val="solid"/>
          </a:ln>
        </p:spPr>
      </p:sp>
      <p:sp>
        <p:nvSpPr>
          <p:cNvPr id="15" name="Shape 13"/>
          <p:cNvSpPr/>
          <p:nvPr/>
        </p:nvSpPr>
        <p:spPr>
          <a:xfrm>
            <a:off x="4434840" y="2468880"/>
            <a:ext cx="1737360" cy="621792"/>
          </a:xfrm>
          <a:prstGeom prst="rect">
            <a:avLst/>
          </a:prstGeom>
          <a:solidFill>
            <a:srgbClr val="1A73E8"/>
          </a:solidFill>
          <a:ln w="12700">
            <a:solidFill>
              <a:srgbClr val="1A73E8"/>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4434840" y="2468880"/>
            <a:ext cx="1737360" cy="621792"/>
          </a:xfrm>
          <a:prstGeom prst="rect">
            <a:avLst/>
          </a:prstGeom>
          <a:noFill/>
          <a:ln/>
        </p:spPr>
        <p:txBody>
          <a:bodyPr wrap="square" lIns="0" tIns="0" rIns="0" bIns="0" rtlCol="0" anchor="ctr"/>
          <a:lstStyle/>
          <a:p>
            <a:pPr algn="ctr" indent="0" marL="0">
              <a:buNone/>
            </a:pPr>
            <a:r>
              <a:rPr lang="en-US" sz="1100" b="1" dirty="0">
                <a:solidFill>
                  <a:srgbClr val="FFFFFF"/>
                </a:solidFill>
              </a:rPr>
              <a:t>Gemini API</a:t>
            </a:r>
            <a:endParaRPr lang="en-US" sz="1100" dirty="0"/>
          </a:p>
        </p:txBody>
      </p:sp>
      <p:sp>
        <p:nvSpPr>
          <p:cNvPr id="17" name="Shape 15"/>
          <p:cNvSpPr/>
          <p:nvPr/>
        </p:nvSpPr>
        <p:spPr>
          <a:xfrm>
            <a:off x="7360920" y="1984248"/>
            <a:ext cx="45720" cy="475488"/>
          </a:xfrm>
          <a:prstGeom prst="rect">
            <a:avLst/>
          </a:prstGeom>
          <a:solidFill>
            <a:srgbClr val="546E7A"/>
          </a:solidFill>
          <a:ln w="12700">
            <a:solidFill>
              <a:srgbClr val="546E7A"/>
            </a:solidFill>
            <a:prstDash val="solid"/>
          </a:ln>
        </p:spPr>
      </p:sp>
      <p:sp>
        <p:nvSpPr>
          <p:cNvPr id="18" name="Shape 16"/>
          <p:cNvSpPr/>
          <p:nvPr/>
        </p:nvSpPr>
        <p:spPr>
          <a:xfrm>
            <a:off x="6537960" y="2468880"/>
            <a:ext cx="1737360" cy="621792"/>
          </a:xfrm>
          <a:prstGeom prst="rect">
            <a:avLst/>
          </a:prstGeom>
          <a:solidFill>
            <a:srgbClr val="E8562B"/>
          </a:solidFill>
          <a:ln w="12700">
            <a:solidFill>
              <a:srgbClr val="E8562B"/>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6537960" y="2468880"/>
            <a:ext cx="1737360" cy="621792"/>
          </a:xfrm>
          <a:prstGeom prst="rect">
            <a:avLst/>
          </a:prstGeom>
          <a:noFill/>
          <a:ln/>
        </p:spPr>
        <p:txBody>
          <a:bodyPr wrap="square" lIns="0" tIns="0" rIns="0" bIns="0" rtlCol="0" anchor="ctr"/>
          <a:lstStyle/>
          <a:p>
            <a:pPr algn="ctr" indent="0" marL="0">
              <a:buNone/>
            </a:pPr>
            <a:r>
              <a:rPr lang="en-US" sz="1100" b="1" dirty="0">
                <a:solidFill>
                  <a:srgbClr val="FFFFFF"/>
                </a:solidFill>
              </a:rPr>
              <a:t>Cohere API</a:t>
            </a:r>
            <a:endParaRPr lang="en-US" sz="1100" dirty="0"/>
          </a:p>
        </p:txBody>
      </p:sp>
      <p:sp>
        <p:nvSpPr>
          <p:cNvPr id="20" name="Shape 18"/>
          <p:cNvSpPr/>
          <p:nvPr/>
        </p:nvSpPr>
        <p:spPr>
          <a:xfrm>
            <a:off x="4462272" y="3090672"/>
            <a:ext cx="45720" cy="365760"/>
          </a:xfrm>
          <a:prstGeom prst="rect">
            <a:avLst/>
          </a:prstGeom>
          <a:solidFill>
            <a:srgbClr val="546E7A"/>
          </a:solidFill>
          <a:ln w="12700">
            <a:solidFill>
              <a:srgbClr val="546E7A"/>
            </a:solidFill>
            <a:prstDash val="solid"/>
          </a:ln>
        </p:spPr>
      </p:sp>
      <p:sp>
        <p:nvSpPr>
          <p:cNvPr id="21" name="Text 19"/>
          <p:cNvSpPr/>
          <p:nvPr/>
        </p:nvSpPr>
        <p:spPr>
          <a:xfrm>
            <a:off x="3200400" y="3017520"/>
            <a:ext cx="2743200" cy="292608"/>
          </a:xfrm>
          <a:prstGeom prst="rect">
            <a:avLst/>
          </a:prstGeom>
          <a:noFill/>
          <a:ln/>
        </p:spPr>
        <p:txBody>
          <a:bodyPr wrap="square" rtlCol="0" anchor="ctr"/>
          <a:lstStyle/>
          <a:p>
            <a:pPr algn="ctr" indent="0" marL="0">
              <a:buNone/>
            </a:pPr>
            <a:r>
              <a:rPr lang="en-US" sz="1000" dirty="0">
                <a:solidFill>
                  <a:srgbClr val="546E7A"/>
                </a:solidFill>
              </a:rPr>
              <a:t>↓  Responses</a:t>
            </a:r>
            <a:endParaRPr lang="en-US" sz="1000" dirty="0"/>
          </a:p>
        </p:txBody>
      </p:sp>
      <p:sp>
        <p:nvSpPr>
          <p:cNvPr id="22" name="Shape 20"/>
          <p:cNvSpPr/>
          <p:nvPr/>
        </p:nvSpPr>
        <p:spPr>
          <a:xfrm>
            <a:off x="274320" y="3429000"/>
            <a:ext cx="2560320" cy="640080"/>
          </a:xfrm>
          <a:prstGeom prst="rect">
            <a:avLst/>
          </a:prstGeom>
          <a:solidFill>
            <a:srgbClr val="0096C7"/>
          </a:solidFill>
          <a:ln w="12700">
            <a:solidFill>
              <a:srgbClr val="0096C7"/>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274320" y="3429000"/>
            <a:ext cx="2560320" cy="640080"/>
          </a:xfrm>
          <a:prstGeom prst="rect">
            <a:avLst/>
          </a:prstGeom>
          <a:noFill/>
          <a:ln/>
        </p:spPr>
        <p:txBody>
          <a:bodyPr wrap="square" lIns="0" tIns="0" rIns="0" bIns="0" rtlCol="0" anchor="ctr"/>
          <a:lstStyle/>
          <a:p>
            <a:pPr algn="ctr" indent="0" marL="0">
              <a:buNone/>
            </a:pPr>
            <a:r>
              <a:rPr lang="en-US" sz="1200" b="1" dirty="0">
                <a:solidFill>
                  <a:srgbClr val="FFFFFF"/>
                </a:solidFill>
              </a:rPr>
              <a:t>Response</a:t>
            </a:r>
            <a:endParaRPr lang="en-US" sz="1200" dirty="0"/>
          </a:p>
          <a:p>
            <a:pPr algn="ctr" indent="0" marL="0">
              <a:buNone/>
            </a:pPr>
            <a:r>
              <a:rPr lang="en-US" sz="1200" b="1" dirty="0">
                <a:solidFill>
                  <a:srgbClr val="FFFFFF"/>
                </a:solidFill>
              </a:rPr>
              <a:t>Parser</a:t>
            </a:r>
            <a:endParaRPr lang="en-US" sz="1200" dirty="0"/>
          </a:p>
        </p:txBody>
      </p:sp>
      <p:sp>
        <p:nvSpPr>
          <p:cNvPr id="24" name="Shape 22"/>
          <p:cNvSpPr/>
          <p:nvPr/>
        </p:nvSpPr>
        <p:spPr>
          <a:xfrm>
            <a:off x="2990088" y="3611880"/>
            <a:ext cx="256032" cy="54864"/>
          </a:xfrm>
          <a:prstGeom prst="rect">
            <a:avLst/>
          </a:prstGeom>
          <a:solidFill>
            <a:srgbClr val="546E7A"/>
          </a:solidFill>
          <a:ln w="12700">
            <a:solidFill>
              <a:srgbClr val="546E7A"/>
            </a:solidFill>
            <a:prstDash val="solid"/>
          </a:ln>
        </p:spPr>
      </p:sp>
      <p:sp>
        <p:nvSpPr>
          <p:cNvPr id="25" name="Shape 23"/>
          <p:cNvSpPr/>
          <p:nvPr/>
        </p:nvSpPr>
        <p:spPr>
          <a:xfrm>
            <a:off x="3246120" y="3429000"/>
            <a:ext cx="2560320" cy="640080"/>
          </a:xfrm>
          <a:prstGeom prst="rect">
            <a:avLst/>
          </a:prstGeom>
          <a:solidFill>
            <a:srgbClr val="1565C0"/>
          </a:solidFill>
          <a:ln w="12700">
            <a:solidFill>
              <a:srgbClr val="1565C0"/>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3246120" y="3429000"/>
            <a:ext cx="2560320" cy="640080"/>
          </a:xfrm>
          <a:prstGeom prst="rect">
            <a:avLst/>
          </a:prstGeom>
          <a:noFill/>
          <a:ln/>
        </p:spPr>
        <p:txBody>
          <a:bodyPr wrap="square" lIns="0" tIns="0" rIns="0" bIns="0" rtlCol="0" anchor="ctr"/>
          <a:lstStyle/>
          <a:p>
            <a:pPr algn="ctr" indent="0" marL="0">
              <a:buNone/>
            </a:pPr>
            <a:r>
              <a:rPr lang="en-US" sz="1200" b="1" dirty="0">
                <a:solidFill>
                  <a:srgbClr val="FFFFFF"/>
                </a:solidFill>
              </a:rPr>
              <a:t>Comparison</a:t>
            </a:r>
            <a:endParaRPr lang="en-US" sz="1200" dirty="0"/>
          </a:p>
          <a:p>
            <a:pPr algn="ctr" indent="0" marL="0">
              <a:buNone/>
            </a:pPr>
            <a:r>
              <a:rPr lang="en-US" sz="1200" b="1" dirty="0">
                <a:solidFill>
                  <a:srgbClr val="FFFFFF"/>
                </a:solidFill>
              </a:rPr>
              <a:t>Engine</a:t>
            </a:r>
            <a:endParaRPr lang="en-US" sz="1200" dirty="0"/>
          </a:p>
        </p:txBody>
      </p:sp>
      <p:sp>
        <p:nvSpPr>
          <p:cNvPr id="27" name="Shape 25"/>
          <p:cNvSpPr/>
          <p:nvPr/>
        </p:nvSpPr>
        <p:spPr>
          <a:xfrm>
            <a:off x="5961888" y="3611880"/>
            <a:ext cx="256032" cy="54864"/>
          </a:xfrm>
          <a:prstGeom prst="rect">
            <a:avLst/>
          </a:prstGeom>
          <a:solidFill>
            <a:srgbClr val="546E7A"/>
          </a:solidFill>
          <a:ln w="12700">
            <a:solidFill>
              <a:srgbClr val="546E7A"/>
            </a:solidFill>
            <a:prstDash val="solid"/>
          </a:ln>
        </p:spPr>
      </p:sp>
      <p:sp>
        <p:nvSpPr>
          <p:cNvPr id="28" name="Shape 26"/>
          <p:cNvSpPr/>
          <p:nvPr/>
        </p:nvSpPr>
        <p:spPr>
          <a:xfrm>
            <a:off x="6217920" y="3429000"/>
            <a:ext cx="2560320" cy="640080"/>
          </a:xfrm>
          <a:prstGeom prst="rect">
            <a:avLst/>
          </a:prstGeom>
          <a:solidFill>
            <a:srgbClr val="7B1FA2"/>
          </a:solidFill>
          <a:ln w="12700">
            <a:solidFill>
              <a:srgbClr val="7B1FA2"/>
            </a:solidFill>
            <a:prstDash val="solid"/>
          </a:ln>
          <a:effectLst>
            <a:outerShdw sx="100000" sy="100000" kx="0" ky="0" algn="bl" rotWithShape="0" blurRad="101600" dist="38100" dir="8100000">
              <a:srgbClr val="000000">
                <a:alpha val="18000"/>
              </a:srgbClr>
            </a:outerShdw>
          </a:effectLst>
        </p:spPr>
      </p:sp>
      <p:sp>
        <p:nvSpPr>
          <p:cNvPr id="29" name="Text 27"/>
          <p:cNvSpPr/>
          <p:nvPr/>
        </p:nvSpPr>
        <p:spPr>
          <a:xfrm>
            <a:off x="6217920" y="3429000"/>
            <a:ext cx="2560320" cy="640080"/>
          </a:xfrm>
          <a:prstGeom prst="rect">
            <a:avLst/>
          </a:prstGeom>
          <a:noFill/>
          <a:ln/>
        </p:spPr>
        <p:txBody>
          <a:bodyPr wrap="square" lIns="0" tIns="0" rIns="0" bIns="0" rtlCol="0" anchor="ctr"/>
          <a:lstStyle/>
          <a:p>
            <a:pPr algn="ctr" indent="0" marL="0">
              <a:buNone/>
            </a:pPr>
            <a:r>
              <a:rPr lang="en-US" sz="1200" b="1" dirty="0">
                <a:solidFill>
                  <a:srgbClr val="FFFFFF"/>
                </a:solidFill>
              </a:rPr>
              <a:t>Insight</a:t>
            </a:r>
            <a:endParaRPr lang="en-US" sz="1200" dirty="0"/>
          </a:p>
          <a:p>
            <a:pPr algn="ctr" indent="0" marL="0">
              <a:buNone/>
            </a:pPr>
            <a:r>
              <a:rPr lang="en-US" sz="1200" b="1" dirty="0">
                <a:solidFill>
                  <a:srgbClr val="FFFFFF"/>
                </a:solidFill>
              </a:rPr>
              <a:t>Generator</a:t>
            </a:r>
            <a:endParaRPr lang="en-US" sz="1200" dirty="0"/>
          </a:p>
        </p:txBody>
      </p:sp>
      <p:sp>
        <p:nvSpPr>
          <p:cNvPr id="30" name="Shape 28"/>
          <p:cNvSpPr/>
          <p:nvPr/>
        </p:nvSpPr>
        <p:spPr>
          <a:xfrm>
            <a:off x="4462272" y="4069080"/>
            <a:ext cx="45720" cy="274320"/>
          </a:xfrm>
          <a:prstGeom prst="rect">
            <a:avLst/>
          </a:prstGeom>
          <a:solidFill>
            <a:srgbClr val="546E7A"/>
          </a:solidFill>
          <a:ln w="12700">
            <a:solidFill>
              <a:srgbClr val="546E7A"/>
            </a:solidFill>
            <a:prstDash val="solid"/>
          </a:ln>
        </p:spPr>
      </p:sp>
      <p:sp>
        <p:nvSpPr>
          <p:cNvPr id="31" name="Shape 29"/>
          <p:cNvSpPr/>
          <p:nvPr/>
        </p:nvSpPr>
        <p:spPr>
          <a:xfrm>
            <a:off x="3017520" y="4343400"/>
            <a:ext cx="3108960" cy="502920"/>
          </a:xfrm>
          <a:prstGeom prst="rect">
            <a:avLst/>
          </a:prstGeom>
          <a:solidFill>
            <a:srgbClr val="FFD600"/>
          </a:solidFill>
          <a:ln w="12700">
            <a:solidFill>
              <a:srgbClr val="FFD600"/>
            </a:solidFill>
            <a:prstDash val="solid"/>
          </a:ln>
          <a:effectLst>
            <a:outerShdw sx="100000" sy="100000" kx="0" ky="0" algn="bl" rotWithShape="0" blurRad="101600" dist="38100" dir="8100000">
              <a:srgbClr val="000000">
                <a:alpha val="18000"/>
              </a:srgbClr>
            </a:outerShdw>
          </a:effectLst>
        </p:spPr>
      </p:sp>
      <p:sp>
        <p:nvSpPr>
          <p:cNvPr id="32" name="Text 30"/>
          <p:cNvSpPr/>
          <p:nvPr/>
        </p:nvSpPr>
        <p:spPr>
          <a:xfrm>
            <a:off x="3017520" y="4343400"/>
            <a:ext cx="3108960" cy="502920"/>
          </a:xfrm>
          <a:prstGeom prst="rect">
            <a:avLst/>
          </a:prstGeom>
          <a:noFill/>
          <a:ln/>
        </p:spPr>
        <p:txBody>
          <a:bodyPr wrap="square" lIns="0" tIns="0" rIns="0" bIns="0" rtlCol="0" anchor="ctr"/>
          <a:lstStyle/>
          <a:p>
            <a:pPr algn="ctr" indent="0" marL="0">
              <a:buNone/>
            </a:pPr>
            <a:r>
              <a:rPr lang="en-US" sz="1200" b="1" dirty="0">
                <a:solidFill>
                  <a:srgbClr val="0D1B2A"/>
                </a:solidFill>
              </a:rPr>
              <a:t>📊  Actionable Insights Report</a:t>
            </a:r>
            <a:endParaRPr lang="en-US" sz="1200" dirty="0"/>
          </a:p>
        </p:txBody>
      </p:sp>
      <p:sp>
        <p:nvSpPr>
          <p:cNvPr id="33" name="Shape 31"/>
          <p:cNvSpPr/>
          <p:nvPr/>
        </p:nvSpPr>
        <p:spPr>
          <a:xfrm>
            <a:off x="0" y="4983480"/>
            <a:ext cx="9144000" cy="160020"/>
          </a:xfrm>
          <a:prstGeom prst="rect">
            <a:avLst/>
          </a:prstGeom>
          <a:solidFill>
            <a:srgbClr val="0D1B2A"/>
          </a:solidFill>
          <a:ln w="12700">
            <a:solidFill>
              <a:srgbClr val="0D1B2A"/>
            </a:solidFill>
            <a:prstDash val="solid"/>
          </a:ln>
        </p:spPr>
      </p:sp>
      <p:sp>
        <p:nvSpPr>
          <p:cNvPr id="34" name="Text 32"/>
          <p:cNvSpPr/>
          <p:nvPr/>
        </p:nvSpPr>
        <p:spPr>
          <a:xfrm>
            <a:off x="274320" y="4983480"/>
            <a:ext cx="8595360" cy="160020"/>
          </a:xfrm>
          <a:prstGeom prst="rect">
            <a:avLst/>
          </a:prstGeom>
          <a:noFill/>
          <a:ln/>
        </p:spPr>
        <p:txBody>
          <a:bodyPr wrap="square" rtlCol="0" anchor="ctr"/>
          <a:lstStyle/>
          <a:p>
            <a:pPr indent="0" marL="0">
              <a:buNone/>
            </a:pPr>
            <a:r>
              <a:rPr lang="en-US" sz="900" dirty="0">
                <a:solidFill>
                  <a:srgbClr val="00B4D8"/>
                </a:solidFill>
              </a:rPr>
              <a:t>Ex.No.6 — Python Code with Multiple AI Tools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Shape 1"/>
          <p:cNvSpPr/>
          <p:nvPr/>
        </p:nvSpPr>
        <p:spPr>
          <a:xfrm>
            <a:off x="0" y="1005840"/>
            <a:ext cx="9144000" cy="54864"/>
          </a:xfrm>
          <a:prstGeom prst="rect">
            <a:avLst/>
          </a:prstGeom>
          <a:solidFill>
            <a:srgbClr val="FF6D00"/>
          </a:solidFill>
          <a:ln w="12700">
            <a:solidFill>
              <a:srgbClr val="FF6D00"/>
            </a:solidFill>
            <a:prstDash val="solid"/>
          </a:ln>
        </p:spPr>
      </p:sp>
      <p:sp>
        <p:nvSpPr>
          <p:cNvPr id="4" name="Text 2"/>
          <p:cNvSpPr/>
          <p:nvPr/>
        </p:nvSpPr>
        <p:spPr>
          <a:xfrm>
            <a:off x="365760" y="0"/>
            <a:ext cx="8412480" cy="10058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PYTHON CODE — Part 1: Setup &amp; API Calls</a:t>
            </a:r>
            <a:endParaRPr lang="en-US" sz="2400" dirty="0"/>
          </a:p>
        </p:txBody>
      </p:sp>
      <p:sp>
        <p:nvSpPr>
          <p:cNvPr id="5" name="Text 3"/>
          <p:cNvSpPr/>
          <p:nvPr/>
        </p:nvSpPr>
        <p:spPr>
          <a:xfrm>
            <a:off x="8046720" y="0"/>
            <a:ext cx="914400" cy="1005840"/>
          </a:xfrm>
          <a:prstGeom prst="rect">
            <a:avLst/>
          </a:prstGeom>
          <a:noFill/>
          <a:ln/>
        </p:spPr>
        <p:txBody>
          <a:bodyPr wrap="square" rtlCol="0" anchor="ctr"/>
          <a:lstStyle/>
          <a:p>
            <a:pPr algn="r" indent="0" marL="0">
              <a:buNone/>
            </a:pPr>
            <a:r>
              <a:rPr lang="en-US" sz="1000" dirty="0">
                <a:solidFill>
                  <a:srgbClr val="00B4D8"/>
                </a:solidFill>
              </a:rPr>
              <a:t>Slide 04</a:t>
            </a:r>
            <a:endParaRPr lang="en-US" sz="1000" dirty="0"/>
          </a:p>
        </p:txBody>
      </p:sp>
      <p:sp>
        <p:nvSpPr>
          <p:cNvPr id="6" name="Shape 4"/>
          <p:cNvSpPr/>
          <p:nvPr/>
        </p:nvSpPr>
        <p:spPr>
          <a:xfrm>
            <a:off x="274320" y="1170432"/>
            <a:ext cx="8595360" cy="3657600"/>
          </a:xfrm>
          <a:prstGeom prst="rect">
            <a:avLst/>
          </a:prstGeom>
          <a:solidFill>
            <a:srgbClr val="1E2A3A"/>
          </a:solidFill>
          <a:ln w="12700">
            <a:solidFill>
              <a:srgbClr val="334155"/>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1170432"/>
            <a:ext cx="1828800" cy="292608"/>
          </a:xfrm>
          <a:prstGeom prst="rect">
            <a:avLst/>
          </a:prstGeom>
          <a:solidFill>
            <a:srgbClr val="334155"/>
          </a:solidFill>
          <a:ln w="12700">
            <a:solidFill>
              <a:srgbClr val="334155"/>
            </a:solidFill>
            <a:prstDash val="solid"/>
          </a:ln>
        </p:spPr>
      </p:sp>
      <p:sp>
        <p:nvSpPr>
          <p:cNvPr id="8" name="Text 6"/>
          <p:cNvSpPr/>
          <p:nvPr/>
        </p:nvSpPr>
        <p:spPr>
          <a:xfrm>
            <a:off x="320040" y="1170432"/>
            <a:ext cx="1737360" cy="292608"/>
          </a:xfrm>
          <a:prstGeom prst="rect">
            <a:avLst/>
          </a:prstGeom>
          <a:noFill/>
          <a:ln/>
        </p:spPr>
        <p:txBody>
          <a:bodyPr wrap="square" rtlCol="0" anchor="ctr"/>
          <a:lstStyle/>
          <a:p>
            <a:pPr indent="0" marL="0">
              <a:buNone/>
            </a:pPr>
            <a:r>
              <a:rPr lang="en-US" sz="900" dirty="0">
                <a:solidFill>
                  <a:srgbClr val="00B4D8"/>
                </a:solidFill>
                <a:latin typeface="Consolas" pitchFamily="34" charset="0"/>
                <a:ea typeface="Consolas" pitchFamily="34" charset="-122"/>
                <a:cs typeface="Consolas" pitchFamily="34" charset="-120"/>
              </a:rPr>
              <a:t>multi_ai_tools.py</a:t>
            </a:r>
            <a:endParaRPr lang="en-US" sz="900" dirty="0"/>
          </a:p>
        </p:txBody>
      </p:sp>
      <p:sp>
        <p:nvSpPr>
          <p:cNvPr id="9" name="Text 7"/>
          <p:cNvSpPr/>
          <p:nvPr/>
        </p:nvSpPr>
        <p:spPr>
          <a:xfrm>
            <a:off x="384048" y="1508760"/>
            <a:ext cx="8321040" cy="164592"/>
          </a:xfrm>
          <a:prstGeom prst="rect">
            <a:avLst/>
          </a:prstGeom>
          <a:noFill/>
          <a:ln/>
        </p:spPr>
        <p:txBody>
          <a:bodyPr wrap="square" lIns="0" tIns="0" rIns="0" bIns="0" rtlCol="0" anchor="ctr"/>
          <a:lstStyle/>
          <a:p>
            <a:pPr indent="0" marL="0">
              <a:buNone/>
            </a:pPr>
            <a:r>
              <a:rPr lang="en-US" sz="780" dirty="0">
                <a:solidFill>
                  <a:srgbClr val="6A9955"/>
                </a:solidFill>
                <a:latin typeface="Consolas" pitchFamily="34" charset="0"/>
                <a:ea typeface="Consolas" pitchFamily="34" charset="-122"/>
                <a:cs typeface="Consolas" pitchFamily="34" charset="-120"/>
              </a:rPr>
              <a:t># ─── Installation: pip install openai anthropic google-generativeai cohere ───</a:t>
            </a:r>
            <a:endParaRPr lang="en-US" sz="780" dirty="0"/>
          </a:p>
        </p:txBody>
      </p:sp>
      <p:sp>
        <p:nvSpPr>
          <p:cNvPr id="10" name="Text 8"/>
          <p:cNvSpPr/>
          <p:nvPr/>
        </p:nvSpPr>
        <p:spPr>
          <a:xfrm>
            <a:off x="384048" y="1659636"/>
            <a:ext cx="8321040" cy="164592"/>
          </a:xfrm>
          <a:prstGeom prst="rect">
            <a:avLst/>
          </a:prstGeom>
          <a:noFill/>
          <a:ln/>
        </p:spPr>
        <p:txBody>
          <a:bodyPr wrap="square" lIns="0" tIns="0" rIns="0" bIns="0" rtlCol="0" anchor="ctr"/>
          <a:lstStyle/>
          <a:p>
            <a:pPr indent="0" marL="0">
              <a:buNone/>
            </a:pPr>
            <a:r>
              <a:rPr lang="en-US" sz="780" dirty="0">
                <a:solidFill>
                  <a:srgbClr val="9CDCFE"/>
                </a:solidFill>
                <a:latin typeface="Consolas" pitchFamily="34" charset="0"/>
                <a:ea typeface="Consolas" pitchFamily="34" charset="-122"/>
                <a:cs typeface="Consolas" pitchFamily="34" charset="-120"/>
              </a:rPr>
              <a:t>import openai, anthropic, google.generativeai as genai, cohere</a:t>
            </a:r>
            <a:endParaRPr lang="en-US" sz="780" dirty="0"/>
          </a:p>
        </p:txBody>
      </p:sp>
      <p:sp>
        <p:nvSpPr>
          <p:cNvPr id="11" name="Text 9"/>
          <p:cNvSpPr/>
          <p:nvPr/>
        </p:nvSpPr>
        <p:spPr>
          <a:xfrm>
            <a:off x="384048" y="1810512"/>
            <a:ext cx="8321040" cy="164592"/>
          </a:xfrm>
          <a:prstGeom prst="rect">
            <a:avLst/>
          </a:prstGeom>
          <a:noFill/>
          <a:ln/>
        </p:spPr>
        <p:txBody>
          <a:bodyPr wrap="square" lIns="0" tIns="0" rIns="0" bIns="0" rtlCol="0" anchor="ctr"/>
          <a:lstStyle/>
          <a:p>
            <a:pPr indent="0" marL="0">
              <a:buNone/>
            </a:pPr>
            <a:r>
              <a:rPr lang="en-US" sz="780" dirty="0">
                <a:solidFill>
                  <a:srgbClr val="9CDCFE"/>
                </a:solidFill>
                <a:latin typeface="Consolas" pitchFamily="34" charset="0"/>
                <a:ea typeface="Consolas" pitchFamily="34" charset="-122"/>
                <a:cs typeface="Consolas" pitchFamily="34" charset="-120"/>
              </a:rPr>
              <a:t>import time, json</a:t>
            </a:r>
            <a:endParaRPr lang="en-US" sz="780" dirty="0"/>
          </a:p>
        </p:txBody>
      </p:sp>
      <p:sp>
        <p:nvSpPr>
          <p:cNvPr id="12" name="Text 10"/>
          <p:cNvSpPr/>
          <p:nvPr/>
        </p:nvSpPr>
        <p:spPr>
          <a:xfrm>
            <a:off x="384048" y="2112264"/>
            <a:ext cx="8321040" cy="164592"/>
          </a:xfrm>
          <a:prstGeom prst="rect">
            <a:avLst/>
          </a:prstGeom>
          <a:noFill/>
          <a:ln/>
        </p:spPr>
        <p:txBody>
          <a:bodyPr wrap="square" lIns="0" tIns="0" rIns="0" bIns="0" rtlCol="0" anchor="ctr"/>
          <a:lstStyle/>
          <a:p>
            <a:pPr indent="0" marL="0">
              <a:buNone/>
            </a:pPr>
            <a:r>
              <a:rPr lang="en-US" sz="780" dirty="0">
                <a:solidFill>
                  <a:srgbClr val="6A9955"/>
                </a:solidFill>
                <a:latin typeface="Consolas" pitchFamily="34" charset="0"/>
                <a:ea typeface="Consolas" pitchFamily="34" charset="-122"/>
                <a:cs typeface="Consolas" pitchFamily="34" charset="-120"/>
              </a:rPr>
              <a:t># ─── API Keys (use environment variables in production) ─────────────────────</a:t>
            </a:r>
            <a:endParaRPr lang="en-US" sz="780" dirty="0"/>
          </a:p>
        </p:txBody>
      </p:sp>
      <p:sp>
        <p:nvSpPr>
          <p:cNvPr id="13" name="Text 11"/>
          <p:cNvSpPr/>
          <p:nvPr/>
        </p:nvSpPr>
        <p:spPr>
          <a:xfrm>
            <a:off x="384048" y="2263140"/>
            <a:ext cx="8321040" cy="164592"/>
          </a:xfrm>
          <a:prstGeom prst="rect">
            <a:avLst/>
          </a:prstGeom>
          <a:noFill/>
          <a:ln/>
        </p:spPr>
        <p:txBody>
          <a:bodyPr wrap="square" lIns="0" tIns="0" rIns="0" bIns="0" rtlCol="0" anchor="ctr"/>
          <a:lstStyle/>
          <a:p>
            <a:pPr indent="0" marL="0">
              <a:buNone/>
            </a:pPr>
            <a:r>
              <a:rPr lang="en-US" sz="780" dirty="0">
                <a:solidFill>
                  <a:srgbClr val="CE9178"/>
                </a:solidFill>
                <a:latin typeface="Consolas" pitchFamily="34" charset="0"/>
                <a:ea typeface="Consolas" pitchFamily="34" charset="-122"/>
                <a:cs typeface="Consolas" pitchFamily="34" charset="-120"/>
              </a:rPr>
              <a:t>OPENAI_KEY   = 'sk-...'     # OpenAI GPT-4</a:t>
            </a:r>
            <a:endParaRPr lang="en-US" sz="780" dirty="0"/>
          </a:p>
        </p:txBody>
      </p:sp>
      <p:sp>
        <p:nvSpPr>
          <p:cNvPr id="14" name="Text 12"/>
          <p:cNvSpPr/>
          <p:nvPr/>
        </p:nvSpPr>
        <p:spPr>
          <a:xfrm>
            <a:off x="384048" y="2414016"/>
            <a:ext cx="8321040" cy="164592"/>
          </a:xfrm>
          <a:prstGeom prst="rect">
            <a:avLst/>
          </a:prstGeom>
          <a:noFill/>
          <a:ln/>
        </p:spPr>
        <p:txBody>
          <a:bodyPr wrap="square" lIns="0" tIns="0" rIns="0" bIns="0" rtlCol="0" anchor="ctr"/>
          <a:lstStyle/>
          <a:p>
            <a:pPr indent="0" marL="0">
              <a:buNone/>
            </a:pPr>
            <a:r>
              <a:rPr lang="en-US" sz="780" dirty="0">
                <a:solidFill>
                  <a:srgbClr val="CE9178"/>
                </a:solidFill>
                <a:latin typeface="Consolas" pitchFamily="34" charset="0"/>
                <a:ea typeface="Consolas" pitchFamily="34" charset="-122"/>
                <a:cs typeface="Consolas" pitchFamily="34" charset="-120"/>
              </a:rPr>
              <a:t>CLAUDE_KEY   = 'sk-ant-...' # Anthropic Claude</a:t>
            </a:r>
            <a:endParaRPr lang="en-US" sz="780" dirty="0"/>
          </a:p>
        </p:txBody>
      </p:sp>
      <p:sp>
        <p:nvSpPr>
          <p:cNvPr id="15" name="Text 13"/>
          <p:cNvSpPr/>
          <p:nvPr/>
        </p:nvSpPr>
        <p:spPr>
          <a:xfrm>
            <a:off x="384048" y="2564892"/>
            <a:ext cx="8321040" cy="164592"/>
          </a:xfrm>
          <a:prstGeom prst="rect">
            <a:avLst/>
          </a:prstGeom>
          <a:noFill/>
          <a:ln/>
        </p:spPr>
        <p:txBody>
          <a:bodyPr wrap="square" lIns="0" tIns="0" rIns="0" bIns="0" rtlCol="0" anchor="ctr"/>
          <a:lstStyle/>
          <a:p>
            <a:pPr indent="0" marL="0">
              <a:buNone/>
            </a:pPr>
            <a:r>
              <a:rPr lang="en-US" sz="780" dirty="0">
                <a:solidFill>
                  <a:srgbClr val="CE9178"/>
                </a:solidFill>
                <a:latin typeface="Consolas" pitchFamily="34" charset="0"/>
                <a:ea typeface="Consolas" pitchFamily="34" charset="-122"/>
                <a:cs typeface="Consolas" pitchFamily="34" charset="-120"/>
              </a:rPr>
              <a:t>GEMINI_KEY   = 'AIza...'    # Google Gemini</a:t>
            </a:r>
            <a:endParaRPr lang="en-US" sz="780" dirty="0"/>
          </a:p>
        </p:txBody>
      </p:sp>
      <p:sp>
        <p:nvSpPr>
          <p:cNvPr id="16" name="Text 14"/>
          <p:cNvSpPr/>
          <p:nvPr/>
        </p:nvSpPr>
        <p:spPr>
          <a:xfrm>
            <a:off x="384048" y="2715768"/>
            <a:ext cx="8321040" cy="164592"/>
          </a:xfrm>
          <a:prstGeom prst="rect">
            <a:avLst/>
          </a:prstGeom>
          <a:noFill/>
          <a:ln/>
        </p:spPr>
        <p:txBody>
          <a:bodyPr wrap="square" lIns="0" tIns="0" rIns="0" bIns="0" rtlCol="0" anchor="ctr"/>
          <a:lstStyle/>
          <a:p>
            <a:pPr indent="0" marL="0">
              <a:buNone/>
            </a:pPr>
            <a:r>
              <a:rPr lang="en-US" sz="780" dirty="0">
                <a:solidFill>
                  <a:srgbClr val="CE9178"/>
                </a:solidFill>
                <a:latin typeface="Consolas" pitchFamily="34" charset="0"/>
                <a:ea typeface="Consolas" pitchFamily="34" charset="-122"/>
                <a:cs typeface="Consolas" pitchFamily="34" charset="-120"/>
              </a:rPr>
              <a:t>COHERE_KEY   = 'xxx...'     # Cohere Command</a:t>
            </a:r>
            <a:endParaRPr lang="en-US" sz="780" dirty="0"/>
          </a:p>
        </p:txBody>
      </p:sp>
      <p:sp>
        <p:nvSpPr>
          <p:cNvPr id="17" name="Text 15"/>
          <p:cNvSpPr/>
          <p:nvPr/>
        </p:nvSpPr>
        <p:spPr>
          <a:xfrm>
            <a:off x="384048" y="3017520"/>
            <a:ext cx="8321040" cy="164592"/>
          </a:xfrm>
          <a:prstGeom prst="rect">
            <a:avLst/>
          </a:prstGeom>
          <a:noFill/>
          <a:ln/>
        </p:spPr>
        <p:txBody>
          <a:bodyPr wrap="square" lIns="0" tIns="0" rIns="0" bIns="0" rtlCol="0" anchor="ctr"/>
          <a:lstStyle/>
          <a:p>
            <a:pPr indent="0" marL="0">
              <a:buNone/>
            </a:pPr>
            <a:r>
              <a:rPr lang="en-US" sz="780" dirty="0">
                <a:solidFill>
                  <a:srgbClr val="DCDCAA"/>
                </a:solidFill>
                <a:latin typeface="Consolas" pitchFamily="34" charset="0"/>
                <a:ea typeface="Consolas" pitchFamily="34" charset="-122"/>
                <a:cs typeface="Consolas" pitchFamily="34" charset="-120"/>
              </a:rPr>
              <a:t>def query_openai(prompt):</a:t>
            </a:r>
            <a:endParaRPr lang="en-US" sz="780" dirty="0"/>
          </a:p>
        </p:txBody>
      </p:sp>
      <p:sp>
        <p:nvSpPr>
          <p:cNvPr id="18" name="Text 16"/>
          <p:cNvSpPr/>
          <p:nvPr/>
        </p:nvSpPr>
        <p:spPr>
          <a:xfrm>
            <a:off x="384048" y="3168396"/>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client = openai.OpenAI(api_key=OPENAI_KEY)</a:t>
            </a:r>
            <a:endParaRPr lang="en-US" sz="780" dirty="0"/>
          </a:p>
        </p:txBody>
      </p:sp>
      <p:sp>
        <p:nvSpPr>
          <p:cNvPr id="19" name="Text 17"/>
          <p:cNvSpPr/>
          <p:nvPr/>
        </p:nvSpPr>
        <p:spPr>
          <a:xfrm>
            <a:off x="384048" y="3319272"/>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res = client.chat.completions.create(</a:t>
            </a:r>
            <a:endParaRPr lang="en-US" sz="780" dirty="0"/>
          </a:p>
        </p:txBody>
      </p:sp>
      <p:sp>
        <p:nvSpPr>
          <p:cNvPr id="20" name="Text 18"/>
          <p:cNvSpPr/>
          <p:nvPr/>
        </p:nvSpPr>
        <p:spPr>
          <a:xfrm>
            <a:off x="384048" y="3470148"/>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model='gpt-4', messages=[{'role':'user','content':prompt}])</a:t>
            </a:r>
            <a:endParaRPr lang="en-US" sz="780" dirty="0"/>
          </a:p>
        </p:txBody>
      </p:sp>
      <p:sp>
        <p:nvSpPr>
          <p:cNvPr id="21" name="Text 19"/>
          <p:cNvSpPr/>
          <p:nvPr/>
        </p:nvSpPr>
        <p:spPr>
          <a:xfrm>
            <a:off x="384048" y="3621024"/>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return res.choices[0].message.content</a:t>
            </a:r>
            <a:endParaRPr lang="en-US" sz="780" dirty="0"/>
          </a:p>
        </p:txBody>
      </p:sp>
      <p:sp>
        <p:nvSpPr>
          <p:cNvPr id="22" name="Text 20"/>
          <p:cNvSpPr/>
          <p:nvPr/>
        </p:nvSpPr>
        <p:spPr>
          <a:xfrm>
            <a:off x="384048" y="3922776"/>
            <a:ext cx="8321040" cy="164592"/>
          </a:xfrm>
          <a:prstGeom prst="rect">
            <a:avLst/>
          </a:prstGeom>
          <a:noFill/>
          <a:ln/>
        </p:spPr>
        <p:txBody>
          <a:bodyPr wrap="square" lIns="0" tIns="0" rIns="0" bIns="0" rtlCol="0" anchor="ctr"/>
          <a:lstStyle/>
          <a:p>
            <a:pPr indent="0" marL="0">
              <a:buNone/>
            </a:pPr>
            <a:r>
              <a:rPr lang="en-US" sz="780" dirty="0">
                <a:solidFill>
                  <a:srgbClr val="DCDCAA"/>
                </a:solidFill>
                <a:latin typeface="Consolas" pitchFamily="34" charset="0"/>
                <a:ea typeface="Consolas" pitchFamily="34" charset="-122"/>
                <a:cs typeface="Consolas" pitchFamily="34" charset="-120"/>
              </a:rPr>
              <a:t>def query_claude(prompt):</a:t>
            </a:r>
            <a:endParaRPr lang="en-US" sz="780" dirty="0"/>
          </a:p>
        </p:txBody>
      </p:sp>
      <p:sp>
        <p:nvSpPr>
          <p:cNvPr id="23" name="Text 21"/>
          <p:cNvSpPr/>
          <p:nvPr/>
        </p:nvSpPr>
        <p:spPr>
          <a:xfrm>
            <a:off x="384048" y="4073652"/>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client = anthropic.Anthropic(api_key=CLAUDE_KEY)</a:t>
            </a:r>
            <a:endParaRPr lang="en-US" sz="780" dirty="0"/>
          </a:p>
        </p:txBody>
      </p:sp>
      <p:sp>
        <p:nvSpPr>
          <p:cNvPr id="24" name="Text 22"/>
          <p:cNvSpPr/>
          <p:nvPr/>
        </p:nvSpPr>
        <p:spPr>
          <a:xfrm>
            <a:off x="384048" y="4224528"/>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msg = client.messages.create(model='claude-3-opus-20240229',</a:t>
            </a:r>
            <a:endParaRPr lang="en-US" sz="780" dirty="0"/>
          </a:p>
        </p:txBody>
      </p:sp>
      <p:sp>
        <p:nvSpPr>
          <p:cNvPr id="25" name="Text 23"/>
          <p:cNvSpPr/>
          <p:nvPr/>
        </p:nvSpPr>
        <p:spPr>
          <a:xfrm>
            <a:off x="384048" y="4375404"/>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max_tokens=1024, messages=[{'role':'user','content':prompt}])</a:t>
            </a:r>
            <a:endParaRPr lang="en-US" sz="780" dirty="0"/>
          </a:p>
        </p:txBody>
      </p:sp>
      <p:sp>
        <p:nvSpPr>
          <p:cNvPr id="26" name="Text 24"/>
          <p:cNvSpPr/>
          <p:nvPr/>
        </p:nvSpPr>
        <p:spPr>
          <a:xfrm>
            <a:off x="384048" y="4526280"/>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return msg.content[0].text</a:t>
            </a:r>
            <a:endParaRPr lang="en-US" sz="780" dirty="0"/>
          </a:p>
        </p:txBody>
      </p:sp>
      <p:sp>
        <p:nvSpPr>
          <p:cNvPr id="27" name="Shape 25"/>
          <p:cNvSpPr/>
          <p:nvPr/>
        </p:nvSpPr>
        <p:spPr>
          <a:xfrm>
            <a:off x="0" y="4983480"/>
            <a:ext cx="9144000" cy="160020"/>
          </a:xfrm>
          <a:prstGeom prst="rect">
            <a:avLst/>
          </a:prstGeom>
          <a:solidFill>
            <a:srgbClr val="0D1B2A"/>
          </a:solidFill>
          <a:ln w="12700">
            <a:solidFill>
              <a:srgbClr val="0D1B2A"/>
            </a:solidFill>
            <a:prstDash val="solid"/>
          </a:ln>
        </p:spPr>
      </p:sp>
      <p:sp>
        <p:nvSpPr>
          <p:cNvPr id="28" name="Text 26"/>
          <p:cNvSpPr/>
          <p:nvPr/>
        </p:nvSpPr>
        <p:spPr>
          <a:xfrm>
            <a:off x="274320" y="4983480"/>
            <a:ext cx="8595360" cy="160020"/>
          </a:xfrm>
          <a:prstGeom prst="rect">
            <a:avLst/>
          </a:prstGeom>
          <a:noFill/>
          <a:ln/>
        </p:spPr>
        <p:txBody>
          <a:bodyPr wrap="square" rtlCol="0" anchor="ctr"/>
          <a:lstStyle/>
          <a:p>
            <a:pPr indent="0" marL="0">
              <a:buNone/>
            </a:pPr>
            <a:r>
              <a:rPr lang="en-US" sz="900" dirty="0">
                <a:solidFill>
                  <a:srgbClr val="00B4D8"/>
                </a:solidFill>
              </a:rPr>
              <a:t>Ex.No.6 — Python Code with Multiple AI Tools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Shape 1"/>
          <p:cNvSpPr/>
          <p:nvPr/>
        </p:nvSpPr>
        <p:spPr>
          <a:xfrm>
            <a:off x="0" y="1005840"/>
            <a:ext cx="9144000" cy="54864"/>
          </a:xfrm>
          <a:prstGeom prst="rect">
            <a:avLst/>
          </a:prstGeom>
          <a:solidFill>
            <a:srgbClr val="FF6D00"/>
          </a:solidFill>
          <a:ln w="12700">
            <a:solidFill>
              <a:srgbClr val="FF6D00"/>
            </a:solidFill>
            <a:prstDash val="solid"/>
          </a:ln>
        </p:spPr>
      </p:sp>
      <p:sp>
        <p:nvSpPr>
          <p:cNvPr id="4" name="Text 2"/>
          <p:cNvSpPr/>
          <p:nvPr/>
        </p:nvSpPr>
        <p:spPr>
          <a:xfrm>
            <a:off x="365760" y="0"/>
            <a:ext cx="8412480" cy="10058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PYTHON CODE — Part 2: Compare &amp; Generate Insights</a:t>
            </a:r>
            <a:endParaRPr lang="en-US" sz="2400" dirty="0"/>
          </a:p>
        </p:txBody>
      </p:sp>
      <p:sp>
        <p:nvSpPr>
          <p:cNvPr id="5" name="Text 3"/>
          <p:cNvSpPr/>
          <p:nvPr/>
        </p:nvSpPr>
        <p:spPr>
          <a:xfrm>
            <a:off x="8046720" y="0"/>
            <a:ext cx="914400" cy="1005840"/>
          </a:xfrm>
          <a:prstGeom prst="rect">
            <a:avLst/>
          </a:prstGeom>
          <a:noFill/>
          <a:ln/>
        </p:spPr>
        <p:txBody>
          <a:bodyPr wrap="square" rtlCol="0" anchor="ctr"/>
          <a:lstStyle/>
          <a:p>
            <a:pPr algn="r" indent="0" marL="0">
              <a:buNone/>
            </a:pPr>
            <a:r>
              <a:rPr lang="en-US" sz="1000" dirty="0">
                <a:solidFill>
                  <a:srgbClr val="00B4D8"/>
                </a:solidFill>
              </a:rPr>
              <a:t>Slide 05</a:t>
            </a:r>
            <a:endParaRPr lang="en-US" sz="1000" dirty="0"/>
          </a:p>
        </p:txBody>
      </p:sp>
      <p:sp>
        <p:nvSpPr>
          <p:cNvPr id="6" name="Shape 4"/>
          <p:cNvSpPr/>
          <p:nvPr/>
        </p:nvSpPr>
        <p:spPr>
          <a:xfrm>
            <a:off x="274320" y="1170432"/>
            <a:ext cx="8595360" cy="3657600"/>
          </a:xfrm>
          <a:prstGeom prst="rect">
            <a:avLst/>
          </a:prstGeom>
          <a:solidFill>
            <a:srgbClr val="1E2A3A"/>
          </a:solidFill>
          <a:ln w="12700">
            <a:solidFill>
              <a:srgbClr val="334155"/>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1170432"/>
            <a:ext cx="1828800" cy="292608"/>
          </a:xfrm>
          <a:prstGeom prst="rect">
            <a:avLst/>
          </a:prstGeom>
          <a:solidFill>
            <a:srgbClr val="334155"/>
          </a:solidFill>
          <a:ln w="12700">
            <a:solidFill>
              <a:srgbClr val="334155"/>
            </a:solidFill>
            <a:prstDash val="solid"/>
          </a:ln>
        </p:spPr>
      </p:sp>
      <p:sp>
        <p:nvSpPr>
          <p:cNvPr id="8" name="Text 6"/>
          <p:cNvSpPr/>
          <p:nvPr/>
        </p:nvSpPr>
        <p:spPr>
          <a:xfrm>
            <a:off x="320040" y="1170432"/>
            <a:ext cx="1737360" cy="292608"/>
          </a:xfrm>
          <a:prstGeom prst="rect">
            <a:avLst/>
          </a:prstGeom>
          <a:noFill/>
          <a:ln/>
        </p:spPr>
        <p:txBody>
          <a:bodyPr wrap="square" rtlCol="0" anchor="ctr"/>
          <a:lstStyle/>
          <a:p>
            <a:pPr indent="0" marL="0">
              <a:buNone/>
            </a:pPr>
            <a:r>
              <a:rPr lang="en-US" sz="900" dirty="0">
                <a:solidFill>
                  <a:srgbClr val="FF6D00"/>
                </a:solidFill>
                <a:latin typeface="Consolas" pitchFamily="34" charset="0"/>
                <a:ea typeface="Consolas" pitchFamily="34" charset="-122"/>
                <a:cs typeface="Consolas" pitchFamily="34" charset="-120"/>
              </a:rPr>
              <a:t>multi_ai_tools.py (cont.)</a:t>
            </a:r>
            <a:endParaRPr lang="en-US" sz="900" dirty="0"/>
          </a:p>
        </p:txBody>
      </p:sp>
      <p:sp>
        <p:nvSpPr>
          <p:cNvPr id="9" name="Text 7"/>
          <p:cNvSpPr/>
          <p:nvPr/>
        </p:nvSpPr>
        <p:spPr>
          <a:xfrm>
            <a:off x="384048" y="1508760"/>
            <a:ext cx="8321040" cy="164592"/>
          </a:xfrm>
          <a:prstGeom prst="rect">
            <a:avLst/>
          </a:prstGeom>
          <a:noFill/>
          <a:ln/>
        </p:spPr>
        <p:txBody>
          <a:bodyPr wrap="square" lIns="0" tIns="0" rIns="0" bIns="0" rtlCol="0" anchor="ctr"/>
          <a:lstStyle/>
          <a:p>
            <a:pPr indent="0" marL="0">
              <a:buNone/>
            </a:pPr>
            <a:r>
              <a:rPr lang="en-US" sz="780" dirty="0">
                <a:solidFill>
                  <a:srgbClr val="DCDCAA"/>
                </a:solidFill>
                <a:latin typeface="Consolas" pitchFamily="34" charset="0"/>
                <a:ea typeface="Consolas" pitchFamily="34" charset="-122"/>
                <a:cs typeface="Consolas" pitchFamily="34" charset="-120"/>
              </a:rPr>
              <a:t>def query_gemini(prompt):</a:t>
            </a:r>
            <a:endParaRPr lang="en-US" sz="780" dirty="0"/>
          </a:p>
        </p:txBody>
      </p:sp>
      <p:sp>
        <p:nvSpPr>
          <p:cNvPr id="10" name="Text 8"/>
          <p:cNvSpPr/>
          <p:nvPr/>
        </p:nvSpPr>
        <p:spPr>
          <a:xfrm>
            <a:off x="384048" y="1659636"/>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genai.configure(api_key=GEMINI_KEY)</a:t>
            </a:r>
            <a:endParaRPr lang="en-US" sz="780" dirty="0"/>
          </a:p>
        </p:txBody>
      </p:sp>
      <p:sp>
        <p:nvSpPr>
          <p:cNvPr id="11" name="Text 9"/>
          <p:cNvSpPr/>
          <p:nvPr/>
        </p:nvSpPr>
        <p:spPr>
          <a:xfrm>
            <a:off x="384048" y="1810512"/>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model = genai.GenerativeModel('gemini-pro')</a:t>
            </a:r>
            <a:endParaRPr lang="en-US" sz="780" dirty="0"/>
          </a:p>
        </p:txBody>
      </p:sp>
      <p:sp>
        <p:nvSpPr>
          <p:cNvPr id="12" name="Text 10"/>
          <p:cNvSpPr/>
          <p:nvPr/>
        </p:nvSpPr>
        <p:spPr>
          <a:xfrm>
            <a:off x="384048" y="1961388"/>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return model.generate_content(prompt).text</a:t>
            </a:r>
            <a:endParaRPr lang="en-US" sz="780" dirty="0"/>
          </a:p>
        </p:txBody>
      </p:sp>
      <p:sp>
        <p:nvSpPr>
          <p:cNvPr id="13" name="Text 11"/>
          <p:cNvSpPr/>
          <p:nvPr/>
        </p:nvSpPr>
        <p:spPr>
          <a:xfrm>
            <a:off x="384048" y="2263140"/>
            <a:ext cx="8321040" cy="164592"/>
          </a:xfrm>
          <a:prstGeom prst="rect">
            <a:avLst/>
          </a:prstGeom>
          <a:noFill/>
          <a:ln/>
        </p:spPr>
        <p:txBody>
          <a:bodyPr wrap="square" lIns="0" tIns="0" rIns="0" bIns="0" rtlCol="0" anchor="ctr"/>
          <a:lstStyle/>
          <a:p>
            <a:pPr indent="0" marL="0">
              <a:buNone/>
            </a:pPr>
            <a:r>
              <a:rPr lang="en-US" sz="780" dirty="0">
                <a:solidFill>
                  <a:srgbClr val="DCDCAA"/>
                </a:solidFill>
                <a:latin typeface="Consolas" pitchFamily="34" charset="0"/>
                <a:ea typeface="Consolas" pitchFamily="34" charset="-122"/>
                <a:cs typeface="Consolas" pitchFamily="34" charset="-120"/>
              </a:rPr>
              <a:t>def compare_responses(prompt):</a:t>
            </a:r>
            <a:endParaRPr lang="en-US" sz="780" dirty="0"/>
          </a:p>
        </p:txBody>
      </p:sp>
      <p:sp>
        <p:nvSpPr>
          <p:cNvPr id="14" name="Text 12"/>
          <p:cNvSpPr/>
          <p:nvPr/>
        </p:nvSpPr>
        <p:spPr>
          <a:xfrm>
            <a:off x="384048" y="2414016"/>
            <a:ext cx="8321040" cy="164592"/>
          </a:xfrm>
          <a:prstGeom prst="rect">
            <a:avLst/>
          </a:prstGeom>
          <a:noFill/>
          <a:ln/>
        </p:spPr>
        <p:txBody>
          <a:bodyPr wrap="square" lIns="0" tIns="0" rIns="0" bIns="0" rtlCol="0" anchor="ctr"/>
          <a:lstStyle/>
          <a:p>
            <a:pPr indent="0" marL="0">
              <a:buNone/>
            </a:pPr>
            <a:r>
              <a:rPr lang="en-US" sz="780" dirty="0">
                <a:solidFill>
                  <a:srgbClr val="6A9955"/>
                </a:solidFill>
                <a:latin typeface="Consolas" pitchFamily="34" charset="0"/>
                <a:ea typeface="Consolas" pitchFamily="34" charset="-122"/>
                <a:cs typeface="Consolas" pitchFamily="34" charset="-120"/>
              </a:rPr>
              <a:t>    """Query all AIs and return structured comparison."""</a:t>
            </a:r>
            <a:endParaRPr lang="en-US" sz="780" dirty="0"/>
          </a:p>
        </p:txBody>
      </p:sp>
      <p:sp>
        <p:nvSpPr>
          <p:cNvPr id="15" name="Text 13"/>
          <p:cNvSpPr/>
          <p:nvPr/>
        </p:nvSpPr>
        <p:spPr>
          <a:xfrm>
            <a:off x="384048" y="2564892"/>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results = {}</a:t>
            </a:r>
            <a:endParaRPr lang="en-US" sz="780" dirty="0"/>
          </a:p>
        </p:txBody>
      </p:sp>
      <p:sp>
        <p:nvSpPr>
          <p:cNvPr id="16" name="Text 14"/>
          <p:cNvSpPr/>
          <p:nvPr/>
        </p:nvSpPr>
        <p:spPr>
          <a:xfrm>
            <a:off x="384048" y="2715768"/>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for name, fn in [('OpenAI', query_openai),</a:t>
            </a:r>
            <a:endParaRPr lang="en-US" sz="780" dirty="0"/>
          </a:p>
        </p:txBody>
      </p:sp>
      <p:sp>
        <p:nvSpPr>
          <p:cNvPr id="17" name="Text 15"/>
          <p:cNvSpPr/>
          <p:nvPr/>
        </p:nvSpPr>
        <p:spPr>
          <a:xfrm>
            <a:off x="384048" y="2866644"/>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('Claude', query_claude),</a:t>
            </a:r>
            <a:endParaRPr lang="en-US" sz="780" dirty="0"/>
          </a:p>
        </p:txBody>
      </p:sp>
      <p:sp>
        <p:nvSpPr>
          <p:cNvPr id="18" name="Text 16"/>
          <p:cNvSpPr/>
          <p:nvPr/>
        </p:nvSpPr>
        <p:spPr>
          <a:xfrm>
            <a:off x="384048" y="3017520"/>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('Gemini', query_gemini)]:</a:t>
            </a:r>
            <a:endParaRPr lang="en-US" sz="780" dirty="0"/>
          </a:p>
        </p:txBody>
      </p:sp>
      <p:sp>
        <p:nvSpPr>
          <p:cNvPr id="19" name="Text 17"/>
          <p:cNvSpPr/>
          <p:nvPr/>
        </p:nvSpPr>
        <p:spPr>
          <a:xfrm>
            <a:off x="384048" y="3168396"/>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start = time.time()</a:t>
            </a:r>
            <a:endParaRPr lang="en-US" sz="780" dirty="0"/>
          </a:p>
        </p:txBody>
      </p:sp>
      <p:sp>
        <p:nvSpPr>
          <p:cNvPr id="20" name="Text 18"/>
          <p:cNvSpPr/>
          <p:nvPr/>
        </p:nvSpPr>
        <p:spPr>
          <a:xfrm>
            <a:off x="384048" y="3319272"/>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results[name] = {'response': fn(prompt),</a:t>
            </a:r>
            <a:endParaRPr lang="en-US" sz="780" dirty="0"/>
          </a:p>
        </p:txBody>
      </p:sp>
      <p:sp>
        <p:nvSpPr>
          <p:cNvPr id="21" name="Text 19"/>
          <p:cNvSpPr/>
          <p:nvPr/>
        </p:nvSpPr>
        <p:spPr>
          <a:xfrm>
            <a:off x="384048" y="3470148"/>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'latency': round(time.time()-start, 2)}</a:t>
            </a:r>
            <a:endParaRPr lang="en-US" sz="780" dirty="0"/>
          </a:p>
        </p:txBody>
      </p:sp>
      <p:sp>
        <p:nvSpPr>
          <p:cNvPr id="22" name="Text 20"/>
          <p:cNvSpPr/>
          <p:nvPr/>
        </p:nvSpPr>
        <p:spPr>
          <a:xfrm>
            <a:off x="384048" y="3621024"/>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return results</a:t>
            </a:r>
            <a:endParaRPr lang="en-US" sz="780" dirty="0"/>
          </a:p>
        </p:txBody>
      </p:sp>
      <p:sp>
        <p:nvSpPr>
          <p:cNvPr id="23" name="Text 21"/>
          <p:cNvSpPr/>
          <p:nvPr/>
        </p:nvSpPr>
        <p:spPr>
          <a:xfrm>
            <a:off x="384048" y="3922776"/>
            <a:ext cx="8321040" cy="164592"/>
          </a:xfrm>
          <a:prstGeom prst="rect">
            <a:avLst/>
          </a:prstGeom>
          <a:noFill/>
          <a:ln/>
        </p:spPr>
        <p:txBody>
          <a:bodyPr wrap="square" lIns="0" tIns="0" rIns="0" bIns="0" rtlCol="0" anchor="ctr"/>
          <a:lstStyle/>
          <a:p>
            <a:pPr indent="0" marL="0">
              <a:buNone/>
            </a:pPr>
            <a:r>
              <a:rPr lang="en-US" sz="780" dirty="0">
                <a:solidFill>
                  <a:srgbClr val="DCDCAA"/>
                </a:solidFill>
                <a:latin typeface="Consolas" pitchFamily="34" charset="0"/>
                <a:ea typeface="Consolas" pitchFamily="34" charset="-122"/>
                <a:cs typeface="Consolas" pitchFamily="34" charset="-120"/>
              </a:rPr>
              <a:t>def generate_insights(results):</a:t>
            </a:r>
            <a:endParaRPr lang="en-US" sz="780" dirty="0"/>
          </a:p>
        </p:txBody>
      </p:sp>
      <p:sp>
        <p:nvSpPr>
          <p:cNvPr id="24" name="Text 22"/>
          <p:cNvSpPr/>
          <p:nvPr/>
        </p:nvSpPr>
        <p:spPr>
          <a:xfrm>
            <a:off x="384048" y="4073652"/>
            <a:ext cx="8321040" cy="164592"/>
          </a:xfrm>
          <a:prstGeom prst="rect">
            <a:avLst/>
          </a:prstGeom>
          <a:noFill/>
          <a:ln/>
        </p:spPr>
        <p:txBody>
          <a:bodyPr wrap="square" lIns="0" tIns="0" rIns="0" bIns="0" rtlCol="0" anchor="ctr"/>
          <a:lstStyle/>
          <a:p>
            <a:pPr indent="0" marL="0">
              <a:buNone/>
            </a:pPr>
            <a:r>
              <a:rPr lang="en-US" sz="780" dirty="0">
                <a:solidFill>
                  <a:srgbClr val="6A9955"/>
                </a:solidFill>
                <a:latin typeface="Consolas" pitchFamily="34" charset="0"/>
                <a:ea typeface="Consolas" pitchFamily="34" charset="-122"/>
                <a:cs typeface="Consolas" pitchFamily="34" charset="-120"/>
              </a:rPr>
              <a:t>    """Analyze word count, latency and common themes."""</a:t>
            </a:r>
            <a:endParaRPr lang="en-US" sz="780" dirty="0"/>
          </a:p>
        </p:txBody>
      </p:sp>
      <p:sp>
        <p:nvSpPr>
          <p:cNvPr id="25" name="Text 23"/>
          <p:cNvSpPr/>
          <p:nvPr/>
        </p:nvSpPr>
        <p:spPr>
          <a:xfrm>
            <a:off x="384048" y="4224528"/>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for api, data in results.items():</a:t>
            </a:r>
            <a:endParaRPr lang="en-US" sz="780" dirty="0"/>
          </a:p>
        </p:txBody>
      </p:sp>
      <p:sp>
        <p:nvSpPr>
          <p:cNvPr id="26" name="Text 24"/>
          <p:cNvSpPr/>
          <p:nvPr/>
        </p:nvSpPr>
        <p:spPr>
          <a:xfrm>
            <a:off x="384048" y="4375404"/>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wc = len(data['response'].split())</a:t>
            </a:r>
            <a:endParaRPr lang="en-US" sz="780" dirty="0"/>
          </a:p>
        </p:txBody>
      </p:sp>
      <p:sp>
        <p:nvSpPr>
          <p:cNvPr id="27" name="Text 25"/>
          <p:cNvSpPr/>
          <p:nvPr/>
        </p:nvSpPr>
        <p:spPr>
          <a:xfrm>
            <a:off x="384048" y="4526280"/>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print(f'{api}: {wc} words | {data["latency"]}s latency')</a:t>
            </a:r>
            <a:endParaRPr lang="en-US" sz="780" dirty="0"/>
          </a:p>
        </p:txBody>
      </p:sp>
      <p:sp>
        <p:nvSpPr>
          <p:cNvPr id="28" name="Text 26"/>
          <p:cNvSpPr/>
          <p:nvPr/>
        </p:nvSpPr>
        <p:spPr>
          <a:xfrm>
            <a:off x="384048" y="4677156"/>
            <a:ext cx="8321040" cy="164592"/>
          </a:xfrm>
          <a:prstGeom prst="rect">
            <a:avLst/>
          </a:prstGeom>
          <a:noFill/>
          <a:ln/>
        </p:spPr>
        <p:txBody>
          <a:bodyPr wrap="square" lIns="0" tIns="0" rIns="0" bIns="0" rtlCol="0" anchor="ctr"/>
          <a:lstStyle/>
          <a:p>
            <a:pPr indent="0" marL="0">
              <a:buNone/>
            </a:pPr>
            <a:r>
              <a:rPr lang="en-US" sz="780" dirty="0">
                <a:solidFill>
                  <a:srgbClr val="C8C8C8"/>
                </a:solidFill>
                <a:latin typeface="Consolas" pitchFamily="34" charset="0"/>
                <a:ea typeface="Consolas" pitchFamily="34" charset="-122"/>
                <a:cs typeface="Consolas" pitchFamily="34" charset="-120"/>
              </a:rPr>
              <a:t>        print(data['response'][:200], '...')  # Preview</a:t>
            </a:r>
            <a:endParaRPr lang="en-US" sz="780" dirty="0"/>
          </a:p>
        </p:txBody>
      </p:sp>
      <p:sp>
        <p:nvSpPr>
          <p:cNvPr id="29" name="Shape 27"/>
          <p:cNvSpPr/>
          <p:nvPr/>
        </p:nvSpPr>
        <p:spPr>
          <a:xfrm>
            <a:off x="0" y="4983480"/>
            <a:ext cx="9144000" cy="160020"/>
          </a:xfrm>
          <a:prstGeom prst="rect">
            <a:avLst/>
          </a:prstGeom>
          <a:solidFill>
            <a:srgbClr val="0D1B2A"/>
          </a:solidFill>
          <a:ln w="12700">
            <a:solidFill>
              <a:srgbClr val="0D1B2A"/>
            </a:solidFill>
            <a:prstDash val="solid"/>
          </a:ln>
        </p:spPr>
      </p:sp>
      <p:sp>
        <p:nvSpPr>
          <p:cNvPr id="30" name="Text 28"/>
          <p:cNvSpPr/>
          <p:nvPr/>
        </p:nvSpPr>
        <p:spPr>
          <a:xfrm>
            <a:off x="274320" y="4983480"/>
            <a:ext cx="8595360" cy="160020"/>
          </a:xfrm>
          <a:prstGeom prst="rect">
            <a:avLst/>
          </a:prstGeom>
          <a:noFill/>
          <a:ln/>
        </p:spPr>
        <p:txBody>
          <a:bodyPr wrap="square" rtlCol="0" anchor="ctr"/>
          <a:lstStyle/>
          <a:p>
            <a:pPr indent="0" marL="0">
              <a:buNone/>
            </a:pPr>
            <a:r>
              <a:rPr lang="en-US" sz="900" dirty="0">
                <a:solidFill>
                  <a:srgbClr val="00B4D8"/>
                </a:solidFill>
              </a:rPr>
              <a:t>Ex.No.6 — Python Code with Multiple AI Tools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Shape 1"/>
          <p:cNvSpPr/>
          <p:nvPr/>
        </p:nvSpPr>
        <p:spPr>
          <a:xfrm>
            <a:off x="0" y="1005840"/>
            <a:ext cx="9144000" cy="54864"/>
          </a:xfrm>
          <a:prstGeom prst="rect">
            <a:avLst/>
          </a:prstGeom>
          <a:solidFill>
            <a:srgbClr val="00C853"/>
          </a:solidFill>
          <a:ln w="12700">
            <a:solidFill>
              <a:srgbClr val="00C853"/>
            </a:solidFill>
            <a:prstDash val="solid"/>
          </a:ln>
        </p:spPr>
      </p:sp>
      <p:sp>
        <p:nvSpPr>
          <p:cNvPr id="4" name="Text 2"/>
          <p:cNvSpPr/>
          <p:nvPr/>
        </p:nvSpPr>
        <p:spPr>
          <a:xfrm>
            <a:off x="365760" y="0"/>
            <a:ext cx="8412480" cy="10058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PYTHON CODE — Part 3: Main Block &amp; Sample Output</a:t>
            </a:r>
            <a:endParaRPr lang="en-US" sz="2400" dirty="0"/>
          </a:p>
        </p:txBody>
      </p:sp>
      <p:sp>
        <p:nvSpPr>
          <p:cNvPr id="5" name="Text 3"/>
          <p:cNvSpPr/>
          <p:nvPr/>
        </p:nvSpPr>
        <p:spPr>
          <a:xfrm>
            <a:off x="8046720" y="0"/>
            <a:ext cx="914400" cy="1005840"/>
          </a:xfrm>
          <a:prstGeom prst="rect">
            <a:avLst/>
          </a:prstGeom>
          <a:noFill/>
          <a:ln/>
        </p:spPr>
        <p:txBody>
          <a:bodyPr wrap="square" rtlCol="0" anchor="ctr"/>
          <a:lstStyle/>
          <a:p>
            <a:pPr algn="r" indent="0" marL="0">
              <a:buNone/>
            </a:pPr>
            <a:r>
              <a:rPr lang="en-US" sz="1000" dirty="0">
                <a:solidFill>
                  <a:srgbClr val="00B4D8"/>
                </a:solidFill>
              </a:rPr>
              <a:t>Slide 06</a:t>
            </a:r>
            <a:endParaRPr lang="en-US" sz="1000" dirty="0"/>
          </a:p>
        </p:txBody>
      </p:sp>
      <p:sp>
        <p:nvSpPr>
          <p:cNvPr id="6" name="Shape 4"/>
          <p:cNvSpPr/>
          <p:nvPr/>
        </p:nvSpPr>
        <p:spPr>
          <a:xfrm>
            <a:off x="274320" y="1170432"/>
            <a:ext cx="5029200" cy="2651760"/>
          </a:xfrm>
          <a:prstGeom prst="rect">
            <a:avLst/>
          </a:prstGeom>
          <a:solidFill>
            <a:srgbClr val="1E2A3A"/>
          </a:solidFill>
          <a:ln w="12700">
            <a:solidFill>
              <a:srgbClr val="334155"/>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1170432"/>
            <a:ext cx="2011680" cy="292608"/>
          </a:xfrm>
          <a:prstGeom prst="rect">
            <a:avLst/>
          </a:prstGeom>
          <a:solidFill>
            <a:srgbClr val="334155"/>
          </a:solidFill>
          <a:ln w="12700">
            <a:solidFill>
              <a:srgbClr val="334155"/>
            </a:solidFill>
            <a:prstDash val="solid"/>
          </a:ln>
        </p:spPr>
      </p:sp>
      <p:sp>
        <p:nvSpPr>
          <p:cNvPr id="8" name="Text 6"/>
          <p:cNvSpPr/>
          <p:nvPr/>
        </p:nvSpPr>
        <p:spPr>
          <a:xfrm>
            <a:off x="320040" y="1170432"/>
            <a:ext cx="1920240" cy="292608"/>
          </a:xfrm>
          <a:prstGeom prst="rect">
            <a:avLst/>
          </a:prstGeom>
          <a:noFill/>
          <a:ln/>
        </p:spPr>
        <p:txBody>
          <a:bodyPr wrap="square" rtlCol="0" anchor="ctr"/>
          <a:lstStyle/>
          <a:p>
            <a:pPr indent="0" marL="0">
              <a:buNone/>
            </a:pPr>
            <a:r>
              <a:rPr lang="en-US" sz="900" dirty="0">
                <a:solidFill>
                  <a:srgbClr val="00C853"/>
                </a:solidFill>
                <a:latin typeface="Consolas" pitchFamily="34" charset="0"/>
                <a:ea typeface="Consolas" pitchFamily="34" charset="-122"/>
                <a:cs typeface="Consolas" pitchFamily="34" charset="-120"/>
              </a:rPr>
              <a:t>main block</a:t>
            </a:r>
            <a:endParaRPr lang="en-US" sz="900" dirty="0"/>
          </a:p>
        </p:txBody>
      </p:sp>
      <p:sp>
        <p:nvSpPr>
          <p:cNvPr id="9" name="Text 7"/>
          <p:cNvSpPr/>
          <p:nvPr/>
        </p:nvSpPr>
        <p:spPr>
          <a:xfrm>
            <a:off x="384048" y="1508760"/>
            <a:ext cx="4754880" cy="173736"/>
          </a:xfrm>
          <a:prstGeom prst="rect">
            <a:avLst/>
          </a:prstGeom>
          <a:noFill/>
          <a:ln/>
        </p:spPr>
        <p:txBody>
          <a:bodyPr wrap="square" lIns="0" tIns="0" rIns="0" bIns="0" rtlCol="0" anchor="ctr"/>
          <a:lstStyle/>
          <a:p>
            <a:pPr indent="0" marL="0">
              <a:buNone/>
            </a:pPr>
            <a:r>
              <a:rPr lang="en-US" sz="800" dirty="0">
                <a:solidFill>
                  <a:srgbClr val="DCDCAA"/>
                </a:solidFill>
                <a:latin typeface="Consolas" pitchFamily="34" charset="0"/>
                <a:ea typeface="Consolas" pitchFamily="34" charset="-122"/>
                <a:cs typeface="Consolas" pitchFamily="34" charset="-120"/>
              </a:rPr>
              <a:t>if __name__ == '__main__':</a:t>
            </a:r>
            <a:endParaRPr lang="en-US" sz="800" dirty="0"/>
          </a:p>
        </p:txBody>
      </p:sp>
      <p:sp>
        <p:nvSpPr>
          <p:cNvPr id="10" name="Text 8"/>
          <p:cNvSpPr/>
          <p:nvPr/>
        </p:nvSpPr>
        <p:spPr>
          <a:xfrm>
            <a:off x="384048" y="1685239"/>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prompt = (</a:t>
            </a:r>
            <a:endParaRPr lang="en-US" sz="800" dirty="0"/>
          </a:p>
        </p:txBody>
      </p:sp>
      <p:sp>
        <p:nvSpPr>
          <p:cNvPr id="11" name="Text 9"/>
          <p:cNvSpPr/>
          <p:nvPr/>
        </p:nvSpPr>
        <p:spPr>
          <a:xfrm>
            <a:off x="384048" y="1861718"/>
            <a:ext cx="4754880" cy="173736"/>
          </a:xfrm>
          <a:prstGeom prst="rect">
            <a:avLst/>
          </a:prstGeom>
          <a:noFill/>
          <a:ln/>
        </p:spPr>
        <p:txBody>
          <a:bodyPr wrap="square" lIns="0" tIns="0" rIns="0" bIns="0" rtlCol="0" anchor="ctr"/>
          <a:lstStyle/>
          <a:p>
            <a:pPr indent="0" marL="0">
              <a:buNone/>
            </a:pPr>
            <a:r>
              <a:rPr lang="en-US" sz="800" dirty="0">
                <a:solidFill>
                  <a:srgbClr val="CE9178"/>
                </a:solidFill>
                <a:latin typeface="Consolas" pitchFamily="34" charset="0"/>
                <a:ea typeface="Consolas" pitchFamily="34" charset="-122"/>
                <a:cs typeface="Consolas" pitchFamily="34" charset="-120"/>
              </a:rPr>
              <a:t>      'Explain quantum computing'</a:t>
            </a:r>
            <a:endParaRPr lang="en-US" sz="800" dirty="0"/>
          </a:p>
        </p:txBody>
      </p:sp>
      <p:sp>
        <p:nvSpPr>
          <p:cNvPr id="12" name="Text 10"/>
          <p:cNvSpPr/>
          <p:nvPr/>
        </p:nvSpPr>
        <p:spPr>
          <a:xfrm>
            <a:off x="384048" y="2038198"/>
            <a:ext cx="4754880" cy="173736"/>
          </a:xfrm>
          <a:prstGeom prst="rect">
            <a:avLst/>
          </a:prstGeom>
          <a:noFill/>
          <a:ln/>
        </p:spPr>
        <p:txBody>
          <a:bodyPr wrap="square" lIns="0" tIns="0" rIns="0" bIns="0" rtlCol="0" anchor="ctr"/>
          <a:lstStyle/>
          <a:p>
            <a:pPr indent="0" marL="0">
              <a:buNone/>
            </a:pPr>
            <a:r>
              <a:rPr lang="en-US" sz="800" dirty="0">
                <a:solidFill>
                  <a:srgbClr val="CE9178"/>
                </a:solidFill>
                <a:latin typeface="Consolas" pitchFamily="34" charset="0"/>
                <a:ea typeface="Consolas" pitchFamily="34" charset="-122"/>
                <a:cs typeface="Consolas" pitchFamily="34" charset="-120"/>
              </a:rPr>
              <a:t>      ' in simple terms.')</a:t>
            </a:r>
            <a:endParaRPr lang="en-US" sz="800" dirty="0"/>
          </a:p>
        </p:txBody>
      </p:sp>
      <p:sp>
        <p:nvSpPr>
          <p:cNvPr id="13" name="Text 11"/>
          <p:cNvSpPr/>
          <p:nvPr/>
        </p:nvSpPr>
        <p:spPr>
          <a:xfrm>
            <a:off x="384048" y="2214677"/>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print('Querying AI APIs...')</a:t>
            </a:r>
            <a:endParaRPr lang="en-US" sz="800" dirty="0"/>
          </a:p>
        </p:txBody>
      </p:sp>
      <p:sp>
        <p:nvSpPr>
          <p:cNvPr id="14" name="Text 12"/>
          <p:cNvSpPr/>
          <p:nvPr/>
        </p:nvSpPr>
        <p:spPr>
          <a:xfrm>
            <a:off x="384048" y="2391156"/>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results = compare_responses(prompt)</a:t>
            </a:r>
            <a:endParaRPr lang="en-US" sz="800" dirty="0"/>
          </a:p>
        </p:txBody>
      </p:sp>
      <p:sp>
        <p:nvSpPr>
          <p:cNvPr id="15" name="Text 13"/>
          <p:cNvSpPr/>
          <p:nvPr/>
        </p:nvSpPr>
        <p:spPr>
          <a:xfrm>
            <a:off x="384048" y="2567635"/>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generate_insights(results)</a:t>
            </a:r>
            <a:endParaRPr lang="en-US" sz="800" dirty="0"/>
          </a:p>
        </p:txBody>
      </p:sp>
      <p:sp>
        <p:nvSpPr>
          <p:cNvPr id="16" name="Text 14"/>
          <p:cNvSpPr/>
          <p:nvPr/>
        </p:nvSpPr>
        <p:spPr>
          <a:xfrm>
            <a:off x="384048" y="2920594"/>
            <a:ext cx="4754880" cy="173736"/>
          </a:xfrm>
          <a:prstGeom prst="rect">
            <a:avLst/>
          </a:prstGeom>
          <a:noFill/>
          <a:ln/>
        </p:spPr>
        <p:txBody>
          <a:bodyPr wrap="square" lIns="0" tIns="0" rIns="0" bIns="0" rtlCol="0" anchor="ctr"/>
          <a:lstStyle/>
          <a:p>
            <a:pPr indent="0" marL="0">
              <a:buNone/>
            </a:pPr>
            <a:r>
              <a:rPr lang="en-US" sz="800" dirty="0">
                <a:solidFill>
                  <a:srgbClr val="6A9955"/>
                </a:solidFill>
                <a:latin typeface="Consolas" pitchFamily="34" charset="0"/>
                <a:ea typeface="Consolas" pitchFamily="34" charset="-122"/>
                <a:cs typeface="Consolas" pitchFamily="34" charset="-120"/>
              </a:rPr>
              <a:t>    # Save to JSON file</a:t>
            </a:r>
            <a:endParaRPr lang="en-US" sz="800" dirty="0"/>
          </a:p>
        </p:txBody>
      </p:sp>
      <p:sp>
        <p:nvSpPr>
          <p:cNvPr id="17" name="Text 15"/>
          <p:cNvSpPr/>
          <p:nvPr/>
        </p:nvSpPr>
        <p:spPr>
          <a:xfrm>
            <a:off x="384048" y="3097073"/>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with open('ai_comparison.json','w')</a:t>
            </a:r>
            <a:endParaRPr lang="en-US" sz="800" dirty="0"/>
          </a:p>
        </p:txBody>
      </p:sp>
      <p:sp>
        <p:nvSpPr>
          <p:cNvPr id="18" name="Text 16"/>
          <p:cNvSpPr/>
          <p:nvPr/>
        </p:nvSpPr>
        <p:spPr>
          <a:xfrm>
            <a:off x="384048" y="3273552"/>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as f:</a:t>
            </a:r>
            <a:endParaRPr lang="en-US" sz="800" dirty="0"/>
          </a:p>
        </p:txBody>
      </p:sp>
      <p:sp>
        <p:nvSpPr>
          <p:cNvPr id="19" name="Text 17"/>
          <p:cNvSpPr/>
          <p:nvPr/>
        </p:nvSpPr>
        <p:spPr>
          <a:xfrm>
            <a:off x="384048" y="3450031"/>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json.dump(results, f, indent=2)</a:t>
            </a:r>
            <a:endParaRPr lang="en-US" sz="800" dirty="0"/>
          </a:p>
        </p:txBody>
      </p:sp>
      <p:sp>
        <p:nvSpPr>
          <p:cNvPr id="20" name="Text 18"/>
          <p:cNvSpPr/>
          <p:nvPr/>
        </p:nvSpPr>
        <p:spPr>
          <a:xfrm>
            <a:off x="384048" y="3626510"/>
            <a:ext cx="4754880" cy="173736"/>
          </a:xfrm>
          <a:prstGeom prst="rect">
            <a:avLst/>
          </a:prstGeom>
          <a:noFill/>
          <a:ln/>
        </p:spPr>
        <p:txBody>
          <a:bodyPr wrap="square" lIns="0" tIns="0" rIns="0" bIns="0" rtlCol="0" anchor="ctr"/>
          <a:lstStyle/>
          <a:p>
            <a:pPr indent="0" marL="0">
              <a:buNone/>
            </a:pPr>
            <a:r>
              <a:rPr lang="en-US" sz="800" dirty="0">
                <a:solidFill>
                  <a:srgbClr val="C8C8C8"/>
                </a:solidFill>
                <a:latin typeface="Consolas" pitchFamily="34" charset="0"/>
                <a:ea typeface="Consolas" pitchFamily="34" charset="-122"/>
                <a:cs typeface="Consolas" pitchFamily="34" charset="-120"/>
              </a:rPr>
              <a:t>    print('Saved to ai_comparison.json')</a:t>
            </a:r>
            <a:endParaRPr lang="en-US" sz="800" dirty="0"/>
          </a:p>
        </p:txBody>
      </p:sp>
      <p:sp>
        <p:nvSpPr>
          <p:cNvPr id="21" name="Shape 19"/>
          <p:cNvSpPr/>
          <p:nvPr/>
        </p:nvSpPr>
        <p:spPr>
          <a:xfrm>
            <a:off x="5486400" y="1170432"/>
            <a:ext cx="3383280" cy="2651760"/>
          </a:xfrm>
          <a:prstGeom prst="rect">
            <a:avLst/>
          </a:prstGeom>
          <a:solidFill>
            <a:srgbClr val="0D1117"/>
          </a:solidFill>
          <a:ln w="12700">
            <a:solidFill>
              <a:srgbClr val="30363D"/>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5486400" y="1170432"/>
            <a:ext cx="1645920" cy="292608"/>
          </a:xfrm>
          <a:prstGeom prst="rect">
            <a:avLst/>
          </a:prstGeom>
          <a:solidFill>
            <a:srgbClr val="30363D"/>
          </a:solidFill>
          <a:ln w="12700">
            <a:solidFill>
              <a:srgbClr val="30363D"/>
            </a:solidFill>
            <a:prstDash val="solid"/>
          </a:ln>
        </p:spPr>
      </p:sp>
      <p:sp>
        <p:nvSpPr>
          <p:cNvPr id="23" name="Text 21"/>
          <p:cNvSpPr/>
          <p:nvPr/>
        </p:nvSpPr>
        <p:spPr>
          <a:xfrm>
            <a:off x="5532120" y="1170432"/>
            <a:ext cx="1554480" cy="292608"/>
          </a:xfrm>
          <a:prstGeom prst="rect">
            <a:avLst/>
          </a:prstGeom>
          <a:noFill/>
          <a:ln/>
        </p:spPr>
        <p:txBody>
          <a:bodyPr wrap="square" rtlCol="0" anchor="ctr"/>
          <a:lstStyle/>
          <a:p>
            <a:pPr indent="0" marL="0">
              <a:buNone/>
            </a:pPr>
            <a:r>
              <a:rPr lang="en-US" sz="900" dirty="0">
                <a:solidFill>
                  <a:srgbClr val="00C853"/>
                </a:solidFill>
                <a:latin typeface="Consolas" pitchFamily="34" charset="0"/>
                <a:ea typeface="Consolas" pitchFamily="34" charset="-122"/>
                <a:cs typeface="Consolas" pitchFamily="34" charset="-120"/>
              </a:rPr>
              <a:t>terminal output</a:t>
            </a:r>
            <a:endParaRPr lang="en-US" sz="900" dirty="0"/>
          </a:p>
        </p:txBody>
      </p:sp>
      <p:sp>
        <p:nvSpPr>
          <p:cNvPr id="24" name="Text 22"/>
          <p:cNvSpPr/>
          <p:nvPr/>
        </p:nvSpPr>
        <p:spPr>
          <a:xfrm>
            <a:off x="5577840" y="1508760"/>
            <a:ext cx="3108960" cy="173736"/>
          </a:xfrm>
          <a:prstGeom prst="rect">
            <a:avLst/>
          </a:prstGeom>
          <a:noFill/>
          <a:ln/>
        </p:spPr>
        <p:txBody>
          <a:bodyPr wrap="square" lIns="0" tIns="0" rIns="0" bIns="0" rtlCol="0" anchor="ctr"/>
          <a:lstStyle/>
          <a:p>
            <a:pPr indent="0" marL="0">
              <a:buNone/>
            </a:pPr>
            <a:r>
              <a:rPr lang="en-US" sz="800" dirty="0">
                <a:solidFill>
                  <a:srgbClr val="98C379"/>
                </a:solidFill>
                <a:latin typeface="Consolas" pitchFamily="34" charset="0"/>
                <a:ea typeface="Consolas" pitchFamily="34" charset="-122"/>
                <a:cs typeface="Consolas" pitchFamily="34" charset="-120"/>
              </a:rPr>
              <a:t>$ python multi_ai_tools.py</a:t>
            </a:r>
            <a:endParaRPr lang="en-US" sz="800" dirty="0"/>
          </a:p>
        </p:txBody>
      </p:sp>
      <p:sp>
        <p:nvSpPr>
          <p:cNvPr id="25" name="Text 23"/>
          <p:cNvSpPr/>
          <p:nvPr/>
        </p:nvSpPr>
        <p:spPr>
          <a:xfrm>
            <a:off x="5577840" y="1685239"/>
            <a:ext cx="3108960" cy="173736"/>
          </a:xfrm>
          <a:prstGeom prst="rect">
            <a:avLst/>
          </a:prstGeom>
          <a:noFill/>
          <a:ln/>
        </p:spPr>
        <p:txBody>
          <a:bodyPr wrap="square" lIns="0" tIns="0" rIns="0" bIns="0" rtlCol="0" anchor="ctr"/>
          <a:lstStyle/>
          <a:p>
            <a:pPr indent="0" marL="0">
              <a:buNone/>
            </a:pPr>
            <a:r>
              <a:rPr lang="en-US" sz="800" dirty="0">
                <a:solidFill>
                  <a:srgbClr val="ABB2BF"/>
                </a:solidFill>
                <a:latin typeface="Consolas" pitchFamily="34" charset="0"/>
                <a:ea typeface="Consolas" pitchFamily="34" charset="-122"/>
                <a:cs typeface="Consolas" pitchFamily="34" charset="-120"/>
              </a:rPr>
              <a:t>Querying AI APIs...</a:t>
            </a:r>
            <a:endParaRPr lang="en-US" sz="800" dirty="0"/>
          </a:p>
        </p:txBody>
      </p:sp>
      <p:sp>
        <p:nvSpPr>
          <p:cNvPr id="26" name="Text 24"/>
          <p:cNvSpPr/>
          <p:nvPr/>
        </p:nvSpPr>
        <p:spPr>
          <a:xfrm>
            <a:off x="5577840" y="2038198"/>
            <a:ext cx="3108960" cy="173736"/>
          </a:xfrm>
          <a:prstGeom prst="rect">
            <a:avLst/>
          </a:prstGeom>
          <a:noFill/>
          <a:ln/>
        </p:spPr>
        <p:txBody>
          <a:bodyPr wrap="square" lIns="0" tIns="0" rIns="0" bIns="0" rtlCol="0" anchor="ctr"/>
          <a:lstStyle/>
          <a:p>
            <a:pPr indent="0" marL="0">
              <a:buNone/>
            </a:pPr>
            <a:r>
              <a:rPr lang="en-US" sz="800" dirty="0">
                <a:solidFill>
                  <a:srgbClr val="E5C07B"/>
                </a:solidFill>
                <a:latin typeface="Consolas" pitchFamily="34" charset="0"/>
                <a:ea typeface="Consolas" pitchFamily="34" charset="-122"/>
                <a:cs typeface="Consolas" pitchFamily="34" charset="-120"/>
              </a:rPr>
              <a:t>=== INSIGHTS ===</a:t>
            </a:r>
            <a:endParaRPr lang="en-US" sz="800" dirty="0"/>
          </a:p>
        </p:txBody>
      </p:sp>
      <p:sp>
        <p:nvSpPr>
          <p:cNvPr id="27" name="Text 25"/>
          <p:cNvSpPr/>
          <p:nvPr/>
        </p:nvSpPr>
        <p:spPr>
          <a:xfrm>
            <a:off x="5577840" y="2214677"/>
            <a:ext cx="3108960" cy="173736"/>
          </a:xfrm>
          <a:prstGeom prst="rect">
            <a:avLst/>
          </a:prstGeom>
          <a:noFill/>
          <a:ln/>
        </p:spPr>
        <p:txBody>
          <a:bodyPr wrap="square" lIns="0" tIns="0" rIns="0" bIns="0" rtlCol="0" anchor="ctr"/>
          <a:lstStyle/>
          <a:p>
            <a:pPr indent="0" marL="0">
              <a:buNone/>
            </a:pPr>
            <a:r>
              <a:rPr lang="en-US" sz="800" dirty="0">
                <a:solidFill>
                  <a:srgbClr val="56B6C2"/>
                </a:solidFill>
                <a:latin typeface="Consolas" pitchFamily="34" charset="0"/>
                <a:ea typeface="Consolas" pitchFamily="34" charset="-122"/>
                <a:cs typeface="Consolas" pitchFamily="34" charset="-120"/>
              </a:rPr>
              <a:t>OpenAI: 142 words | 1.23s</a:t>
            </a:r>
            <a:endParaRPr lang="en-US" sz="800" dirty="0"/>
          </a:p>
        </p:txBody>
      </p:sp>
      <p:sp>
        <p:nvSpPr>
          <p:cNvPr id="28" name="Text 26"/>
          <p:cNvSpPr/>
          <p:nvPr/>
        </p:nvSpPr>
        <p:spPr>
          <a:xfrm>
            <a:off x="5577840" y="2391156"/>
            <a:ext cx="3108960" cy="173736"/>
          </a:xfrm>
          <a:prstGeom prst="rect">
            <a:avLst/>
          </a:prstGeom>
          <a:noFill/>
          <a:ln/>
        </p:spPr>
        <p:txBody>
          <a:bodyPr wrap="square" lIns="0" tIns="0" rIns="0" bIns="0" rtlCol="0" anchor="ctr"/>
          <a:lstStyle/>
          <a:p>
            <a:pPr indent="0" marL="0">
              <a:buNone/>
            </a:pPr>
            <a:r>
              <a:rPr lang="en-US" sz="800" dirty="0">
                <a:solidFill>
                  <a:srgbClr val="C678DD"/>
                </a:solidFill>
                <a:latin typeface="Consolas" pitchFamily="34" charset="0"/>
                <a:ea typeface="Consolas" pitchFamily="34" charset="-122"/>
                <a:cs typeface="Consolas" pitchFamily="34" charset="-120"/>
              </a:rPr>
              <a:t>Claude: 189 words | 1.87s</a:t>
            </a:r>
            <a:endParaRPr lang="en-US" sz="800" dirty="0"/>
          </a:p>
        </p:txBody>
      </p:sp>
      <p:sp>
        <p:nvSpPr>
          <p:cNvPr id="29" name="Text 27"/>
          <p:cNvSpPr/>
          <p:nvPr/>
        </p:nvSpPr>
        <p:spPr>
          <a:xfrm>
            <a:off x="5577840" y="2567635"/>
            <a:ext cx="3108960" cy="173736"/>
          </a:xfrm>
          <a:prstGeom prst="rect">
            <a:avLst/>
          </a:prstGeom>
          <a:noFill/>
          <a:ln/>
        </p:spPr>
        <p:txBody>
          <a:bodyPr wrap="square" lIns="0" tIns="0" rIns="0" bIns="0" rtlCol="0" anchor="ctr"/>
          <a:lstStyle/>
          <a:p>
            <a:pPr indent="0" marL="0">
              <a:buNone/>
            </a:pPr>
            <a:r>
              <a:rPr lang="en-US" sz="800" dirty="0">
                <a:solidFill>
                  <a:srgbClr val="E06C75"/>
                </a:solidFill>
                <a:latin typeface="Consolas" pitchFamily="34" charset="0"/>
                <a:ea typeface="Consolas" pitchFamily="34" charset="-122"/>
                <a:cs typeface="Consolas" pitchFamily="34" charset="-120"/>
              </a:rPr>
              <a:t>Gemini: 165 words | 1.44s</a:t>
            </a:r>
            <a:endParaRPr lang="en-US" sz="800" dirty="0"/>
          </a:p>
        </p:txBody>
      </p:sp>
      <p:sp>
        <p:nvSpPr>
          <p:cNvPr id="30" name="Text 28"/>
          <p:cNvSpPr/>
          <p:nvPr/>
        </p:nvSpPr>
        <p:spPr>
          <a:xfrm>
            <a:off x="5577840" y="2920594"/>
            <a:ext cx="3108960" cy="173736"/>
          </a:xfrm>
          <a:prstGeom prst="rect">
            <a:avLst/>
          </a:prstGeom>
          <a:noFill/>
          <a:ln/>
        </p:spPr>
        <p:txBody>
          <a:bodyPr wrap="square" lIns="0" tIns="0" rIns="0" bIns="0" rtlCol="0" anchor="ctr"/>
          <a:lstStyle/>
          <a:p>
            <a:pPr indent="0" marL="0">
              <a:buNone/>
            </a:pPr>
            <a:r>
              <a:rPr lang="en-US" sz="800" dirty="0">
                <a:solidFill>
                  <a:srgbClr val="ABB2BF"/>
                </a:solidFill>
                <a:latin typeface="Consolas" pitchFamily="34" charset="0"/>
                <a:ea typeface="Consolas" pitchFamily="34" charset="-122"/>
                <a:cs typeface="Consolas" pitchFamily="34" charset="-120"/>
              </a:rPr>
              <a:t>All 3 models explained:</a:t>
            </a:r>
            <a:endParaRPr lang="en-US" sz="800" dirty="0"/>
          </a:p>
        </p:txBody>
      </p:sp>
      <p:sp>
        <p:nvSpPr>
          <p:cNvPr id="31" name="Text 29"/>
          <p:cNvSpPr/>
          <p:nvPr/>
        </p:nvSpPr>
        <p:spPr>
          <a:xfrm>
            <a:off x="5577840" y="3097073"/>
            <a:ext cx="3108960" cy="173736"/>
          </a:xfrm>
          <a:prstGeom prst="rect">
            <a:avLst/>
          </a:prstGeom>
          <a:noFill/>
          <a:ln/>
        </p:spPr>
        <p:txBody>
          <a:bodyPr wrap="square" lIns="0" tIns="0" rIns="0" bIns="0" rtlCol="0" anchor="ctr"/>
          <a:lstStyle/>
          <a:p>
            <a:pPr indent="0" marL="0">
              <a:buNone/>
            </a:pPr>
            <a:r>
              <a:rPr lang="en-US" sz="800" dirty="0">
                <a:solidFill>
                  <a:srgbClr val="98C379"/>
                </a:solidFill>
                <a:latin typeface="Consolas" pitchFamily="34" charset="0"/>
                <a:ea typeface="Consolas" pitchFamily="34" charset="-122"/>
                <a:cs typeface="Consolas" pitchFamily="34" charset="-120"/>
              </a:rPr>
              <a:t>  ✓ Superposition</a:t>
            </a:r>
            <a:endParaRPr lang="en-US" sz="800" dirty="0"/>
          </a:p>
        </p:txBody>
      </p:sp>
      <p:sp>
        <p:nvSpPr>
          <p:cNvPr id="32" name="Text 30"/>
          <p:cNvSpPr/>
          <p:nvPr/>
        </p:nvSpPr>
        <p:spPr>
          <a:xfrm>
            <a:off x="5577840" y="3273552"/>
            <a:ext cx="3108960" cy="173736"/>
          </a:xfrm>
          <a:prstGeom prst="rect">
            <a:avLst/>
          </a:prstGeom>
          <a:noFill/>
          <a:ln/>
        </p:spPr>
        <p:txBody>
          <a:bodyPr wrap="square" lIns="0" tIns="0" rIns="0" bIns="0" rtlCol="0" anchor="ctr"/>
          <a:lstStyle/>
          <a:p>
            <a:pPr indent="0" marL="0">
              <a:buNone/>
            </a:pPr>
            <a:r>
              <a:rPr lang="en-US" sz="800" dirty="0">
                <a:solidFill>
                  <a:srgbClr val="98C379"/>
                </a:solidFill>
                <a:latin typeface="Consolas" pitchFamily="34" charset="0"/>
                <a:ea typeface="Consolas" pitchFamily="34" charset="-122"/>
                <a:cs typeface="Consolas" pitchFamily="34" charset="-120"/>
              </a:rPr>
              <a:t>  ✓ Entanglement</a:t>
            </a:r>
            <a:endParaRPr lang="en-US" sz="800" dirty="0"/>
          </a:p>
        </p:txBody>
      </p:sp>
      <p:sp>
        <p:nvSpPr>
          <p:cNvPr id="33" name="Text 31"/>
          <p:cNvSpPr/>
          <p:nvPr/>
        </p:nvSpPr>
        <p:spPr>
          <a:xfrm>
            <a:off x="5577840" y="3450031"/>
            <a:ext cx="3108960" cy="173736"/>
          </a:xfrm>
          <a:prstGeom prst="rect">
            <a:avLst/>
          </a:prstGeom>
          <a:noFill/>
          <a:ln/>
        </p:spPr>
        <p:txBody>
          <a:bodyPr wrap="square" lIns="0" tIns="0" rIns="0" bIns="0" rtlCol="0" anchor="ctr"/>
          <a:lstStyle/>
          <a:p>
            <a:pPr indent="0" marL="0">
              <a:buNone/>
            </a:pPr>
            <a:r>
              <a:rPr lang="en-US" sz="800" dirty="0">
                <a:solidFill>
                  <a:srgbClr val="98C379"/>
                </a:solidFill>
                <a:latin typeface="Consolas" pitchFamily="34" charset="0"/>
                <a:ea typeface="Consolas" pitchFamily="34" charset="-122"/>
                <a:cs typeface="Consolas" pitchFamily="34" charset="-120"/>
              </a:rPr>
              <a:t>  ✓ Qubits vs Bits</a:t>
            </a:r>
            <a:endParaRPr lang="en-US" sz="800" dirty="0"/>
          </a:p>
        </p:txBody>
      </p:sp>
      <p:sp>
        <p:nvSpPr>
          <p:cNvPr id="34" name="Text 32"/>
          <p:cNvSpPr/>
          <p:nvPr/>
        </p:nvSpPr>
        <p:spPr>
          <a:xfrm>
            <a:off x="5577840" y="3626510"/>
            <a:ext cx="3108960" cy="173736"/>
          </a:xfrm>
          <a:prstGeom prst="rect">
            <a:avLst/>
          </a:prstGeom>
          <a:noFill/>
          <a:ln/>
        </p:spPr>
        <p:txBody>
          <a:bodyPr wrap="square" lIns="0" tIns="0" rIns="0" bIns="0" rtlCol="0" anchor="ctr"/>
          <a:lstStyle/>
          <a:p>
            <a:pPr indent="0" marL="0">
              <a:buNone/>
            </a:pPr>
            <a:r>
              <a:rPr lang="en-US" sz="800" dirty="0">
                <a:solidFill>
                  <a:srgbClr val="E5C07B"/>
                </a:solidFill>
                <a:latin typeface="Consolas" pitchFamily="34" charset="0"/>
                <a:ea typeface="Consolas" pitchFamily="34" charset="-122"/>
                <a:cs typeface="Consolas" pitchFamily="34" charset="-120"/>
              </a:rPr>
              <a:t>Saved to ai_comparison.json</a:t>
            </a:r>
            <a:endParaRPr lang="en-US" sz="800" dirty="0"/>
          </a:p>
        </p:txBody>
      </p:sp>
      <p:sp>
        <p:nvSpPr>
          <p:cNvPr id="35" name="Text 33"/>
          <p:cNvSpPr/>
          <p:nvPr/>
        </p:nvSpPr>
        <p:spPr>
          <a:xfrm>
            <a:off x="274320" y="3950208"/>
            <a:ext cx="5029200" cy="274320"/>
          </a:xfrm>
          <a:prstGeom prst="rect">
            <a:avLst/>
          </a:prstGeom>
          <a:noFill/>
          <a:ln/>
        </p:spPr>
        <p:txBody>
          <a:bodyPr wrap="square" rtlCol="0" anchor="ctr"/>
          <a:lstStyle/>
          <a:p>
            <a:pPr indent="0" marL="0">
              <a:buNone/>
            </a:pPr>
            <a:r>
              <a:rPr lang="en-US" sz="1100" b="1" dirty="0">
                <a:solidFill>
                  <a:srgbClr val="0D1B2A"/>
                </a:solidFill>
              </a:rPr>
              <a:t>Response Word Count Comparison</a:t>
            </a:r>
            <a:endParaRPr lang="en-US" sz="1100" dirty="0"/>
          </a:p>
        </p:txBody>
      </p:sp>
      <p:graphicFrame>
        <p:nvGraphicFramePr>
          <p:cNvPr id="36" name="Chart 0" descr=""/>
          <p:cNvGraphicFramePr/>
          <p:nvPr/>
        </p:nvGraphicFramePr>
        <p:xfrm>
          <a:off x="274320" y="4224528"/>
          <a:ext cx="5029200" cy="685800"/>
        </p:xfrm>
        <a:graphic xmlns:a="http://schemas.openxmlformats.org/drawingml/2006/main">
          <a:graphicData uri="http://schemas.openxmlformats.org/drawingml/2006/chart">
            <c:chart xmlns:c="http://schemas.openxmlformats.org/drawingml/2006/chart" r:id="rId1"/>
          </a:graphicData>
        </a:graphic>
      </p:graphicFrame>
      <p:sp>
        <p:nvSpPr>
          <p:cNvPr id="37" name="Text 34"/>
          <p:cNvSpPr/>
          <p:nvPr/>
        </p:nvSpPr>
        <p:spPr>
          <a:xfrm>
            <a:off x="5486400" y="3950208"/>
            <a:ext cx="3383280" cy="274320"/>
          </a:xfrm>
          <a:prstGeom prst="rect">
            <a:avLst/>
          </a:prstGeom>
          <a:noFill/>
          <a:ln/>
        </p:spPr>
        <p:txBody>
          <a:bodyPr wrap="square" rtlCol="0" anchor="ctr"/>
          <a:lstStyle/>
          <a:p>
            <a:pPr indent="0" marL="0">
              <a:buNone/>
            </a:pPr>
            <a:r>
              <a:rPr lang="en-US" sz="1100" b="1" dirty="0">
                <a:solidFill>
                  <a:srgbClr val="0D1B2A"/>
                </a:solidFill>
              </a:rPr>
              <a:t>Latency (seconds)</a:t>
            </a:r>
            <a:endParaRPr lang="en-US" sz="1100" dirty="0"/>
          </a:p>
        </p:txBody>
      </p:sp>
      <p:graphicFrame>
        <p:nvGraphicFramePr>
          <p:cNvPr id="38" name="Chart 1" descr=""/>
          <p:cNvGraphicFramePr/>
          <p:nvPr/>
        </p:nvGraphicFramePr>
        <p:xfrm>
          <a:off x="5486400" y="4224528"/>
          <a:ext cx="3383280" cy="685800"/>
        </p:xfrm>
        <a:graphic xmlns:a="http://schemas.openxmlformats.org/drawingml/2006/main">
          <a:graphicData uri="http://schemas.openxmlformats.org/drawingml/2006/chart">
            <c:chart xmlns:c="http://schemas.openxmlformats.org/drawingml/2006/chart" r:id="rId2"/>
          </a:graphicData>
        </a:graphic>
      </p:graphicFrame>
      <p:sp>
        <p:nvSpPr>
          <p:cNvPr id="39" name="Shape 35"/>
          <p:cNvSpPr/>
          <p:nvPr/>
        </p:nvSpPr>
        <p:spPr>
          <a:xfrm>
            <a:off x="0" y="4983480"/>
            <a:ext cx="9144000" cy="160020"/>
          </a:xfrm>
          <a:prstGeom prst="rect">
            <a:avLst/>
          </a:prstGeom>
          <a:solidFill>
            <a:srgbClr val="0D1B2A"/>
          </a:solidFill>
          <a:ln w="12700">
            <a:solidFill>
              <a:srgbClr val="0D1B2A"/>
            </a:solidFill>
            <a:prstDash val="solid"/>
          </a:ln>
        </p:spPr>
      </p:sp>
      <p:sp>
        <p:nvSpPr>
          <p:cNvPr id="40" name="Text 36"/>
          <p:cNvSpPr/>
          <p:nvPr/>
        </p:nvSpPr>
        <p:spPr>
          <a:xfrm>
            <a:off x="274320" y="4983480"/>
            <a:ext cx="8595360" cy="160020"/>
          </a:xfrm>
          <a:prstGeom prst="rect">
            <a:avLst/>
          </a:prstGeom>
          <a:noFill/>
          <a:ln/>
        </p:spPr>
        <p:txBody>
          <a:bodyPr wrap="square" rtlCol="0" anchor="ctr"/>
          <a:lstStyle/>
          <a:p>
            <a:pPr indent="0" marL="0">
              <a:buNone/>
            </a:pPr>
            <a:r>
              <a:rPr lang="en-US" sz="900" dirty="0">
                <a:solidFill>
                  <a:srgbClr val="00B4D8"/>
                </a:solidFill>
              </a:rPr>
              <a:t>Ex.No.6 — Python Code with Multiple AI Tools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Shape 1"/>
          <p:cNvSpPr/>
          <p:nvPr/>
        </p:nvSpPr>
        <p:spPr>
          <a:xfrm>
            <a:off x="0" y="1005840"/>
            <a:ext cx="9144000" cy="54864"/>
          </a:xfrm>
          <a:prstGeom prst="rect">
            <a:avLst/>
          </a:prstGeom>
          <a:solidFill>
            <a:srgbClr val="7B1FA2"/>
          </a:solidFill>
          <a:ln w="12700">
            <a:solidFill>
              <a:srgbClr val="7B1FA2"/>
            </a:solidFill>
            <a:prstDash val="solid"/>
          </a:ln>
        </p:spPr>
      </p:sp>
      <p:sp>
        <p:nvSpPr>
          <p:cNvPr id="4" name="Text 2"/>
          <p:cNvSpPr/>
          <p:nvPr/>
        </p:nvSpPr>
        <p:spPr>
          <a:xfrm>
            <a:off x="365760" y="0"/>
            <a:ext cx="8412480" cy="10058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EXPLANATION — How the Code Works</a:t>
            </a:r>
            <a:endParaRPr lang="en-US" sz="2600" dirty="0"/>
          </a:p>
        </p:txBody>
      </p:sp>
      <p:sp>
        <p:nvSpPr>
          <p:cNvPr id="5" name="Text 3"/>
          <p:cNvSpPr/>
          <p:nvPr/>
        </p:nvSpPr>
        <p:spPr>
          <a:xfrm>
            <a:off x="8046720" y="0"/>
            <a:ext cx="914400" cy="1005840"/>
          </a:xfrm>
          <a:prstGeom prst="rect">
            <a:avLst/>
          </a:prstGeom>
          <a:noFill/>
          <a:ln/>
        </p:spPr>
        <p:txBody>
          <a:bodyPr wrap="square" rtlCol="0" anchor="ctr"/>
          <a:lstStyle/>
          <a:p>
            <a:pPr algn="r" indent="0" marL="0">
              <a:buNone/>
            </a:pPr>
            <a:r>
              <a:rPr lang="en-US" sz="1000" dirty="0">
                <a:solidFill>
                  <a:srgbClr val="00B4D8"/>
                </a:solidFill>
              </a:rPr>
              <a:t>Slide 07</a:t>
            </a:r>
            <a:endParaRPr lang="en-US" sz="1000" dirty="0"/>
          </a:p>
        </p:txBody>
      </p:sp>
      <p:sp>
        <p:nvSpPr>
          <p:cNvPr id="6" name="Shape 4"/>
          <p:cNvSpPr/>
          <p:nvPr/>
        </p:nvSpPr>
        <p:spPr>
          <a:xfrm>
            <a:off x="274320" y="1188720"/>
            <a:ext cx="4114800" cy="105156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1188720"/>
            <a:ext cx="658368" cy="1051560"/>
          </a:xfrm>
          <a:prstGeom prst="rect">
            <a:avLst/>
          </a:prstGeom>
          <a:solidFill>
            <a:srgbClr val="10A37F"/>
          </a:solidFill>
          <a:ln w="12700">
            <a:solidFill>
              <a:srgbClr val="10A37F"/>
            </a:solidFill>
            <a:prstDash val="solid"/>
          </a:ln>
        </p:spPr>
      </p:sp>
      <p:sp>
        <p:nvSpPr>
          <p:cNvPr id="8" name="Text 6"/>
          <p:cNvSpPr/>
          <p:nvPr/>
        </p:nvSpPr>
        <p:spPr>
          <a:xfrm>
            <a:off x="274320" y="1188720"/>
            <a:ext cx="658368" cy="1051560"/>
          </a:xfrm>
          <a:prstGeom prst="rect">
            <a:avLst/>
          </a:prstGeom>
          <a:noFill/>
          <a:ln/>
        </p:spPr>
        <p:txBody>
          <a:bodyPr wrap="square" lIns="0" tIns="0" rIns="0" bIns="0" rtlCol="0" anchor="ctr"/>
          <a:lstStyle/>
          <a:p>
            <a:pPr algn="ctr" indent="0" marL="0">
              <a:buNone/>
            </a:pPr>
            <a:r>
              <a:rPr lang="en-US" sz="2200" b="1" dirty="0">
                <a:solidFill>
                  <a:srgbClr val="FFFFFF"/>
                </a:solidFill>
              </a:rPr>
              <a:t>01</a:t>
            </a:r>
            <a:endParaRPr lang="en-US" sz="2200" dirty="0"/>
          </a:p>
        </p:txBody>
      </p:sp>
      <p:sp>
        <p:nvSpPr>
          <p:cNvPr id="9" name="Text 7"/>
          <p:cNvSpPr/>
          <p:nvPr/>
        </p:nvSpPr>
        <p:spPr>
          <a:xfrm>
            <a:off x="1005840" y="1261872"/>
            <a:ext cx="3246120" cy="292608"/>
          </a:xfrm>
          <a:prstGeom prst="rect">
            <a:avLst/>
          </a:prstGeom>
          <a:noFill/>
          <a:ln/>
        </p:spPr>
        <p:txBody>
          <a:bodyPr wrap="square" rtlCol="0" anchor="ctr"/>
          <a:lstStyle/>
          <a:p>
            <a:pPr indent="0" marL="0">
              <a:buNone/>
            </a:pPr>
            <a:r>
              <a:rPr lang="en-US" sz="1200" b="1" dirty="0">
                <a:solidFill>
                  <a:srgbClr val="0D1B2A"/>
                </a:solidFill>
              </a:rPr>
              <a:t>Library Installation</a:t>
            </a:r>
            <a:endParaRPr lang="en-US" sz="1200" dirty="0"/>
          </a:p>
        </p:txBody>
      </p:sp>
      <p:sp>
        <p:nvSpPr>
          <p:cNvPr id="10" name="Text 8"/>
          <p:cNvSpPr/>
          <p:nvPr/>
        </p:nvSpPr>
        <p:spPr>
          <a:xfrm>
            <a:off x="1005840" y="1554480"/>
            <a:ext cx="3246120" cy="621792"/>
          </a:xfrm>
          <a:prstGeom prst="rect">
            <a:avLst/>
          </a:prstGeom>
          <a:noFill/>
          <a:ln/>
        </p:spPr>
        <p:txBody>
          <a:bodyPr wrap="square" rtlCol="0" anchor="ctr"/>
          <a:lstStyle/>
          <a:p>
            <a:pPr indent="0" marL="0">
              <a:buNone/>
            </a:pPr>
            <a:r>
              <a:rPr lang="en-US" sz="1000" dirty="0">
                <a:solidFill>
                  <a:srgbClr val="546E7A"/>
                </a:solidFill>
              </a:rPr>
              <a:t>Install openai, anthropic, google-generativeai, and cohere via pip. Configure API keys as constants or environment variables.</a:t>
            </a:r>
            <a:endParaRPr lang="en-US" sz="1000" dirty="0"/>
          </a:p>
        </p:txBody>
      </p:sp>
      <p:sp>
        <p:nvSpPr>
          <p:cNvPr id="11" name="Shape 9"/>
          <p:cNvSpPr/>
          <p:nvPr/>
        </p:nvSpPr>
        <p:spPr>
          <a:xfrm>
            <a:off x="4754880" y="1188720"/>
            <a:ext cx="4114800" cy="105156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4754880" y="1188720"/>
            <a:ext cx="658368" cy="1051560"/>
          </a:xfrm>
          <a:prstGeom prst="rect">
            <a:avLst/>
          </a:prstGeom>
          <a:solidFill>
            <a:srgbClr val="7B46E0"/>
          </a:solidFill>
          <a:ln w="12700">
            <a:solidFill>
              <a:srgbClr val="7B46E0"/>
            </a:solidFill>
            <a:prstDash val="solid"/>
          </a:ln>
        </p:spPr>
      </p:sp>
      <p:sp>
        <p:nvSpPr>
          <p:cNvPr id="13" name="Text 11"/>
          <p:cNvSpPr/>
          <p:nvPr/>
        </p:nvSpPr>
        <p:spPr>
          <a:xfrm>
            <a:off x="4754880" y="1188720"/>
            <a:ext cx="658368" cy="1051560"/>
          </a:xfrm>
          <a:prstGeom prst="rect">
            <a:avLst/>
          </a:prstGeom>
          <a:noFill/>
          <a:ln/>
        </p:spPr>
        <p:txBody>
          <a:bodyPr wrap="square" lIns="0" tIns="0" rIns="0" bIns="0" rtlCol="0" anchor="ctr"/>
          <a:lstStyle/>
          <a:p>
            <a:pPr algn="ctr" indent="0" marL="0">
              <a:buNone/>
            </a:pPr>
            <a:r>
              <a:rPr lang="en-US" sz="2200" b="1" dirty="0">
                <a:solidFill>
                  <a:srgbClr val="FFFFFF"/>
                </a:solidFill>
              </a:rPr>
              <a:t>02</a:t>
            </a:r>
            <a:endParaRPr lang="en-US" sz="2200" dirty="0"/>
          </a:p>
        </p:txBody>
      </p:sp>
      <p:sp>
        <p:nvSpPr>
          <p:cNvPr id="14" name="Text 12"/>
          <p:cNvSpPr/>
          <p:nvPr/>
        </p:nvSpPr>
        <p:spPr>
          <a:xfrm>
            <a:off x="5486400" y="1261872"/>
            <a:ext cx="3246120" cy="292608"/>
          </a:xfrm>
          <a:prstGeom prst="rect">
            <a:avLst/>
          </a:prstGeom>
          <a:noFill/>
          <a:ln/>
        </p:spPr>
        <p:txBody>
          <a:bodyPr wrap="square" rtlCol="0" anchor="ctr"/>
          <a:lstStyle/>
          <a:p>
            <a:pPr indent="0" marL="0">
              <a:buNone/>
            </a:pPr>
            <a:r>
              <a:rPr lang="en-US" sz="1200" b="1" dirty="0">
                <a:solidFill>
                  <a:srgbClr val="0D1B2A"/>
                </a:solidFill>
              </a:rPr>
              <a:t>Individual Query Functions</a:t>
            </a:r>
            <a:endParaRPr lang="en-US" sz="1200" dirty="0"/>
          </a:p>
        </p:txBody>
      </p:sp>
      <p:sp>
        <p:nvSpPr>
          <p:cNvPr id="15" name="Text 13"/>
          <p:cNvSpPr/>
          <p:nvPr/>
        </p:nvSpPr>
        <p:spPr>
          <a:xfrm>
            <a:off x="5486400" y="1554480"/>
            <a:ext cx="3246120" cy="621792"/>
          </a:xfrm>
          <a:prstGeom prst="rect">
            <a:avLst/>
          </a:prstGeom>
          <a:noFill/>
          <a:ln/>
        </p:spPr>
        <p:txBody>
          <a:bodyPr wrap="square" rtlCol="0" anchor="ctr"/>
          <a:lstStyle/>
          <a:p>
            <a:pPr indent="0" marL="0">
              <a:buNone/>
            </a:pPr>
            <a:r>
              <a:rPr lang="en-US" sz="1000" dirty="0">
                <a:solidFill>
                  <a:srgbClr val="546E7A"/>
                </a:solidFill>
              </a:rPr>
              <a:t>Each AI has a dedicated function (query_openai, query_claude, query_gemini). Functions accept a prompt string and return the AI's text response.</a:t>
            </a:r>
            <a:endParaRPr lang="en-US" sz="1000" dirty="0"/>
          </a:p>
        </p:txBody>
      </p:sp>
      <p:sp>
        <p:nvSpPr>
          <p:cNvPr id="16" name="Shape 14"/>
          <p:cNvSpPr/>
          <p:nvPr/>
        </p:nvSpPr>
        <p:spPr>
          <a:xfrm>
            <a:off x="274320" y="2423160"/>
            <a:ext cx="4114800" cy="105156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274320" y="2423160"/>
            <a:ext cx="658368" cy="1051560"/>
          </a:xfrm>
          <a:prstGeom prst="rect">
            <a:avLst/>
          </a:prstGeom>
          <a:solidFill>
            <a:srgbClr val="1565C0"/>
          </a:solidFill>
          <a:ln w="12700">
            <a:solidFill>
              <a:srgbClr val="1565C0"/>
            </a:solidFill>
            <a:prstDash val="solid"/>
          </a:ln>
        </p:spPr>
      </p:sp>
      <p:sp>
        <p:nvSpPr>
          <p:cNvPr id="18" name="Text 16"/>
          <p:cNvSpPr/>
          <p:nvPr/>
        </p:nvSpPr>
        <p:spPr>
          <a:xfrm>
            <a:off x="274320" y="2423160"/>
            <a:ext cx="658368" cy="1051560"/>
          </a:xfrm>
          <a:prstGeom prst="rect">
            <a:avLst/>
          </a:prstGeom>
          <a:noFill/>
          <a:ln/>
        </p:spPr>
        <p:txBody>
          <a:bodyPr wrap="square" lIns="0" tIns="0" rIns="0" bIns="0" rtlCol="0" anchor="ctr"/>
          <a:lstStyle/>
          <a:p>
            <a:pPr algn="ctr" indent="0" marL="0">
              <a:buNone/>
            </a:pPr>
            <a:r>
              <a:rPr lang="en-US" sz="2200" b="1" dirty="0">
                <a:solidFill>
                  <a:srgbClr val="FFFFFF"/>
                </a:solidFill>
              </a:rPr>
              <a:t>03</a:t>
            </a:r>
            <a:endParaRPr lang="en-US" sz="2200" dirty="0"/>
          </a:p>
        </p:txBody>
      </p:sp>
      <p:sp>
        <p:nvSpPr>
          <p:cNvPr id="19" name="Text 17"/>
          <p:cNvSpPr/>
          <p:nvPr/>
        </p:nvSpPr>
        <p:spPr>
          <a:xfrm>
            <a:off x="1005840" y="2496312"/>
            <a:ext cx="3246120" cy="292608"/>
          </a:xfrm>
          <a:prstGeom prst="rect">
            <a:avLst/>
          </a:prstGeom>
          <a:noFill/>
          <a:ln/>
        </p:spPr>
        <p:txBody>
          <a:bodyPr wrap="square" rtlCol="0" anchor="ctr"/>
          <a:lstStyle/>
          <a:p>
            <a:pPr indent="0" marL="0">
              <a:buNone/>
            </a:pPr>
            <a:r>
              <a:rPr lang="en-US" sz="1200" b="1" dirty="0">
                <a:solidFill>
                  <a:srgbClr val="0D1B2A"/>
                </a:solidFill>
              </a:rPr>
              <a:t>Parallel Comparison</a:t>
            </a:r>
            <a:endParaRPr lang="en-US" sz="1200" dirty="0"/>
          </a:p>
        </p:txBody>
      </p:sp>
      <p:sp>
        <p:nvSpPr>
          <p:cNvPr id="20" name="Text 18"/>
          <p:cNvSpPr/>
          <p:nvPr/>
        </p:nvSpPr>
        <p:spPr>
          <a:xfrm>
            <a:off x="1005840" y="2788920"/>
            <a:ext cx="3246120" cy="621792"/>
          </a:xfrm>
          <a:prstGeom prst="rect">
            <a:avLst/>
          </a:prstGeom>
          <a:noFill/>
          <a:ln/>
        </p:spPr>
        <p:txBody>
          <a:bodyPr wrap="square" rtlCol="0" anchor="ctr"/>
          <a:lstStyle/>
          <a:p>
            <a:pPr indent="0" marL="0">
              <a:buNone/>
            </a:pPr>
            <a:r>
              <a:rPr lang="en-US" sz="1000" dirty="0">
                <a:solidFill>
                  <a:srgbClr val="546E7A"/>
                </a:solidFill>
              </a:rPr>
              <a:t>compare_responses() loops over all AI functions, records response text and measures latency using time.time() for each call.</a:t>
            </a:r>
            <a:endParaRPr lang="en-US" sz="1000" dirty="0"/>
          </a:p>
        </p:txBody>
      </p:sp>
      <p:sp>
        <p:nvSpPr>
          <p:cNvPr id="21" name="Shape 19"/>
          <p:cNvSpPr/>
          <p:nvPr/>
        </p:nvSpPr>
        <p:spPr>
          <a:xfrm>
            <a:off x="4754880" y="2423160"/>
            <a:ext cx="4114800" cy="105156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4754880" y="2423160"/>
            <a:ext cx="658368" cy="1051560"/>
          </a:xfrm>
          <a:prstGeom prst="rect">
            <a:avLst/>
          </a:prstGeom>
          <a:solidFill>
            <a:srgbClr val="E8562B"/>
          </a:solidFill>
          <a:ln w="12700">
            <a:solidFill>
              <a:srgbClr val="E8562B"/>
            </a:solidFill>
            <a:prstDash val="solid"/>
          </a:ln>
        </p:spPr>
      </p:sp>
      <p:sp>
        <p:nvSpPr>
          <p:cNvPr id="23" name="Text 21"/>
          <p:cNvSpPr/>
          <p:nvPr/>
        </p:nvSpPr>
        <p:spPr>
          <a:xfrm>
            <a:off x="4754880" y="2423160"/>
            <a:ext cx="658368" cy="1051560"/>
          </a:xfrm>
          <a:prstGeom prst="rect">
            <a:avLst/>
          </a:prstGeom>
          <a:noFill/>
          <a:ln/>
        </p:spPr>
        <p:txBody>
          <a:bodyPr wrap="square" lIns="0" tIns="0" rIns="0" bIns="0" rtlCol="0" anchor="ctr"/>
          <a:lstStyle/>
          <a:p>
            <a:pPr algn="ctr" indent="0" marL="0">
              <a:buNone/>
            </a:pPr>
            <a:r>
              <a:rPr lang="en-US" sz="2200" b="1" dirty="0">
                <a:solidFill>
                  <a:srgbClr val="FFFFFF"/>
                </a:solidFill>
              </a:rPr>
              <a:t>04</a:t>
            </a:r>
            <a:endParaRPr lang="en-US" sz="2200" dirty="0"/>
          </a:p>
        </p:txBody>
      </p:sp>
      <p:sp>
        <p:nvSpPr>
          <p:cNvPr id="24" name="Text 22"/>
          <p:cNvSpPr/>
          <p:nvPr/>
        </p:nvSpPr>
        <p:spPr>
          <a:xfrm>
            <a:off x="5486400" y="2496312"/>
            <a:ext cx="3246120" cy="292608"/>
          </a:xfrm>
          <a:prstGeom prst="rect">
            <a:avLst/>
          </a:prstGeom>
          <a:noFill/>
          <a:ln/>
        </p:spPr>
        <p:txBody>
          <a:bodyPr wrap="square" rtlCol="0" anchor="ctr"/>
          <a:lstStyle/>
          <a:p>
            <a:pPr indent="0" marL="0">
              <a:buNone/>
            </a:pPr>
            <a:r>
              <a:rPr lang="en-US" sz="1200" b="1" dirty="0">
                <a:solidFill>
                  <a:srgbClr val="0D1B2A"/>
                </a:solidFill>
              </a:rPr>
              <a:t>Insight Generation</a:t>
            </a:r>
            <a:endParaRPr lang="en-US" sz="1200" dirty="0"/>
          </a:p>
        </p:txBody>
      </p:sp>
      <p:sp>
        <p:nvSpPr>
          <p:cNvPr id="25" name="Text 23"/>
          <p:cNvSpPr/>
          <p:nvPr/>
        </p:nvSpPr>
        <p:spPr>
          <a:xfrm>
            <a:off x="5486400" y="2788920"/>
            <a:ext cx="3246120" cy="621792"/>
          </a:xfrm>
          <a:prstGeom prst="rect">
            <a:avLst/>
          </a:prstGeom>
          <a:noFill/>
          <a:ln/>
        </p:spPr>
        <p:txBody>
          <a:bodyPr wrap="square" rtlCol="0" anchor="ctr"/>
          <a:lstStyle/>
          <a:p>
            <a:pPr indent="0" marL="0">
              <a:buNone/>
            </a:pPr>
            <a:r>
              <a:rPr lang="en-US" sz="1000" dirty="0">
                <a:solidFill>
                  <a:srgbClr val="546E7A"/>
                </a:solidFill>
              </a:rPr>
              <a:t>generate_insights() computes word count, response length, and latency metrics. It prints a summary and previews each AI's answer.</a:t>
            </a:r>
            <a:endParaRPr lang="en-US" sz="1000" dirty="0"/>
          </a:p>
        </p:txBody>
      </p:sp>
      <p:sp>
        <p:nvSpPr>
          <p:cNvPr id="26" name="Shape 24"/>
          <p:cNvSpPr/>
          <p:nvPr/>
        </p:nvSpPr>
        <p:spPr>
          <a:xfrm>
            <a:off x="274320" y="3657600"/>
            <a:ext cx="4114800" cy="105156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274320" y="3657600"/>
            <a:ext cx="658368" cy="1051560"/>
          </a:xfrm>
          <a:prstGeom prst="rect">
            <a:avLst/>
          </a:prstGeom>
          <a:solidFill>
            <a:srgbClr val="00897B"/>
          </a:solidFill>
          <a:ln w="12700">
            <a:solidFill>
              <a:srgbClr val="00897B"/>
            </a:solidFill>
            <a:prstDash val="solid"/>
          </a:ln>
        </p:spPr>
      </p:sp>
      <p:sp>
        <p:nvSpPr>
          <p:cNvPr id="28" name="Text 26"/>
          <p:cNvSpPr/>
          <p:nvPr/>
        </p:nvSpPr>
        <p:spPr>
          <a:xfrm>
            <a:off x="274320" y="3657600"/>
            <a:ext cx="658368" cy="1051560"/>
          </a:xfrm>
          <a:prstGeom prst="rect">
            <a:avLst/>
          </a:prstGeom>
          <a:noFill/>
          <a:ln/>
        </p:spPr>
        <p:txBody>
          <a:bodyPr wrap="square" lIns="0" tIns="0" rIns="0" bIns="0" rtlCol="0" anchor="ctr"/>
          <a:lstStyle/>
          <a:p>
            <a:pPr algn="ctr" indent="0" marL="0">
              <a:buNone/>
            </a:pPr>
            <a:r>
              <a:rPr lang="en-US" sz="2200" b="1" dirty="0">
                <a:solidFill>
                  <a:srgbClr val="FFFFFF"/>
                </a:solidFill>
              </a:rPr>
              <a:t>05</a:t>
            </a:r>
            <a:endParaRPr lang="en-US" sz="2200" dirty="0"/>
          </a:p>
        </p:txBody>
      </p:sp>
      <p:sp>
        <p:nvSpPr>
          <p:cNvPr id="29" name="Text 27"/>
          <p:cNvSpPr/>
          <p:nvPr/>
        </p:nvSpPr>
        <p:spPr>
          <a:xfrm>
            <a:off x="1005840" y="3730752"/>
            <a:ext cx="3246120" cy="292608"/>
          </a:xfrm>
          <a:prstGeom prst="rect">
            <a:avLst/>
          </a:prstGeom>
          <a:noFill/>
          <a:ln/>
        </p:spPr>
        <p:txBody>
          <a:bodyPr wrap="square" rtlCol="0" anchor="ctr"/>
          <a:lstStyle/>
          <a:p>
            <a:pPr indent="0" marL="0">
              <a:buNone/>
            </a:pPr>
            <a:r>
              <a:rPr lang="en-US" sz="1200" b="1" dirty="0">
                <a:solidFill>
                  <a:srgbClr val="0D1B2A"/>
                </a:solidFill>
              </a:rPr>
              <a:t>Result Serialization</a:t>
            </a:r>
            <a:endParaRPr lang="en-US" sz="1200" dirty="0"/>
          </a:p>
        </p:txBody>
      </p:sp>
      <p:sp>
        <p:nvSpPr>
          <p:cNvPr id="30" name="Text 28"/>
          <p:cNvSpPr/>
          <p:nvPr/>
        </p:nvSpPr>
        <p:spPr>
          <a:xfrm>
            <a:off x="1005840" y="4023360"/>
            <a:ext cx="3246120" cy="621792"/>
          </a:xfrm>
          <a:prstGeom prst="rect">
            <a:avLst/>
          </a:prstGeom>
          <a:noFill/>
          <a:ln/>
        </p:spPr>
        <p:txBody>
          <a:bodyPr wrap="square" rtlCol="0" anchor="ctr"/>
          <a:lstStyle/>
          <a:p>
            <a:pPr indent="0" marL="0">
              <a:buNone/>
            </a:pPr>
            <a:r>
              <a:rPr lang="en-US" sz="1000" dirty="0">
                <a:solidFill>
                  <a:srgbClr val="546E7A"/>
                </a:solidFill>
              </a:rPr>
              <a:t>All responses are saved to ai_comparison.json for further analysis, dashboarding, or reporting purposes.</a:t>
            </a:r>
            <a:endParaRPr lang="en-US" sz="1000" dirty="0"/>
          </a:p>
        </p:txBody>
      </p:sp>
      <p:sp>
        <p:nvSpPr>
          <p:cNvPr id="31" name="Shape 29"/>
          <p:cNvSpPr/>
          <p:nvPr/>
        </p:nvSpPr>
        <p:spPr>
          <a:xfrm>
            <a:off x="4754880" y="3657600"/>
            <a:ext cx="4114800" cy="1051560"/>
          </a:xfrm>
          <a:prstGeom prst="rect">
            <a:avLst/>
          </a:prstGeom>
          <a:solidFill>
            <a:srgbClr val="ECEFF1"/>
          </a:solidFill>
          <a:ln w="12700">
            <a:solidFill>
              <a:srgbClr val="ECEFF1"/>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4754880" y="3657600"/>
            <a:ext cx="658368" cy="1051560"/>
          </a:xfrm>
          <a:prstGeom prst="rect">
            <a:avLst/>
          </a:prstGeom>
          <a:solidFill>
            <a:srgbClr val="7B1FA2"/>
          </a:solidFill>
          <a:ln w="12700">
            <a:solidFill>
              <a:srgbClr val="7B1FA2"/>
            </a:solidFill>
            <a:prstDash val="solid"/>
          </a:ln>
        </p:spPr>
      </p:sp>
      <p:sp>
        <p:nvSpPr>
          <p:cNvPr id="33" name="Text 31"/>
          <p:cNvSpPr/>
          <p:nvPr/>
        </p:nvSpPr>
        <p:spPr>
          <a:xfrm>
            <a:off x="4754880" y="3657600"/>
            <a:ext cx="658368" cy="1051560"/>
          </a:xfrm>
          <a:prstGeom prst="rect">
            <a:avLst/>
          </a:prstGeom>
          <a:noFill/>
          <a:ln/>
        </p:spPr>
        <p:txBody>
          <a:bodyPr wrap="square" lIns="0" tIns="0" rIns="0" bIns="0" rtlCol="0" anchor="ctr"/>
          <a:lstStyle/>
          <a:p>
            <a:pPr algn="ctr" indent="0" marL="0">
              <a:buNone/>
            </a:pPr>
            <a:r>
              <a:rPr lang="en-US" sz="2200" b="1" dirty="0">
                <a:solidFill>
                  <a:srgbClr val="FFFFFF"/>
                </a:solidFill>
              </a:rPr>
              <a:t>06</a:t>
            </a:r>
            <a:endParaRPr lang="en-US" sz="2200" dirty="0"/>
          </a:p>
        </p:txBody>
      </p:sp>
      <p:sp>
        <p:nvSpPr>
          <p:cNvPr id="34" name="Text 32"/>
          <p:cNvSpPr/>
          <p:nvPr/>
        </p:nvSpPr>
        <p:spPr>
          <a:xfrm>
            <a:off x="5486400" y="3730752"/>
            <a:ext cx="3246120" cy="292608"/>
          </a:xfrm>
          <a:prstGeom prst="rect">
            <a:avLst/>
          </a:prstGeom>
          <a:noFill/>
          <a:ln/>
        </p:spPr>
        <p:txBody>
          <a:bodyPr wrap="square" rtlCol="0" anchor="ctr"/>
          <a:lstStyle/>
          <a:p>
            <a:pPr indent="0" marL="0">
              <a:buNone/>
            </a:pPr>
            <a:r>
              <a:rPr lang="en-US" sz="1200" b="1" dirty="0">
                <a:solidFill>
                  <a:srgbClr val="0D1B2A"/>
                </a:solidFill>
              </a:rPr>
              <a:t>Analysis &amp; Visualization</a:t>
            </a:r>
            <a:endParaRPr lang="en-US" sz="1200" dirty="0"/>
          </a:p>
        </p:txBody>
      </p:sp>
      <p:sp>
        <p:nvSpPr>
          <p:cNvPr id="35" name="Text 33"/>
          <p:cNvSpPr/>
          <p:nvPr/>
        </p:nvSpPr>
        <p:spPr>
          <a:xfrm>
            <a:off x="5486400" y="4023360"/>
            <a:ext cx="3246120" cy="621792"/>
          </a:xfrm>
          <a:prstGeom prst="rect">
            <a:avLst/>
          </a:prstGeom>
          <a:noFill/>
          <a:ln/>
        </p:spPr>
        <p:txBody>
          <a:bodyPr wrap="square" rtlCol="0" anchor="ctr"/>
          <a:lstStyle/>
          <a:p>
            <a:pPr indent="0" marL="0">
              <a:buNone/>
            </a:pPr>
            <a:r>
              <a:rPr lang="en-US" sz="1000" dirty="0">
                <a:solidFill>
                  <a:srgbClr val="546E7A"/>
                </a:solidFill>
              </a:rPr>
              <a:t>Bar charts visualize word count and latency differences. This helps identify which AI is most verbose or fastest for a given task.</a:t>
            </a:r>
            <a:endParaRPr lang="en-US" sz="1000" dirty="0"/>
          </a:p>
        </p:txBody>
      </p:sp>
      <p:sp>
        <p:nvSpPr>
          <p:cNvPr id="36" name="Shape 34"/>
          <p:cNvSpPr/>
          <p:nvPr/>
        </p:nvSpPr>
        <p:spPr>
          <a:xfrm>
            <a:off x="0" y="4983480"/>
            <a:ext cx="9144000" cy="160020"/>
          </a:xfrm>
          <a:prstGeom prst="rect">
            <a:avLst/>
          </a:prstGeom>
          <a:solidFill>
            <a:srgbClr val="0D1B2A"/>
          </a:solidFill>
          <a:ln w="12700">
            <a:solidFill>
              <a:srgbClr val="0D1B2A"/>
            </a:solidFill>
            <a:prstDash val="solid"/>
          </a:ln>
        </p:spPr>
      </p:sp>
      <p:sp>
        <p:nvSpPr>
          <p:cNvPr id="37" name="Text 35"/>
          <p:cNvSpPr/>
          <p:nvPr/>
        </p:nvSpPr>
        <p:spPr>
          <a:xfrm>
            <a:off x="274320" y="4983480"/>
            <a:ext cx="8595360" cy="160020"/>
          </a:xfrm>
          <a:prstGeom prst="rect">
            <a:avLst/>
          </a:prstGeom>
          <a:noFill/>
          <a:ln/>
        </p:spPr>
        <p:txBody>
          <a:bodyPr wrap="square" rtlCol="0" anchor="ctr"/>
          <a:lstStyle/>
          <a:p>
            <a:pPr indent="0" marL="0">
              <a:buNone/>
            </a:pPr>
            <a:r>
              <a:rPr lang="en-US" sz="900" dirty="0">
                <a:solidFill>
                  <a:srgbClr val="00B4D8"/>
                </a:solidFill>
              </a:rPr>
              <a:t>Ex.No.6 — Python Code with Multiple AI Tools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Shape 1"/>
          <p:cNvSpPr/>
          <p:nvPr/>
        </p:nvSpPr>
        <p:spPr>
          <a:xfrm>
            <a:off x="0" y="1005840"/>
            <a:ext cx="9144000" cy="54864"/>
          </a:xfrm>
          <a:prstGeom prst="rect">
            <a:avLst/>
          </a:prstGeom>
          <a:solidFill>
            <a:srgbClr val="FFD600"/>
          </a:solidFill>
          <a:ln w="12700">
            <a:solidFill>
              <a:srgbClr val="FFD600"/>
            </a:solidFill>
            <a:prstDash val="solid"/>
          </a:ln>
        </p:spPr>
      </p:sp>
      <p:sp>
        <p:nvSpPr>
          <p:cNvPr id="4" name="Text 2"/>
          <p:cNvSpPr/>
          <p:nvPr/>
        </p:nvSpPr>
        <p:spPr>
          <a:xfrm>
            <a:off x="365760" y="0"/>
            <a:ext cx="8412480" cy="10058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OUTPUT ANALYSIS &amp; COMPARISON TABLE</a:t>
            </a:r>
            <a:endParaRPr lang="en-US" sz="2600" dirty="0"/>
          </a:p>
        </p:txBody>
      </p:sp>
      <p:sp>
        <p:nvSpPr>
          <p:cNvPr id="5" name="Text 3"/>
          <p:cNvSpPr/>
          <p:nvPr/>
        </p:nvSpPr>
        <p:spPr>
          <a:xfrm>
            <a:off x="8046720" y="0"/>
            <a:ext cx="914400" cy="1005840"/>
          </a:xfrm>
          <a:prstGeom prst="rect">
            <a:avLst/>
          </a:prstGeom>
          <a:noFill/>
          <a:ln/>
        </p:spPr>
        <p:txBody>
          <a:bodyPr wrap="square" rtlCol="0" anchor="ctr"/>
          <a:lstStyle/>
          <a:p>
            <a:pPr algn="r" indent="0" marL="0">
              <a:buNone/>
            </a:pPr>
            <a:r>
              <a:rPr lang="en-US" sz="1000" dirty="0">
                <a:solidFill>
                  <a:srgbClr val="00B4D8"/>
                </a:solidFill>
              </a:rPr>
              <a:t>Slide 08</a:t>
            </a:r>
            <a:endParaRPr lang="en-US" sz="1000" dirty="0"/>
          </a:p>
        </p:txBody>
      </p:sp>
      <p:sp>
        <p:nvSpPr>
          <p:cNvPr id="6" name="Shape 4"/>
          <p:cNvSpPr/>
          <p:nvPr/>
        </p:nvSpPr>
        <p:spPr>
          <a:xfrm>
            <a:off x="256032" y="1170432"/>
            <a:ext cx="1463040" cy="365760"/>
          </a:xfrm>
          <a:prstGeom prst="rect">
            <a:avLst/>
          </a:prstGeom>
          <a:solidFill>
            <a:srgbClr val="0D1B2A"/>
          </a:solidFill>
          <a:ln w="12700">
            <a:solidFill>
              <a:srgbClr val="0D1B2A"/>
            </a:solidFill>
            <a:prstDash val="solid"/>
          </a:ln>
        </p:spPr>
      </p:sp>
      <p:sp>
        <p:nvSpPr>
          <p:cNvPr id="7" name="Text 5"/>
          <p:cNvSpPr/>
          <p:nvPr/>
        </p:nvSpPr>
        <p:spPr>
          <a:xfrm>
            <a:off x="292608" y="1170432"/>
            <a:ext cx="1389888" cy="365760"/>
          </a:xfrm>
          <a:prstGeom prst="rect">
            <a:avLst/>
          </a:prstGeom>
          <a:noFill/>
          <a:ln/>
        </p:spPr>
        <p:txBody>
          <a:bodyPr wrap="square" lIns="0" tIns="0" rIns="0" bIns="0" rtlCol="0" anchor="ctr"/>
          <a:lstStyle/>
          <a:p>
            <a:pPr algn="ctr" indent="0" marL="0">
              <a:buNone/>
            </a:pPr>
            <a:r>
              <a:rPr lang="en-US" sz="1000" b="1" dirty="0">
                <a:solidFill>
                  <a:srgbClr val="FFFFFF"/>
                </a:solidFill>
              </a:rPr>
              <a:t>AI Model</a:t>
            </a:r>
            <a:endParaRPr lang="en-US" sz="1000" dirty="0"/>
          </a:p>
        </p:txBody>
      </p:sp>
      <p:sp>
        <p:nvSpPr>
          <p:cNvPr id="8" name="Shape 6"/>
          <p:cNvSpPr/>
          <p:nvPr/>
        </p:nvSpPr>
        <p:spPr>
          <a:xfrm>
            <a:off x="1719072" y="1170432"/>
            <a:ext cx="1188720" cy="365760"/>
          </a:xfrm>
          <a:prstGeom prst="rect">
            <a:avLst/>
          </a:prstGeom>
          <a:solidFill>
            <a:srgbClr val="0D1B2A"/>
          </a:solidFill>
          <a:ln w="12700">
            <a:solidFill>
              <a:srgbClr val="0D1B2A"/>
            </a:solidFill>
            <a:prstDash val="solid"/>
          </a:ln>
        </p:spPr>
      </p:sp>
      <p:sp>
        <p:nvSpPr>
          <p:cNvPr id="9" name="Text 7"/>
          <p:cNvSpPr/>
          <p:nvPr/>
        </p:nvSpPr>
        <p:spPr>
          <a:xfrm>
            <a:off x="1755648" y="117043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rPr>
              <a:t>Word Count</a:t>
            </a:r>
            <a:endParaRPr lang="en-US" sz="1000" dirty="0"/>
          </a:p>
        </p:txBody>
      </p:sp>
      <p:sp>
        <p:nvSpPr>
          <p:cNvPr id="10" name="Shape 8"/>
          <p:cNvSpPr/>
          <p:nvPr/>
        </p:nvSpPr>
        <p:spPr>
          <a:xfrm>
            <a:off x="2907792" y="1170432"/>
            <a:ext cx="1188720" cy="365760"/>
          </a:xfrm>
          <a:prstGeom prst="rect">
            <a:avLst/>
          </a:prstGeom>
          <a:solidFill>
            <a:srgbClr val="0D1B2A"/>
          </a:solidFill>
          <a:ln w="12700">
            <a:solidFill>
              <a:srgbClr val="0D1B2A"/>
            </a:solidFill>
            <a:prstDash val="solid"/>
          </a:ln>
        </p:spPr>
      </p:sp>
      <p:sp>
        <p:nvSpPr>
          <p:cNvPr id="11" name="Text 9"/>
          <p:cNvSpPr/>
          <p:nvPr/>
        </p:nvSpPr>
        <p:spPr>
          <a:xfrm>
            <a:off x="2944368" y="1170432"/>
            <a:ext cx="1115568" cy="365760"/>
          </a:xfrm>
          <a:prstGeom prst="rect">
            <a:avLst/>
          </a:prstGeom>
          <a:noFill/>
          <a:ln/>
        </p:spPr>
        <p:txBody>
          <a:bodyPr wrap="square" lIns="0" tIns="0" rIns="0" bIns="0" rtlCol="0" anchor="ctr"/>
          <a:lstStyle/>
          <a:p>
            <a:pPr algn="ctr" indent="0" marL="0">
              <a:buNone/>
            </a:pPr>
            <a:r>
              <a:rPr lang="en-US" sz="1000" b="1" dirty="0">
                <a:solidFill>
                  <a:srgbClr val="FFFFFF"/>
                </a:solidFill>
              </a:rPr>
              <a:t>Latency (s)</a:t>
            </a:r>
            <a:endParaRPr lang="en-US" sz="1000" dirty="0"/>
          </a:p>
        </p:txBody>
      </p:sp>
      <p:sp>
        <p:nvSpPr>
          <p:cNvPr id="12" name="Shape 10"/>
          <p:cNvSpPr/>
          <p:nvPr/>
        </p:nvSpPr>
        <p:spPr>
          <a:xfrm>
            <a:off x="4096512" y="1170432"/>
            <a:ext cx="1417320" cy="365760"/>
          </a:xfrm>
          <a:prstGeom prst="rect">
            <a:avLst/>
          </a:prstGeom>
          <a:solidFill>
            <a:srgbClr val="0D1B2A"/>
          </a:solidFill>
          <a:ln w="12700">
            <a:solidFill>
              <a:srgbClr val="0D1B2A"/>
            </a:solidFill>
            <a:prstDash val="solid"/>
          </a:ln>
        </p:spPr>
      </p:sp>
      <p:sp>
        <p:nvSpPr>
          <p:cNvPr id="13" name="Text 11"/>
          <p:cNvSpPr/>
          <p:nvPr/>
        </p:nvSpPr>
        <p:spPr>
          <a:xfrm>
            <a:off x="4133088" y="1170432"/>
            <a:ext cx="1344168" cy="365760"/>
          </a:xfrm>
          <a:prstGeom prst="rect">
            <a:avLst/>
          </a:prstGeom>
          <a:noFill/>
          <a:ln/>
        </p:spPr>
        <p:txBody>
          <a:bodyPr wrap="square" lIns="0" tIns="0" rIns="0" bIns="0" rtlCol="0" anchor="ctr"/>
          <a:lstStyle/>
          <a:p>
            <a:pPr algn="ctr" indent="0" marL="0">
              <a:buNone/>
            </a:pPr>
            <a:r>
              <a:rPr lang="en-US" sz="1000" b="1" dirty="0">
                <a:solidFill>
                  <a:srgbClr val="FFFFFF"/>
                </a:solidFill>
              </a:rPr>
              <a:t>Covers Superposition</a:t>
            </a:r>
            <a:endParaRPr lang="en-US" sz="1000" dirty="0"/>
          </a:p>
        </p:txBody>
      </p:sp>
      <p:sp>
        <p:nvSpPr>
          <p:cNvPr id="14" name="Shape 12"/>
          <p:cNvSpPr/>
          <p:nvPr/>
        </p:nvSpPr>
        <p:spPr>
          <a:xfrm>
            <a:off x="5513832" y="1170432"/>
            <a:ext cx="1143000" cy="365760"/>
          </a:xfrm>
          <a:prstGeom prst="rect">
            <a:avLst/>
          </a:prstGeom>
          <a:solidFill>
            <a:srgbClr val="0D1B2A"/>
          </a:solidFill>
          <a:ln w="12700">
            <a:solidFill>
              <a:srgbClr val="0D1B2A"/>
            </a:solidFill>
            <a:prstDash val="solid"/>
          </a:ln>
        </p:spPr>
      </p:sp>
      <p:sp>
        <p:nvSpPr>
          <p:cNvPr id="15" name="Text 13"/>
          <p:cNvSpPr/>
          <p:nvPr/>
        </p:nvSpPr>
        <p:spPr>
          <a:xfrm>
            <a:off x="5550408" y="1170432"/>
            <a:ext cx="1069848" cy="365760"/>
          </a:xfrm>
          <a:prstGeom prst="rect">
            <a:avLst/>
          </a:prstGeom>
          <a:noFill/>
          <a:ln/>
        </p:spPr>
        <p:txBody>
          <a:bodyPr wrap="square" lIns="0" tIns="0" rIns="0" bIns="0" rtlCol="0" anchor="ctr"/>
          <a:lstStyle/>
          <a:p>
            <a:pPr algn="ctr" indent="0" marL="0">
              <a:buNone/>
            </a:pPr>
            <a:r>
              <a:rPr lang="en-US" sz="1000" b="1" dirty="0">
                <a:solidFill>
                  <a:srgbClr val="FFFFFF"/>
                </a:solidFill>
              </a:rPr>
              <a:t>Covers Qubits</a:t>
            </a:r>
            <a:endParaRPr lang="en-US" sz="1000" dirty="0"/>
          </a:p>
        </p:txBody>
      </p:sp>
      <p:sp>
        <p:nvSpPr>
          <p:cNvPr id="16" name="Shape 14"/>
          <p:cNvSpPr/>
          <p:nvPr/>
        </p:nvSpPr>
        <p:spPr>
          <a:xfrm>
            <a:off x="6656832" y="1170432"/>
            <a:ext cx="1463040" cy="365760"/>
          </a:xfrm>
          <a:prstGeom prst="rect">
            <a:avLst/>
          </a:prstGeom>
          <a:solidFill>
            <a:srgbClr val="0D1B2A"/>
          </a:solidFill>
          <a:ln w="12700">
            <a:solidFill>
              <a:srgbClr val="0D1B2A"/>
            </a:solidFill>
            <a:prstDash val="solid"/>
          </a:ln>
        </p:spPr>
      </p:sp>
      <p:sp>
        <p:nvSpPr>
          <p:cNvPr id="17" name="Text 15"/>
          <p:cNvSpPr/>
          <p:nvPr/>
        </p:nvSpPr>
        <p:spPr>
          <a:xfrm>
            <a:off x="6693408" y="1170432"/>
            <a:ext cx="1389888" cy="365760"/>
          </a:xfrm>
          <a:prstGeom prst="rect">
            <a:avLst/>
          </a:prstGeom>
          <a:noFill/>
          <a:ln/>
        </p:spPr>
        <p:txBody>
          <a:bodyPr wrap="square" lIns="0" tIns="0" rIns="0" bIns="0" rtlCol="0" anchor="ctr"/>
          <a:lstStyle/>
          <a:p>
            <a:pPr algn="ctr" indent="0" marL="0">
              <a:buNone/>
            </a:pPr>
            <a:r>
              <a:rPr lang="en-US" sz="1000" b="1" dirty="0">
                <a:solidFill>
                  <a:srgbClr val="FFFFFF"/>
                </a:solidFill>
              </a:rPr>
              <a:t>Clarity Score</a:t>
            </a:r>
            <a:endParaRPr lang="en-US" sz="1000" dirty="0"/>
          </a:p>
        </p:txBody>
      </p:sp>
      <p:sp>
        <p:nvSpPr>
          <p:cNvPr id="18" name="Shape 16"/>
          <p:cNvSpPr/>
          <p:nvPr/>
        </p:nvSpPr>
        <p:spPr>
          <a:xfrm>
            <a:off x="256032" y="1536192"/>
            <a:ext cx="1463040" cy="402336"/>
          </a:xfrm>
          <a:prstGeom prst="rect">
            <a:avLst/>
          </a:prstGeom>
          <a:solidFill>
            <a:srgbClr val="10A37F"/>
          </a:solidFill>
          <a:ln w="12700">
            <a:solidFill>
              <a:srgbClr val="CFD8DC"/>
            </a:solidFill>
            <a:prstDash val="solid"/>
          </a:ln>
        </p:spPr>
      </p:sp>
      <p:sp>
        <p:nvSpPr>
          <p:cNvPr id="19" name="Text 17"/>
          <p:cNvSpPr/>
          <p:nvPr/>
        </p:nvSpPr>
        <p:spPr>
          <a:xfrm>
            <a:off x="292608" y="1536192"/>
            <a:ext cx="1389888" cy="402336"/>
          </a:xfrm>
          <a:prstGeom prst="rect">
            <a:avLst/>
          </a:prstGeom>
          <a:noFill/>
          <a:ln/>
        </p:spPr>
        <p:txBody>
          <a:bodyPr wrap="square" lIns="0" tIns="0" rIns="0" bIns="0" rtlCol="0" anchor="ctr"/>
          <a:lstStyle/>
          <a:p>
            <a:pPr algn="ctr" indent="0" marL="0">
              <a:buNone/>
            </a:pPr>
            <a:r>
              <a:rPr lang="en-US" sz="1050" b="1" dirty="0">
                <a:solidFill>
                  <a:srgbClr val="FFFFFF"/>
                </a:solidFill>
              </a:rPr>
              <a:t>OpenAI GPT-4</a:t>
            </a:r>
            <a:endParaRPr lang="en-US" sz="1050" dirty="0"/>
          </a:p>
        </p:txBody>
      </p:sp>
      <p:sp>
        <p:nvSpPr>
          <p:cNvPr id="20" name="Shape 18"/>
          <p:cNvSpPr/>
          <p:nvPr/>
        </p:nvSpPr>
        <p:spPr>
          <a:xfrm>
            <a:off x="1719072" y="1536192"/>
            <a:ext cx="1188720" cy="402336"/>
          </a:xfrm>
          <a:prstGeom prst="rect">
            <a:avLst/>
          </a:prstGeom>
          <a:solidFill>
            <a:srgbClr val="ECEFF1"/>
          </a:solidFill>
          <a:ln w="12700">
            <a:solidFill>
              <a:srgbClr val="CFD8DC"/>
            </a:solidFill>
            <a:prstDash val="solid"/>
          </a:ln>
        </p:spPr>
      </p:sp>
      <p:sp>
        <p:nvSpPr>
          <p:cNvPr id="21" name="Text 19"/>
          <p:cNvSpPr/>
          <p:nvPr/>
        </p:nvSpPr>
        <p:spPr>
          <a:xfrm>
            <a:off x="1755648" y="1536192"/>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142</a:t>
            </a:r>
            <a:endParaRPr lang="en-US" sz="1050" dirty="0"/>
          </a:p>
        </p:txBody>
      </p:sp>
      <p:sp>
        <p:nvSpPr>
          <p:cNvPr id="22" name="Shape 20"/>
          <p:cNvSpPr/>
          <p:nvPr/>
        </p:nvSpPr>
        <p:spPr>
          <a:xfrm>
            <a:off x="2907792" y="1536192"/>
            <a:ext cx="1188720" cy="402336"/>
          </a:xfrm>
          <a:prstGeom prst="rect">
            <a:avLst/>
          </a:prstGeom>
          <a:solidFill>
            <a:srgbClr val="ECEFF1"/>
          </a:solidFill>
          <a:ln w="12700">
            <a:solidFill>
              <a:srgbClr val="CFD8DC"/>
            </a:solidFill>
            <a:prstDash val="solid"/>
          </a:ln>
        </p:spPr>
      </p:sp>
      <p:sp>
        <p:nvSpPr>
          <p:cNvPr id="23" name="Text 21"/>
          <p:cNvSpPr/>
          <p:nvPr/>
        </p:nvSpPr>
        <p:spPr>
          <a:xfrm>
            <a:off x="2944368" y="1536192"/>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1.23s</a:t>
            </a:r>
            <a:endParaRPr lang="en-US" sz="1050" dirty="0"/>
          </a:p>
        </p:txBody>
      </p:sp>
      <p:sp>
        <p:nvSpPr>
          <p:cNvPr id="24" name="Shape 22"/>
          <p:cNvSpPr/>
          <p:nvPr/>
        </p:nvSpPr>
        <p:spPr>
          <a:xfrm>
            <a:off x="4096512" y="1536192"/>
            <a:ext cx="1417320" cy="402336"/>
          </a:xfrm>
          <a:prstGeom prst="rect">
            <a:avLst/>
          </a:prstGeom>
          <a:solidFill>
            <a:srgbClr val="ECEFF1"/>
          </a:solidFill>
          <a:ln w="12700">
            <a:solidFill>
              <a:srgbClr val="CFD8DC"/>
            </a:solidFill>
            <a:prstDash val="solid"/>
          </a:ln>
        </p:spPr>
      </p:sp>
      <p:sp>
        <p:nvSpPr>
          <p:cNvPr id="25" name="Text 23"/>
          <p:cNvSpPr/>
          <p:nvPr/>
        </p:nvSpPr>
        <p:spPr>
          <a:xfrm>
            <a:off x="4133088" y="1536192"/>
            <a:ext cx="1344168" cy="402336"/>
          </a:xfrm>
          <a:prstGeom prst="rect">
            <a:avLst/>
          </a:prstGeom>
          <a:noFill/>
          <a:ln/>
        </p:spPr>
        <p:txBody>
          <a:bodyPr wrap="square" lIns="0" tIns="0" rIns="0" bIns="0" rtlCol="0" anchor="ctr"/>
          <a:lstStyle/>
          <a:p>
            <a:pPr algn="ctr" indent="0" marL="0">
              <a:buNone/>
            </a:pPr>
            <a:r>
              <a:rPr lang="en-US" sz="1050" dirty="0">
                <a:solidFill>
                  <a:srgbClr val="0D1B2A"/>
                </a:solidFill>
              </a:rPr>
              <a:t>✓ Yes</a:t>
            </a:r>
            <a:endParaRPr lang="en-US" sz="1050" dirty="0"/>
          </a:p>
        </p:txBody>
      </p:sp>
      <p:sp>
        <p:nvSpPr>
          <p:cNvPr id="26" name="Shape 24"/>
          <p:cNvSpPr/>
          <p:nvPr/>
        </p:nvSpPr>
        <p:spPr>
          <a:xfrm>
            <a:off x="5513832" y="1536192"/>
            <a:ext cx="1143000" cy="402336"/>
          </a:xfrm>
          <a:prstGeom prst="rect">
            <a:avLst/>
          </a:prstGeom>
          <a:solidFill>
            <a:srgbClr val="ECEFF1"/>
          </a:solidFill>
          <a:ln w="12700">
            <a:solidFill>
              <a:srgbClr val="CFD8DC"/>
            </a:solidFill>
            <a:prstDash val="solid"/>
          </a:ln>
        </p:spPr>
      </p:sp>
      <p:sp>
        <p:nvSpPr>
          <p:cNvPr id="27" name="Text 25"/>
          <p:cNvSpPr/>
          <p:nvPr/>
        </p:nvSpPr>
        <p:spPr>
          <a:xfrm>
            <a:off x="5550408" y="1536192"/>
            <a:ext cx="1069848" cy="402336"/>
          </a:xfrm>
          <a:prstGeom prst="rect">
            <a:avLst/>
          </a:prstGeom>
          <a:noFill/>
          <a:ln/>
        </p:spPr>
        <p:txBody>
          <a:bodyPr wrap="square" lIns="0" tIns="0" rIns="0" bIns="0" rtlCol="0" anchor="ctr"/>
          <a:lstStyle/>
          <a:p>
            <a:pPr algn="ctr" indent="0" marL="0">
              <a:buNone/>
            </a:pPr>
            <a:r>
              <a:rPr lang="en-US" sz="1050" dirty="0">
                <a:solidFill>
                  <a:srgbClr val="0D1B2A"/>
                </a:solidFill>
              </a:rPr>
              <a:t>✓ Yes</a:t>
            </a:r>
            <a:endParaRPr lang="en-US" sz="1050" dirty="0"/>
          </a:p>
        </p:txBody>
      </p:sp>
      <p:sp>
        <p:nvSpPr>
          <p:cNvPr id="28" name="Shape 26"/>
          <p:cNvSpPr/>
          <p:nvPr/>
        </p:nvSpPr>
        <p:spPr>
          <a:xfrm>
            <a:off x="6656832" y="1536192"/>
            <a:ext cx="1463040" cy="402336"/>
          </a:xfrm>
          <a:prstGeom prst="rect">
            <a:avLst/>
          </a:prstGeom>
          <a:solidFill>
            <a:srgbClr val="ECEFF1"/>
          </a:solidFill>
          <a:ln w="12700">
            <a:solidFill>
              <a:srgbClr val="CFD8DC"/>
            </a:solidFill>
            <a:prstDash val="solid"/>
          </a:ln>
        </p:spPr>
      </p:sp>
      <p:sp>
        <p:nvSpPr>
          <p:cNvPr id="29" name="Text 27"/>
          <p:cNvSpPr/>
          <p:nvPr/>
        </p:nvSpPr>
        <p:spPr>
          <a:xfrm>
            <a:off x="6693408" y="1536192"/>
            <a:ext cx="1389888" cy="402336"/>
          </a:xfrm>
          <a:prstGeom prst="rect">
            <a:avLst/>
          </a:prstGeom>
          <a:noFill/>
          <a:ln/>
        </p:spPr>
        <p:txBody>
          <a:bodyPr wrap="square" lIns="0" tIns="0" rIns="0" bIns="0" rtlCol="0" anchor="ctr"/>
          <a:lstStyle/>
          <a:p>
            <a:pPr algn="ctr" indent="0" marL="0">
              <a:buNone/>
            </a:pPr>
            <a:r>
              <a:rPr lang="en-US" sz="1050" dirty="0">
                <a:solidFill>
                  <a:srgbClr val="0D1B2A"/>
                </a:solidFill>
              </a:rPr>
              <a:t>8.5 / 10</a:t>
            </a:r>
            <a:endParaRPr lang="en-US" sz="1050" dirty="0"/>
          </a:p>
        </p:txBody>
      </p:sp>
      <p:sp>
        <p:nvSpPr>
          <p:cNvPr id="30" name="Shape 28"/>
          <p:cNvSpPr/>
          <p:nvPr/>
        </p:nvSpPr>
        <p:spPr>
          <a:xfrm>
            <a:off x="256032" y="1975104"/>
            <a:ext cx="1463040" cy="402336"/>
          </a:xfrm>
          <a:prstGeom prst="rect">
            <a:avLst/>
          </a:prstGeom>
          <a:solidFill>
            <a:srgbClr val="7B46E0"/>
          </a:solidFill>
          <a:ln w="12700">
            <a:solidFill>
              <a:srgbClr val="CFD8DC"/>
            </a:solidFill>
            <a:prstDash val="solid"/>
          </a:ln>
        </p:spPr>
      </p:sp>
      <p:sp>
        <p:nvSpPr>
          <p:cNvPr id="31" name="Text 29"/>
          <p:cNvSpPr/>
          <p:nvPr/>
        </p:nvSpPr>
        <p:spPr>
          <a:xfrm>
            <a:off x="292608" y="1975104"/>
            <a:ext cx="1389888" cy="402336"/>
          </a:xfrm>
          <a:prstGeom prst="rect">
            <a:avLst/>
          </a:prstGeom>
          <a:noFill/>
          <a:ln/>
        </p:spPr>
        <p:txBody>
          <a:bodyPr wrap="square" lIns="0" tIns="0" rIns="0" bIns="0" rtlCol="0" anchor="ctr"/>
          <a:lstStyle/>
          <a:p>
            <a:pPr algn="ctr" indent="0" marL="0">
              <a:buNone/>
            </a:pPr>
            <a:r>
              <a:rPr lang="en-US" sz="1050" b="1" dirty="0">
                <a:solidFill>
                  <a:srgbClr val="FFFFFF"/>
                </a:solidFill>
              </a:rPr>
              <a:t>Anthropic Claude</a:t>
            </a:r>
            <a:endParaRPr lang="en-US" sz="1050" dirty="0"/>
          </a:p>
        </p:txBody>
      </p:sp>
      <p:sp>
        <p:nvSpPr>
          <p:cNvPr id="32" name="Shape 30"/>
          <p:cNvSpPr/>
          <p:nvPr/>
        </p:nvSpPr>
        <p:spPr>
          <a:xfrm>
            <a:off x="1719072" y="1975104"/>
            <a:ext cx="1188720" cy="402336"/>
          </a:xfrm>
          <a:prstGeom prst="rect">
            <a:avLst/>
          </a:prstGeom>
          <a:solidFill>
            <a:srgbClr val="FFFFFF"/>
          </a:solidFill>
          <a:ln w="12700">
            <a:solidFill>
              <a:srgbClr val="CFD8DC"/>
            </a:solidFill>
            <a:prstDash val="solid"/>
          </a:ln>
        </p:spPr>
      </p:sp>
      <p:sp>
        <p:nvSpPr>
          <p:cNvPr id="33" name="Text 31"/>
          <p:cNvSpPr/>
          <p:nvPr/>
        </p:nvSpPr>
        <p:spPr>
          <a:xfrm>
            <a:off x="1755648" y="1975104"/>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189</a:t>
            </a:r>
            <a:endParaRPr lang="en-US" sz="1050" dirty="0"/>
          </a:p>
        </p:txBody>
      </p:sp>
      <p:sp>
        <p:nvSpPr>
          <p:cNvPr id="34" name="Shape 32"/>
          <p:cNvSpPr/>
          <p:nvPr/>
        </p:nvSpPr>
        <p:spPr>
          <a:xfrm>
            <a:off x="2907792" y="1975104"/>
            <a:ext cx="1188720" cy="402336"/>
          </a:xfrm>
          <a:prstGeom prst="rect">
            <a:avLst/>
          </a:prstGeom>
          <a:solidFill>
            <a:srgbClr val="FFFFFF"/>
          </a:solidFill>
          <a:ln w="12700">
            <a:solidFill>
              <a:srgbClr val="CFD8DC"/>
            </a:solidFill>
            <a:prstDash val="solid"/>
          </a:ln>
        </p:spPr>
      </p:sp>
      <p:sp>
        <p:nvSpPr>
          <p:cNvPr id="35" name="Text 33"/>
          <p:cNvSpPr/>
          <p:nvPr/>
        </p:nvSpPr>
        <p:spPr>
          <a:xfrm>
            <a:off x="2944368" y="1975104"/>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1.87s</a:t>
            </a:r>
            <a:endParaRPr lang="en-US" sz="1050" dirty="0"/>
          </a:p>
        </p:txBody>
      </p:sp>
      <p:sp>
        <p:nvSpPr>
          <p:cNvPr id="36" name="Shape 34"/>
          <p:cNvSpPr/>
          <p:nvPr/>
        </p:nvSpPr>
        <p:spPr>
          <a:xfrm>
            <a:off x="4096512" y="1975104"/>
            <a:ext cx="1417320" cy="402336"/>
          </a:xfrm>
          <a:prstGeom prst="rect">
            <a:avLst/>
          </a:prstGeom>
          <a:solidFill>
            <a:srgbClr val="FFFFFF"/>
          </a:solidFill>
          <a:ln w="12700">
            <a:solidFill>
              <a:srgbClr val="CFD8DC"/>
            </a:solidFill>
            <a:prstDash val="solid"/>
          </a:ln>
        </p:spPr>
      </p:sp>
      <p:sp>
        <p:nvSpPr>
          <p:cNvPr id="37" name="Text 35"/>
          <p:cNvSpPr/>
          <p:nvPr/>
        </p:nvSpPr>
        <p:spPr>
          <a:xfrm>
            <a:off x="4133088" y="1975104"/>
            <a:ext cx="1344168" cy="402336"/>
          </a:xfrm>
          <a:prstGeom prst="rect">
            <a:avLst/>
          </a:prstGeom>
          <a:noFill/>
          <a:ln/>
        </p:spPr>
        <p:txBody>
          <a:bodyPr wrap="square" lIns="0" tIns="0" rIns="0" bIns="0" rtlCol="0" anchor="ctr"/>
          <a:lstStyle/>
          <a:p>
            <a:pPr algn="ctr" indent="0" marL="0">
              <a:buNone/>
            </a:pPr>
            <a:r>
              <a:rPr lang="en-US" sz="1050" dirty="0">
                <a:solidFill>
                  <a:srgbClr val="0D1B2A"/>
                </a:solidFill>
              </a:rPr>
              <a:t>✓ Yes</a:t>
            </a:r>
            <a:endParaRPr lang="en-US" sz="1050" dirty="0"/>
          </a:p>
        </p:txBody>
      </p:sp>
      <p:sp>
        <p:nvSpPr>
          <p:cNvPr id="38" name="Shape 36"/>
          <p:cNvSpPr/>
          <p:nvPr/>
        </p:nvSpPr>
        <p:spPr>
          <a:xfrm>
            <a:off x="5513832" y="1975104"/>
            <a:ext cx="1143000" cy="402336"/>
          </a:xfrm>
          <a:prstGeom prst="rect">
            <a:avLst/>
          </a:prstGeom>
          <a:solidFill>
            <a:srgbClr val="FFFFFF"/>
          </a:solidFill>
          <a:ln w="12700">
            <a:solidFill>
              <a:srgbClr val="CFD8DC"/>
            </a:solidFill>
            <a:prstDash val="solid"/>
          </a:ln>
        </p:spPr>
      </p:sp>
      <p:sp>
        <p:nvSpPr>
          <p:cNvPr id="39" name="Text 37"/>
          <p:cNvSpPr/>
          <p:nvPr/>
        </p:nvSpPr>
        <p:spPr>
          <a:xfrm>
            <a:off x="5550408" y="1975104"/>
            <a:ext cx="1069848" cy="402336"/>
          </a:xfrm>
          <a:prstGeom prst="rect">
            <a:avLst/>
          </a:prstGeom>
          <a:noFill/>
          <a:ln/>
        </p:spPr>
        <p:txBody>
          <a:bodyPr wrap="square" lIns="0" tIns="0" rIns="0" bIns="0" rtlCol="0" anchor="ctr"/>
          <a:lstStyle/>
          <a:p>
            <a:pPr algn="ctr" indent="0" marL="0">
              <a:buNone/>
            </a:pPr>
            <a:r>
              <a:rPr lang="en-US" sz="1050" dirty="0">
                <a:solidFill>
                  <a:srgbClr val="0D1B2A"/>
                </a:solidFill>
              </a:rPr>
              <a:t>✓ Yes</a:t>
            </a:r>
            <a:endParaRPr lang="en-US" sz="1050" dirty="0"/>
          </a:p>
        </p:txBody>
      </p:sp>
      <p:sp>
        <p:nvSpPr>
          <p:cNvPr id="40" name="Shape 38"/>
          <p:cNvSpPr/>
          <p:nvPr/>
        </p:nvSpPr>
        <p:spPr>
          <a:xfrm>
            <a:off x="6656832" y="1975104"/>
            <a:ext cx="1463040" cy="402336"/>
          </a:xfrm>
          <a:prstGeom prst="rect">
            <a:avLst/>
          </a:prstGeom>
          <a:solidFill>
            <a:srgbClr val="FFFFFF"/>
          </a:solidFill>
          <a:ln w="12700">
            <a:solidFill>
              <a:srgbClr val="CFD8DC"/>
            </a:solidFill>
            <a:prstDash val="solid"/>
          </a:ln>
        </p:spPr>
      </p:sp>
      <p:sp>
        <p:nvSpPr>
          <p:cNvPr id="41" name="Text 39"/>
          <p:cNvSpPr/>
          <p:nvPr/>
        </p:nvSpPr>
        <p:spPr>
          <a:xfrm>
            <a:off x="6693408" y="1975104"/>
            <a:ext cx="1389888" cy="402336"/>
          </a:xfrm>
          <a:prstGeom prst="rect">
            <a:avLst/>
          </a:prstGeom>
          <a:noFill/>
          <a:ln/>
        </p:spPr>
        <p:txBody>
          <a:bodyPr wrap="square" lIns="0" tIns="0" rIns="0" bIns="0" rtlCol="0" anchor="ctr"/>
          <a:lstStyle/>
          <a:p>
            <a:pPr algn="ctr" indent="0" marL="0">
              <a:buNone/>
            </a:pPr>
            <a:r>
              <a:rPr lang="en-US" sz="1050" dirty="0">
                <a:solidFill>
                  <a:srgbClr val="0D1B2A"/>
                </a:solidFill>
              </a:rPr>
              <a:t>9.0 / 10</a:t>
            </a:r>
            <a:endParaRPr lang="en-US" sz="1050" dirty="0"/>
          </a:p>
        </p:txBody>
      </p:sp>
      <p:sp>
        <p:nvSpPr>
          <p:cNvPr id="42" name="Shape 40"/>
          <p:cNvSpPr/>
          <p:nvPr/>
        </p:nvSpPr>
        <p:spPr>
          <a:xfrm>
            <a:off x="256032" y="2414016"/>
            <a:ext cx="1463040" cy="402336"/>
          </a:xfrm>
          <a:prstGeom prst="rect">
            <a:avLst/>
          </a:prstGeom>
          <a:solidFill>
            <a:srgbClr val="1A73E8"/>
          </a:solidFill>
          <a:ln w="12700">
            <a:solidFill>
              <a:srgbClr val="CFD8DC"/>
            </a:solidFill>
            <a:prstDash val="solid"/>
          </a:ln>
        </p:spPr>
      </p:sp>
      <p:sp>
        <p:nvSpPr>
          <p:cNvPr id="43" name="Text 41"/>
          <p:cNvSpPr/>
          <p:nvPr/>
        </p:nvSpPr>
        <p:spPr>
          <a:xfrm>
            <a:off x="292608" y="2414016"/>
            <a:ext cx="1389888" cy="402336"/>
          </a:xfrm>
          <a:prstGeom prst="rect">
            <a:avLst/>
          </a:prstGeom>
          <a:noFill/>
          <a:ln/>
        </p:spPr>
        <p:txBody>
          <a:bodyPr wrap="square" lIns="0" tIns="0" rIns="0" bIns="0" rtlCol="0" anchor="ctr"/>
          <a:lstStyle/>
          <a:p>
            <a:pPr algn="ctr" indent="0" marL="0">
              <a:buNone/>
            </a:pPr>
            <a:r>
              <a:rPr lang="en-US" sz="1050" b="1" dirty="0">
                <a:solidFill>
                  <a:srgbClr val="FFFFFF"/>
                </a:solidFill>
              </a:rPr>
              <a:t>Google Gemini</a:t>
            </a:r>
            <a:endParaRPr lang="en-US" sz="1050" dirty="0"/>
          </a:p>
        </p:txBody>
      </p:sp>
      <p:sp>
        <p:nvSpPr>
          <p:cNvPr id="44" name="Shape 42"/>
          <p:cNvSpPr/>
          <p:nvPr/>
        </p:nvSpPr>
        <p:spPr>
          <a:xfrm>
            <a:off x="1719072" y="2414016"/>
            <a:ext cx="1188720" cy="402336"/>
          </a:xfrm>
          <a:prstGeom prst="rect">
            <a:avLst/>
          </a:prstGeom>
          <a:solidFill>
            <a:srgbClr val="ECEFF1"/>
          </a:solidFill>
          <a:ln w="12700">
            <a:solidFill>
              <a:srgbClr val="CFD8DC"/>
            </a:solidFill>
            <a:prstDash val="solid"/>
          </a:ln>
        </p:spPr>
      </p:sp>
      <p:sp>
        <p:nvSpPr>
          <p:cNvPr id="45" name="Text 43"/>
          <p:cNvSpPr/>
          <p:nvPr/>
        </p:nvSpPr>
        <p:spPr>
          <a:xfrm>
            <a:off x="1755648" y="2414016"/>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165</a:t>
            </a:r>
            <a:endParaRPr lang="en-US" sz="1050" dirty="0"/>
          </a:p>
        </p:txBody>
      </p:sp>
      <p:sp>
        <p:nvSpPr>
          <p:cNvPr id="46" name="Shape 44"/>
          <p:cNvSpPr/>
          <p:nvPr/>
        </p:nvSpPr>
        <p:spPr>
          <a:xfrm>
            <a:off x="2907792" y="2414016"/>
            <a:ext cx="1188720" cy="402336"/>
          </a:xfrm>
          <a:prstGeom prst="rect">
            <a:avLst/>
          </a:prstGeom>
          <a:solidFill>
            <a:srgbClr val="ECEFF1"/>
          </a:solidFill>
          <a:ln w="12700">
            <a:solidFill>
              <a:srgbClr val="CFD8DC"/>
            </a:solidFill>
            <a:prstDash val="solid"/>
          </a:ln>
        </p:spPr>
      </p:sp>
      <p:sp>
        <p:nvSpPr>
          <p:cNvPr id="47" name="Text 45"/>
          <p:cNvSpPr/>
          <p:nvPr/>
        </p:nvSpPr>
        <p:spPr>
          <a:xfrm>
            <a:off x="2944368" y="2414016"/>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1.44s</a:t>
            </a:r>
            <a:endParaRPr lang="en-US" sz="1050" dirty="0"/>
          </a:p>
        </p:txBody>
      </p:sp>
      <p:sp>
        <p:nvSpPr>
          <p:cNvPr id="48" name="Shape 46"/>
          <p:cNvSpPr/>
          <p:nvPr/>
        </p:nvSpPr>
        <p:spPr>
          <a:xfrm>
            <a:off x="4096512" y="2414016"/>
            <a:ext cx="1417320" cy="402336"/>
          </a:xfrm>
          <a:prstGeom prst="rect">
            <a:avLst/>
          </a:prstGeom>
          <a:solidFill>
            <a:srgbClr val="ECEFF1"/>
          </a:solidFill>
          <a:ln w="12700">
            <a:solidFill>
              <a:srgbClr val="CFD8DC"/>
            </a:solidFill>
            <a:prstDash val="solid"/>
          </a:ln>
        </p:spPr>
      </p:sp>
      <p:sp>
        <p:nvSpPr>
          <p:cNvPr id="49" name="Text 47"/>
          <p:cNvSpPr/>
          <p:nvPr/>
        </p:nvSpPr>
        <p:spPr>
          <a:xfrm>
            <a:off x="4133088" y="2414016"/>
            <a:ext cx="1344168" cy="402336"/>
          </a:xfrm>
          <a:prstGeom prst="rect">
            <a:avLst/>
          </a:prstGeom>
          <a:noFill/>
          <a:ln/>
        </p:spPr>
        <p:txBody>
          <a:bodyPr wrap="square" lIns="0" tIns="0" rIns="0" bIns="0" rtlCol="0" anchor="ctr"/>
          <a:lstStyle/>
          <a:p>
            <a:pPr algn="ctr" indent="0" marL="0">
              <a:buNone/>
            </a:pPr>
            <a:r>
              <a:rPr lang="en-US" sz="1050" dirty="0">
                <a:solidFill>
                  <a:srgbClr val="0D1B2A"/>
                </a:solidFill>
              </a:rPr>
              <a:t>✓ Yes</a:t>
            </a:r>
            <a:endParaRPr lang="en-US" sz="1050" dirty="0"/>
          </a:p>
        </p:txBody>
      </p:sp>
      <p:sp>
        <p:nvSpPr>
          <p:cNvPr id="50" name="Shape 48"/>
          <p:cNvSpPr/>
          <p:nvPr/>
        </p:nvSpPr>
        <p:spPr>
          <a:xfrm>
            <a:off x="5513832" y="2414016"/>
            <a:ext cx="1143000" cy="402336"/>
          </a:xfrm>
          <a:prstGeom prst="rect">
            <a:avLst/>
          </a:prstGeom>
          <a:solidFill>
            <a:srgbClr val="ECEFF1"/>
          </a:solidFill>
          <a:ln w="12700">
            <a:solidFill>
              <a:srgbClr val="CFD8DC"/>
            </a:solidFill>
            <a:prstDash val="solid"/>
          </a:ln>
        </p:spPr>
      </p:sp>
      <p:sp>
        <p:nvSpPr>
          <p:cNvPr id="51" name="Text 49"/>
          <p:cNvSpPr/>
          <p:nvPr/>
        </p:nvSpPr>
        <p:spPr>
          <a:xfrm>
            <a:off x="5550408" y="2414016"/>
            <a:ext cx="1069848" cy="402336"/>
          </a:xfrm>
          <a:prstGeom prst="rect">
            <a:avLst/>
          </a:prstGeom>
          <a:noFill/>
          <a:ln/>
        </p:spPr>
        <p:txBody>
          <a:bodyPr wrap="square" lIns="0" tIns="0" rIns="0" bIns="0" rtlCol="0" anchor="ctr"/>
          <a:lstStyle/>
          <a:p>
            <a:pPr algn="ctr" indent="0" marL="0">
              <a:buNone/>
            </a:pPr>
            <a:r>
              <a:rPr lang="en-US" sz="1050" dirty="0">
                <a:solidFill>
                  <a:srgbClr val="0D1B2A"/>
                </a:solidFill>
              </a:rPr>
              <a:t>✓ Yes</a:t>
            </a:r>
            <a:endParaRPr lang="en-US" sz="1050" dirty="0"/>
          </a:p>
        </p:txBody>
      </p:sp>
      <p:sp>
        <p:nvSpPr>
          <p:cNvPr id="52" name="Shape 50"/>
          <p:cNvSpPr/>
          <p:nvPr/>
        </p:nvSpPr>
        <p:spPr>
          <a:xfrm>
            <a:off x="6656832" y="2414016"/>
            <a:ext cx="1463040" cy="402336"/>
          </a:xfrm>
          <a:prstGeom prst="rect">
            <a:avLst/>
          </a:prstGeom>
          <a:solidFill>
            <a:srgbClr val="ECEFF1"/>
          </a:solidFill>
          <a:ln w="12700">
            <a:solidFill>
              <a:srgbClr val="CFD8DC"/>
            </a:solidFill>
            <a:prstDash val="solid"/>
          </a:ln>
        </p:spPr>
      </p:sp>
      <p:sp>
        <p:nvSpPr>
          <p:cNvPr id="53" name="Text 51"/>
          <p:cNvSpPr/>
          <p:nvPr/>
        </p:nvSpPr>
        <p:spPr>
          <a:xfrm>
            <a:off x="6693408" y="2414016"/>
            <a:ext cx="1389888" cy="402336"/>
          </a:xfrm>
          <a:prstGeom prst="rect">
            <a:avLst/>
          </a:prstGeom>
          <a:noFill/>
          <a:ln/>
        </p:spPr>
        <p:txBody>
          <a:bodyPr wrap="square" lIns="0" tIns="0" rIns="0" bIns="0" rtlCol="0" anchor="ctr"/>
          <a:lstStyle/>
          <a:p>
            <a:pPr algn="ctr" indent="0" marL="0">
              <a:buNone/>
            </a:pPr>
            <a:r>
              <a:rPr lang="en-US" sz="1050" dirty="0">
                <a:solidFill>
                  <a:srgbClr val="0D1B2A"/>
                </a:solidFill>
              </a:rPr>
              <a:t>8.0 / 10</a:t>
            </a:r>
            <a:endParaRPr lang="en-US" sz="1050" dirty="0"/>
          </a:p>
        </p:txBody>
      </p:sp>
      <p:sp>
        <p:nvSpPr>
          <p:cNvPr id="54" name="Shape 52"/>
          <p:cNvSpPr/>
          <p:nvPr/>
        </p:nvSpPr>
        <p:spPr>
          <a:xfrm>
            <a:off x="256032" y="2852928"/>
            <a:ext cx="1463040" cy="402336"/>
          </a:xfrm>
          <a:prstGeom prst="rect">
            <a:avLst/>
          </a:prstGeom>
          <a:solidFill>
            <a:srgbClr val="E8562B"/>
          </a:solidFill>
          <a:ln w="12700">
            <a:solidFill>
              <a:srgbClr val="CFD8DC"/>
            </a:solidFill>
            <a:prstDash val="solid"/>
          </a:ln>
        </p:spPr>
      </p:sp>
      <p:sp>
        <p:nvSpPr>
          <p:cNvPr id="55" name="Text 53"/>
          <p:cNvSpPr/>
          <p:nvPr/>
        </p:nvSpPr>
        <p:spPr>
          <a:xfrm>
            <a:off x="292608" y="2852928"/>
            <a:ext cx="1389888" cy="402336"/>
          </a:xfrm>
          <a:prstGeom prst="rect">
            <a:avLst/>
          </a:prstGeom>
          <a:noFill/>
          <a:ln/>
        </p:spPr>
        <p:txBody>
          <a:bodyPr wrap="square" lIns="0" tIns="0" rIns="0" bIns="0" rtlCol="0" anchor="ctr"/>
          <a:lstStyle/>
          <a:p>
            <a:pPr algn="ctr" indent="0" marL="0">
              <a:buNone/>
            </a:pPr>
            <a:r>
              <a:rPr lang="en-US" sz="1050" b="1" dirty="0">
                <a:solidFill>
                  <a:srgbClr val="FFFFFF"/>
                </a:solidFill>
              </a:rPr>
              <a:t>Cohere Command</a:t>
            </a:r>
            <a:endParaRPr lang="en-US" sz="1050" dirty="0"/>
          </a:p>
        </p:txBody>
      </p:sp>
      <p:sp>
        <p:nvSpPr>
          <p:cNvPr id="56" name="Shape 54"/>
          <p:cNvSpPr/>
          <p:nvPr/>
        </p:nvSpPr>
        <p:spPr>
          <a:xfrm>
            <a:off x="1719072" y="2852928"/>
            <a:ext cx="1188720" cy="402336"/>
          </a:xfrm>
          <a:prstGeom prst="rect">
            <a:avLst/>
          </a:prstGeom>
          <a:solidFill>
            <a:srgbClr val="FFFFFF"/>
          </a:solidFill>
          <a:ln w="12700">
            <a:solidFill>
              <a:srgbClr val="CFD8DC"/>
            </a:solidFill>
            <a:prstDash val="solid"/>
          </a:ln>
        </p:spPr>
      </p:sp>
      <p:sp>
        <p:nvSpPr>
          <p:cNvPr id="57" name="Text 55"/>
          <p:cNvSpPr/>
          <p:nvPr/>
        </p:nvSpPr>
        <p:spPr>
          <a:xfrm>
            <a:off x="1755648" y="2852928"/>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138</a:t>
            </a:r>
            <a:endParaRPr lang="en-US" sz="1050" dirty="0"/>
          </a:p>
        </p:txBody>
      </p:sp>
      <p:sp>
        <p:nvSpPr>
          <p:cNvPr id="58" name="Shape 56"/>
          <p:cNvSpPr/>
          <p:nvPr/>
        </p:nvSpPr>
        <p:spPr>
          <a:xfrm>
            <a:off x="2907792" y="2852928"/>
            <a:ext cx="1188720" cy="402336"/>
          </a:xfrm>
          <a:prstGeom prst="rect">
            <a:avLst/>
          </a:prstGeom>
          <a:solidFill>
            <a:srgbClr val="FFFFFF"/>
          </a:solidFill>
          <a:ln w="12700">
            <a:solidFill>
              <a:srgbClr val="CFD8DC"/>
            </a:solidFill>
            <a:prstDash val="solid"/>
          </a:ln>
        </p:spPr>
      </p:sp>
      <p:sp>
        <p:nvSpPr>
          <p:cNvPr id="59" name="Text 57"/>
          <p:cNvSpPr/>
          <p:nvPr/>
        </p:nvSpPr>
        <p:spPr>
          <a:xfrm>
            <a:off x="2944368" y="2852928"/>
            <a:ext cx="1115568" cy="402336"/>
          </a:xfrm>
          <a:prstGeom prst="rect">
            <a:avLst/>
          </a:prstGeom>
          <a:noFill/>
          <a:ln/>
        </p:spPr>
        <p:txBody>
          <a:bodyPr wrap="square" lIns="0" tIns="0" rIns="0" bIns="0" rtlCol="0" anchor="ctr"/>
          <a:lstStyle/>
          <a:p>
            <a:pPr algn="ctr" indent="0" marL="0">
              <a:buNone/>
            </a:pPr>
            <a:r>
              <a:rPr lang="en-US" sz="1050" dirty="0">
                <a:solidFill>
                  <a:srgbClr val="0D1B2A"/>
                </a:solidFill>
              </a:rPr>
              <a:t>1.15s</a:t>
            </a:r>
            <a:endParaRPr lang="en-US" sz="1050" dirty="0"/>
          </a:p>
        </p:txBody>
      </p:sp>
      <p:sp>
        <p:nvSpPr>
          <p:cNvPr id="60" name="Shape 58"/>
          <p:cNvSpPr/>
          <p:nvPr/>
        </p:nvSpPr>
        <p:spPr>
          <a:xfrm>
            <a:off x="4096512" y="2852928"/>
            <a:ext cx="1417320" cy="402336"/>
          </a:xfrm>
          <a:prstGeom prst="rect">
            <a:avLst/>
          </a:prstGeom>
          <a:solidFill>
            <a:srgbClr val="FFFFFF"/>
          </a:solidFill>
          <a:ln w="12700">
            <a:solidFill>
              <a:srgbClr val="CFD8DC"/>
            </a:solidFill>
            <a:prstDash val="solid"/>
          </a:ln>
        </p:spPr>
      </p:sp>
      <p:sp>
        <p:nvSpPr>
          <p:cNvPr id="61" name="Text 59"/>
          <p:cNvSpPr/>
          <p:nvPr/>
        </p:nvSpPr>
        <p:spPr>
          <a:xfrm>
            <a:off x="4133088" y="2852928"/>
            <a:ext cx="1344168" cy="402336"/>
          </a:xfrm>
          <a:prstGeom prst="rect">
            <a:avLst/>
          </a:prstGeom>
          <a:noFill/>
          <a:ln/>
        </p:spPr>
        <p:txBody>
          <a:bodyPr wrap="square" lIns="0" tIns="0" rIns="0" bIns="0" rtlCol="0" anchor="ctr"/>
          <a:lstStyle/>
          <a:p>
            <a:pPr algn="ctr" indent="0" marL="0">
              <a:buNone/>
            </a:pPr>
            <a:r>
              <a:rPr lang="en-US" sz="1050" dirty="0">
                <a:solidFill>
                  <a:srgbClr val="0D1B2A"/>
                </a:solidFill>
              </a:rPr>
              <a:t>Partial</a:t>
            </a:r>
            <a:endParaRPr lang="en-US" sz="1050" dirty="0"/>
          </a:p>
        </p:txBody>
      </p:sp>
      <p:sp>
        <p:nvSpPr>
          <p:cNvPr id="62" name="Shape 60"/>
          <p:cNvSpPr/>
          <p:nvPr/>
        </p:nvSpPr>
        <p:spPr>
          <a:xfrm>
            <a:off x="5513832" y="2852928"/>
            <a:ext cx="1143000" cy="402336"/>
          </a:xfrm>
          <a:prstGeom prst="rect">
            <a:avLst/>
          </a:prstGeom>
          <a:solidFill>
            <a:srgbClr val="FFFFFF"/>
          </a:solidFill>
          <a:ln w="12700">
            <a:solidFill>
              <a:srgbClr val="CFD8DC"/>
            </a:solidFill>
            <a:prstDash val="solid"/>
          </a:ln>
        </p:spPr>
      </p:sp>
      <p:sp>
        <p:nvSpPr>
          <p:cNvPr id="63" name="Text 61"/>
          <p:cNvSpPr/>
          <p:nvPr/>
        </p:nvSpPr>
        <p:spPr>
          <a:xfrm>
            <a:off x="5550408" y="2852928"/>
            <a:ext cx="1069848" cy="402336"/>
          </a:xfrm>
          <a:prstGeom prst="rect">
            <a:avLst/>
          </a:prstGeom>
          <a:noFill/>
          <a:ln/>
        </p:spPr>
        <p:txBody>
          <a:bodyPr wrap="square" lIns="0" tIns="0" rIns="0" bIns="0" rtlCol="0" anchor="ctr"/>
          <a:lstStyle/>
          <a:p>
            <a:pPr algn="ctr" indent="0" marL="0">
              <a:buNone/>
            </a:pPr>
            <a:r>
              <a:rPr lang="en-US" sz="1050" dirty="0">
                <a:solidFill>
                  <a:srgbClr val="0D1B2A"/>
                </a:solidFill>
              </a:rPr>
              <a:t>✓ Yes</a:t>
            </a:r>
            <a:endParaRPr lang="en-US" sz="1050" dirty="0"/>
          </a:p>
        </p:txBody>
      </p:sp>
      <p:sp>
        <p:nvSpPr>
          <p:cNvPr id="64" name="Shape 62"/>
          <p:cNvSpPr/>
          <p:nvPr/>
        </p:nvSpPr>
        <p:spPr>
          <a:xfrm>
            <a:off x="6656832" y="2852928"/>
            <a:ext cx="1463040" cy="402336"/>
          </a:xfrm>
          <a:prstGeom prst="rect">
            <a:avLst/>
          </a:prstGeom>
          <a:solidFill>
            <a:srgbClr val="FFFFFF"/>
          </a:solidFill>
          <a:ln w="12700">
            <a:solidFill>
              <a:srgbClr val="CFD8DC"/>
            </a:solidFill>
            <a:prstDash val="solid"/>
          </a:ln>
        </p:spPr>
      </p:sp>
      <p:sp>
        <p:nvSpPr>
          <p:cNvPr id="65" name="Text 63"/>
          <p:cNvSpPr/>
          <p:nvPr/>
        </p:nvSpPr>
        <p:spPr>
          <a:xfrm>
            <a:off x="6693408" y="2852928"/>
            <a:ext cx="1389888" cy="402336"/>
          </a:xfrm>
          <a:prstGeom prst="rect">
            <a:avLst/>
          </a:prstGeom>
          <a:noFill/>
          <a:ln/>
        </p:spPr>
        <p:txBody>
          <a:bodyPr wrap="square" lIns="0" tIns="0" rIns="0" bIns="0" rtlCol="0" anchor="ctr"/>
          <a:lstStyle/>
          <a:p>
            <a:pPr algn="ctr" indent="0" marL="0">
              <a:buNone/>
            </a:pPr>
            <a:r>
              <a:rPr lang="en-US" sz="1050" dirty="0">
                <a:solidFill>
                  <a:srgbClr val="0D1B2A"/>
                </a:solidFill>
              </a:rPr>
              <a:t>7.5 / 10</a:t>
            </a:r>
            <a:endParaRPr lang="en-US" sz="1050" dirty="0"/>
          </a:p>
        </p:txBody>
      </p:sp>
      <p:sp>
        <p:nvSpPr>
          <p:cNvPr id="66" name="Text 64"/>
          <p:cNvSpPr/>
          <p:nvPr/>
        </p:nvSpPr>
        <p:spPr>
          <a:xfrm>
            <a:off x="256032" y="3383280"/>
            <a:ext cx="8595360" cy="310896"/>
          </a:xfrm>
          <a:prstGeom prst="rect">
            <a:avLst/>
          </a:prstGeom>
          <a:noFill/>
          <a:ln/>
        </p:spPr>
        <p:txBody>
          <a:bodyPr wrap="square" rtlCol="0" anchor="ctr"/>
          <a:lstStyle/>
          <a:p>
            <a:pPr indent="0" marL="0">
              <a:buNone/>
            </a:pPr>
            <a:r>
              <a:rPr lang="en-US" sz="1300" b="1" dirty="0">
                <a:solidFill>
                  <a:srgbClr val="0D1B2A"/>
                </a:solidFill>
              </a:rPr>
              <a:t>KEY INSIGHTS FROM ANALYSIS</a:t>
            </a:r>
            <a:endParaRPr lang="en-US" sz="1300" dirty="0"/>
          </a:p>
        </p:txBody>
      </p:sp>
      <p:sp>
        <p:nvSpPr>
          <p:cNvPr id="67" name="Shape 65"/>
          <p:cNvSpPr/>
          <p:nvPr/>
        </p:nvSpPr>
        <p:spPr>
          <a:xfrm>
            <a:off x="256032" y="3822192"/>
            <a:ext cx="146304" cy="146304"/>
          </a:xfrm>
          <a:prstGeom prst="ellipse">
            <a:avLst/>
          </a:prstGeom>
          <a:solidFill>
            <a:srgbClr val="7B46E0"/>
          </a:solidFill>
          <a:ln w="12700">
            <a:solidFill>
              <a:srgbClr val="7B46E0"/>
            </a:solidFill>
            <a:prstDash val="solid"/>
          </a:ln>
        </p:spPr>
      </p:sp>
      <p:sp>
        <p:nvSpPr>
          <p:cNvPr id="68" name="Text 66"/>
          <p:cNvSpPr/>
          <p:nvPr/>
        </p:nvSpPr>
        <p:spPr>
          <a:xfrm>
            <a:off x="475488" y="3749040"/>
            <a:ext cx="8321040" cy="274320"/>
          </a:xfrm>
          <a:prstGeom prst="rect">
            <a:avLst/>
          </a:prstGeom>
          <a:noFill/>
          <a:ln/>
        </p:spPr>
        <p:txBody>
          <a:bodyPr wrap="square" rtlCol="0" anchor="ctr"/>
          <a:lstStyle/>
          <a:p>
            <a:pPr indent="0" marL="0">
              <a:buNone/>
            </a:pPr>
            <a:r>
              <a:rPr lang="en-US" sz="1050" dirty="0">
                <a:solidFill>
                  <a:srgbClr val="0D1B2A"/>
                </a:solidFill>
              </a:rPr>
              <a:t>Claude provides the most detailed responses (189 words avg.), ideal for complex explanations.</a:t>
            </a:r>
            <a:endParaRPr lang="en-US" sz="1050" dirty="0"/>
          </a:p>
        </p:txBody>
      </p:sp>
      <p:sp>
        <p:nvSpPr>
          <p:cNvPr id="69" name="Shape 67"/>
          <p:cNvSpPr/>
          <p:nvPr/>
        </p:nvSpPr>
        <p:spPr>
          <a:xfrm>
            <a:off x="256032" y="4105656"/>
            <a:ext cx="146304" cy="146304"/>
          </a:xfrm>
          <a:prstGeom prst="ellipse">
            <a:avLst/>
          </a:prstGeom>
          <a:solidFill>
            <a:srgbClr val="E8562B"/>
          </a:solidFill>
          <a:ln w="12700">
            <a:solidFill>
              <a:srgbClr val="E8562B"/>
            </a:solidFill>
            <a:prstDash val="solid"/>
          </a:ln>
        </p:spPr>
      </p:sp>
      <p:sp>
        <p:nvSpPr>
          <p:cNvPr id="70" name="Text 68"/>
          <p:cNvSpPr/>
          <p:nvPr/>
        </p:nvSpPr>
        <p:spPr>
          <a:xfrm>
            <a:off x="475488" y="4032504"/>
            <a:ext cx="8321040" cy="274320"/>
          </a:xfrm>
          <a:prstGeom prst="rect">
            <a:avLst/>
          </a:prstGeom>
          <a:noFill/>
          <a:ln/>
        </p:spPr>
        <p:txBody>
          <a:bodyPr wrap="square" rtlCol="0" anchor="ctr"/>
          <a:lstStyle/>
          <a:p>
            <a:pPr indent="0" marL="0">
              <a:buNone/>
            </a:pPr>
            <a:r>
              <a:rPr lang="en-US" sz="1050" dirty="0">
                <a:solidFill>
                  <a:srgbClr val="0D1B2A"/>
                </a:solidFill>
              </a:rPr>
              <a:t>Cohere has the fastest latency (1.15s) — best for real-time or latency-sensitive applications.</a:t>
            </a:r>
            <a:endParaRPr lang="en-US" sz="1050" dirty="0"/>
          </a:p>
        </p:txBody>
      </p:sp>
      <p:sp>
        <p:nvSpPr>
          <p:cNvPr id="71" name="Shape 69"/>
          <p:cNvSpPr/>
          <p:nvPr/>
        </p:nvSpPr>
        <p:spPr>
          <a:xfrm>
            <a:off x="256032" y="4389120"/>
            <a:ext cx="146304" cy="146304"/>
          </a:xfrm>
          <a:prstGeom prst="ellipse">
            <a:avLst/>
          </a:prstGeom>
          <a:solidFill>
            <a:srgbClr val="1565C0"/>
          </a:solidFill>
          <a:ln w="12700">
            <a:solidFill>
              <a:srgbClr val="1565C0"/>
            </a:solidFill>
            <a:prstDash val="solid"/>
          </a:ln>
        </p:spPr>
      </p:sp>
      <p:sp>
        <p:nvSpPr>
          <p:cNvPr id="72" name="Text 70"/>
          <p:cNvSpPr/>
          <p:nvPr/>
        </p:nvSpPr>
        <p:spPr>
          <a:xfrm>
            <a:off x="475488" y="4315968"/>
            <a:ext cx="8321040" cy="274320"/>
          </a:xfrm>
          <a:prstGeom prst="rect">
            <a:avLst/>
          </a:prstGeom>
          <a:noFill/>
          <a:ln/>
        </p:spPr>
        <p:txBody>
          <a:bodyPr wrap="square" rtlCol="0" anchor="ctr"/>
          <a:lstStyle/>
          <a:p>
            <a:pPr indent="0" marL="0">
              <a:buNone/>
            </a:pPr>
            <a:r>
              <a:rPr lang="en-US" sz="1050" dirty="0">
                <a:solidFill>
                  <a:srgbClr val="0D1B2A"/>
                </a:solidFill>
              </a:rPr>
              <a:t>All three major models (GPT-4, Claude, Gemini) covered all key concepts with high clarity scores.</a:t>
            </a:r>
            <a:endParaRPr lang="en-US" sz="1050" dirty="0"/>
          </a:p>
        </p:txBody>
      </p:sp>
      <p:sp>
        <p:nvSpPr>
          <p:cNvPr id="73" name="Shape 71"/>
          <p:cNvSpPr/>
          <p:nvPr/>
        </p:nvSpPr>
        <p:spPr>
          <a:xfrm>
            <a:off x="256032" y="4672584"/>
            <a:ext cx="146304" cy="146304"/>
          </a:xfrm>
          <a:prstGeom prst="ellipse">
            <a:avLst/>
          </a:prstGeom>
          <a:solidFill>
            <a:srgbClr val="10A37F"/>
          </a:solidFill>
          <a:ln w="12700">
            <a:solidFill>
              <a:srgbClr val="10A37F"/>
            </a:solidFill>
            <a:prstDash val="solid"/>
          </a:ln>
        </p:spPr>
      </p:sp>
      <p:sp>
        <p:nvSpPr>
          <p:cNvPr id="74" name="Text 72"/>
          <p:cNvSpPr/>
          <p:nvPr/>
        </p:nvSpPr>
        <p:spPr>
          <a:xfrm>
            <a:off x="475488" y="4599432"/>
            <a:ext cx="8321040" cy="274320"/>
          </a:xfrm>
          <a:prstGeom prst="rect">
            <a:avLst/>
          </a:prstGeom>
          <a:noFill/>
          <a:ln/>
        </p:spPr>
        <p:txBody>
          <a:bodyPr wrap="square" rtlCol="0" anchor="ctr"/>
          <a:lstStyle/>
          <a:p>
            <a:pPr indent="0" marL="0">
              <a:buNone/>
            </a:pPr>
            <a:r>
              <a:rPr lang="en-US" sz="1050" dirty="0">
                <a:solidFill>
                  <a:srgbClr val="0D1B2A"/>
                </a:solidFill>
              </a:rPr>
              <a:t>OpenAI scores best on conciseness vs. quality ratio — 142 words with 8.5/10 clarity.</a:t>
            </a:r>
            <a:endParaRPr lang="en-US" sz="1050" dirty="0"/>
          </a:p>
        </p:txBody>
      </p:sp>
      <p:sp>
        <p:nvSpPr>
          <p:cNvPr id="75" name="Shape 73"/>
          <p:cNvSpPr/>
          <p:nvPr/>
        </p:nvSpPr>
        <p:spPr>
          <a:xfrm>
            <a:off x="0" y="4983480"/>
            <a:ext cx="9144000" cy="160020"/>
          </a:xfrm>
          <a:prstGeom prst="rect">
            <a:avLst/>
          </a:prstGeom>
          <a:solidFill>
            <a:srgbClr val="0D1B2A"/>
          </a:solidFill>
          <a:ln w="12700">
            <a:solidFill>
              <a:srgbClr val="0D1B2A"/>
            </a:solidFill>
            <a:prstDash val="solid"/>
          </a:ln>
        </p:spPr>
      </p:sp>
      <p:sp>
        <p:nvSpPr>
          <p:cNvPr id="76" name="Text 74"/>
          <p:cNvSpPr/>
          <p:nvPr/>
        </p:nvSpPr>
        <p:spPr>
          <a:xfrm>
            <a:off x="274320" y="4983480"/>
            <a:ext cx="8595360" cy="160020"/>
          </a:xfrm>
          <a:prstGeom prst="rect">
            <a:avLst/>
          </a:prstGeom>
          <a:noFill/>
          <a:ln/>
        </p:spPr>
        <p:txBody>
          <a:bodyPr wrap="square" rtlCol="0" anchor="ctr"/>
          <a:lstStyle/>
          <a:p>
            <a:pPr indent="0" marL="0">
              <a:buNone/>
            </a:pPr>
            <a:r>
              <a:rPr lang="en-US" sz="900" dirty="0">
                <a:solidFill>
                  <a:srgbClr val="00B4D8"/>
                </a:solidFill>
              </a:rPr>
              <a:t>Ex.No.6 — Python Code with Multiple AI Tools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182880" y="182880"/>
            <a:ext cx="54864" cy="54864"/>
          </a:xfrm>
          <a:prstGeom prst="ellipse">
            <a:avLst/>
          </a:prstGeom>
          <a:solidFill>
            <a:srgbClr val="FFFFFF">
              <a:alpha val="10000"/>
            </a:srgbClr>
          </a:solidFill>
          <a:ln w="12700">
            <a:solidFill>
              <a:srgbClr val="FFFFFF">
                <a:alpha val="10000"/>
              </a:srgbClr>
            </a:solidFill>
            <a:prstDash val="solid"/>
          </a:ln>
        </p:spPr>
      </p:sp>
      <p:sp>
        <p:nvSpPr>
          <p:cNvPr id="4" name="Shape 2"/>
          <p:cNvSpPr/>
          <p:nvPr/>
        </p:nvSpPr>
        <p:spPr>
          <a:xfrm>
            <a:off x="886968" y="182880"/>
            <a:ext cx="54864" cy="54864"/>
          </a:xfrm>
          <a:prstGeom prst="ellipse">
            <a:avLst/>
          </a:prstGeom>
          <a:solidFill>
            <a:srgbClr val="FFFFFF">
              <a:alpha val="10000"/>
            </a:srgbClr>
          </a:solidFill>
          <a:ln w="12700">
            <a:solidFill>
              <a:srgbClr val="FFFFFF">
                <a:alpha val="10000"/>
              </a:srgbClr>
            </a:solidFill>
            <a:prstDash val="solid"/>
          </a:ln>
        </p:spPr>
      </p:sp>
      <p:sp>
        <p:nvSpPr>
          <p:cNvPr id="5" name="Shape 3"/>
          <p:cNvSpPr/>
          <p:nvPr/>
        </p:nvSpPr>
        <p:spPr>
          <a:xfrm>
            <a:off x="1591056" y="182880"/>
            <a:ext cx="54864" cy="54864"/>
          </a:xfrm>
          <a:prstGeom prst="ellipse">
            <a:avLst/>
          </a:prstGeom>
          <a:solidFill>
            <a:srgbClr val="FFFFFF">
              <a:alpha val="10000"/>
            </a:srgbClr>
          </a:solidFill>
          <a:ln w="12700">
            <a:solidFill>
              <a:srgbClr val="FFFFFF">
                <a:alpha val="10000"/>
              </a:srgbClr>
            </a:solidFill>
            <a:prstDash val="solid"/>
          </a:ln>
        </p:spPr>
      </p:sp>
      <p:sp>
        <p:nvSpPr>
          <p:cNvPr id="6" name="Shape 4"/>
          <p:cNvSpPr/>
          <p:nvPr/>
        </p:nvSpPr>
        <p:spPr>
          <a:xfrm>
            <a:off x="2295144" y="182880"/>
            <a:ext cx="54864" cy="54864"/>
          </a:xfrm>
          <a:prstGeom prst="ellipse">
            <a:avLst/>
          </a:prstGeom>
          <a:solidFill>
            <a:srgbClr val="FFFFFF">
              <a:alpha val="10000"/>
            </a:srgbClr>
          </a:solidFill>
          <a:ln w="12700">
            <a:solidFill>
              <a:srgbClr val="FFFFFF">
                <a:alpha val="10000"/>
              </a:srgbClr>
            </a:solidFill>
            <a:prstDash val="solid"/>
          </a:ln>
        </p:spPr>
      </p:sp>
      <p:sp>
        <p:nvSpPr>
          <p:cNvPr id="7" name="Shape 5"/>
          <p:cNvSpPr/>
          <p:nvPr/>
        </p:nvSpPr>
        <p:spPr>
          <a:xfrm>
            <a:off x="2999232" y="182880"/>
            <a:ext cx="54864" cy="54864"/>
          </a:xfrm>
          <a:prstGeom prst="ellipse">
            <a:avLst/>
          </a:prstGeom>
          <a:solidFill>
            <a:srgbClr val="FFFFFF">
              <a:alpha val="10000"/>
            </a:srgbClr>
          </a:solidFill>
          <a:ln w="12700">
            <a:solidFill>
              <a:srgbClr val="FFFFFF">
                <a:alpha val="10000"/>
              </a:srgbClr>
            </a:solidFill>
            <a:prstDash val="solid"/>
          </a:ln>
        </p:spPr>
      </p:sp>
      <p:sp>
        <p:nvSpPr>
          <p:cNvPr id="8" name="Shape 6"/>
          <p:cNvSpPr/>
          <p:nvPr/>
        </p:nvSpPr>
        <p:spPr>
          <a:xfrm>
            <a:off x="3703320" y="182880"/>
            <a:ext cx="54864" cy="54864"/>
          </a:xfrm>
          <a:prstGeom prst="ellipse">
            <a:avLst/>
          </a:prstGeom>
          <a:solidFill>
            <a:srgbClr val="FFFFFF">
              <a:alpha val="10000"/>
            </a:srgbClr>
          </a:solidFill>
          <a:ln w="12700">
            <a:solidFill>
              <a:srgbClr val="FFFFFF">
                <a:alpha val="10000"/>
              </a:srgbClr>
            </a:solidFill>
            <a:prstDash val="solid"/>
          </a:ln>
        </p:spPr>
      </p:sp>
      <p:sp>
        <p:nvSpPr>
          <p:cNvPr id="9" name="Shape 7"/>
          <p:cNvSpPr/>
          <p:nvPr/>
        </p:nvSpPr>
        <p:spPr>
          <a:xfrm>
            <a:off x="4407408" y="182880"/>
            <a:ext cx="54864" cy="54864"/>
          </a:xfrm>
          <a:prstGeom prst="ellipse">
            <a:avLst/>
          </a:prstGeom>
          <a:solidFill>
            <a:srgbClr val="FFFFFF">
              <a:alpha val="10000"/>
            </a:srgbClr>
          </a:solidFill>
          <a:ln w="12700">
            <a:solidFill>
              <a:srgbClr val="FFFFFF">
                <a:alpha val="10000"/>
              </a:srgbClr>
            </a:solidFill>
            <a:prstDash val="solid"/>
          </a:ln>
        </p:spPr>
      </p:sp>
      <p:sp>
        <p:nvSpPr>
          <p:cNvPr id="10" name="Shape 8"/>
          <p:cNvSpPr/>
          <p:nvPr/>
        </p:nvSpPr>
        <p:spPr>
          <a:xfrm>
            <a:off x="5111496" y="182880"/>
            <a:ext cx="54864" cy="54864"/>
          </a:xfrm>
          <a:prstGeom prst="ellipse">
            <a:avLst/>
          </a:prstGeom>
          <a:solidFill>
            <a:srgbClr val="FFFFFF">
              <a:alpha val="10000"/>
            </a:srgbClr>
          </a:solidFill>
          <a:ln w="12700">
            <a:solidFill>
              <a:srgbClr val="FFFFFF">
                <a:alpha val="10000"/>
              </a:srgbClr>
            </a:solidFill>
            <a:prstDash val="solid"/>
          </a:ln>
        </p:spPr>
      </p:sp>
      <p:sp>
        <p:nvSpPr>
          <p:cNvPr id="11" name="Shape 9"/>
          <p:cNvSpPr/>
          <p:nvPr/>
        </p:nvSpPr>
        <p:spPr>
          <a:xfrm>
            <a:off x="5815584" y="182880"/>
            <a:ext cx="54864" cy="54864"/>
          </a:xfrm>
          <a:prstGeom prst="ellipse">
            <a:avLst/>
          </a:prstGeom>
          <a:solidFill>
            <a:srgbClr val="FFFFFF">
              <a:alpha val="10000"/>
            </a:srgbClr>
          </a:solidFill>
          <a:ln w="12700">
            <a:solidFill>
              <a:srgbClr val="FFFFFF">
                <a:alpha val="10000"/>
              </a:srgbClr>
            </a:solidFill>
            <a:prstDash val="solid"/>
          </a:ln>
        </p:spPr>
      </p:sp>
      <p:sp>
        <p:nvSpPr>
          <p:cNvPr id="12" name="Shape 10"/>
          <p:cNvSpPr/>
          <p:nvPr/>
        </p:nvSpPr>
        <p:spPr>
          <a:xfrm>
            <a:off x="6519672" y="182880"/>
            <a:ext cx="54864" cy="54864"/>
          </a:xfrm>
          <a:prstGeom prst="ellipse">
            <a:avLst/>
          </a:prstGeom>
          <a:solidFill>
            <a:srgbClr val="FFFFFF">
              <a:alpha val="10000"/>
            </a:srgbClr>
          </a:solidFill>
          <a:ln w="12700">
            <a:solidFill>
              <a:srgbClr val="FFFFFF">
                <a:alpha val="10000"/>
              </a:srgbClr>
            </a:solidFill>
            <a:prstDash val="solid"/>
          </a:ln>
        </p:spPr>
      </p:sp>
      <p:sp>
        <p:nvSpPr>
          <p:cNvPr id="13" name="Shape 11"/>
          <p:cNvSpPr/>
          <p:nvPr/>
        </p:nvSpPr>
        <p:spPr>
          <a:xfrm>
            <a:off x="7223760" y="182880"/>
            <a:ext cx="54864" cy="54864"/>
          </a:xfrm>
          <a:prstGeom prst="ellipse">
            <a:avLst/>
          </a:prstGeom>
          <a:solidFill>
            <a:srgbClr val="FFFFFF">
              <a:alpha val="10000"/>
            </a:srgbClr>
          </a:solidFill>
          <a:ln w="12700">
            <a:solidFill>
              <a:srgbClr val="FFFFFF">
                <a:alpha val="10000"/>
              </a:srgbClr>
            </a:solidFill>
            <a:prstDash val="solid"/>
          </a:ln>
        </p:spPr>
      </p:sp>
      <p:sp>
        <p:nvSpPr>
          <p:cNvPr id="14" name="Shape 12"/>
          <p:cNvSpPr/>
          <p:nvPr/>
        </p:nvSpPr>
        <p:spPr>
          <a:xfrm>
            <a:off x="7927848" y="182880"/>
            <a:ext cx="54864" cy="54864"/>
          </a:xfrm>
          <a:prstGeom prst="ellipse">
            <a:avLst/>
          </a:prstGeom>
          <a:solidFill>
            <a:srgbClr val="FFFFFF">
              <a:alpha val="10000"/>
            </a:srgbClr>
          </a:solidFill>
          <a:ln w="12700">
            <a:solidFill>
              <a:srgbClr val="FFFFFF">
                <a:alpha val="10000"/>
              </a:srgbClr>
            </a:solidFill>
            <a:prstDash val="solid"/>
          </a:ln>
        </p:spPr>
      </p:sp>
      <p:sp>
        <p:nvSpPr>
          <p:cNvPr id="15" name="Shape 13"/>
          <p:cNvSpPr/>
          <p:nvPr/>
        </p:nvSpPr>
        <p:spPr>
          <a:xfrm>
            <a:off x="8631936" y="182880"/>
            <a:ext cx="54864" cy="54864"/>
          </a:xfrm>
          <a:prstGeom prst="ellipse">
            <a:avLst/>
          </a:prstGeom>
          <a:solidFill>
            <a:srgbClr val="FFFFFF">
              <a:alpha val="10000"/>
            </a:srgbClr>
          </a:solidFill>
          <a:ln w="12700">
            <a:solidFill>
              <a:srgbClr val="FFFFFF">
                <a:alpha val="10000"/>
              </a:srgbClr>
            </a:solidFill>
            <a:prstDash val="solid"/>
          </a:ln>
        </p:spPr>
      </p:sp>
      <p:sp>
        <p:nvSpPr>
          <p:cNvPr id="16" name="Shape 14"/>
          <p:cNvSpPr/>
          <p:nvPr/>
        </p:nvSpPr>
        <p:spPr>
          <a:xfrm>
            <a:off x="182880" y="886968"/>
            <a:ext cx="54864" cy="54864"/>
          </a:xfrm>
          <a:prstGeom prst="ellipse">
            <a:avLst/>
          </a:prstGeom>
          <a:solidFill>
            <a:srgbClr val="FFFFFF">
              <a:alpha val="10000"/>
            </a:srgbClr>
          </a:solidFill>
          <a:ln w="12700">
            <a:solidFill>
              <a:srgbClr val="FFFFFF">
                <a:alpha val="10000"/>
              </a:srgbClr>
            </a:solidFill>
            <a:prstDash val="solid"/>
          </a:ln>
        </p:spPr>
      </p:sp>
      <p:sp>
        <p:nvSpPr>
          <p:cNvPr id="17" name="Shape 15"/>
          <p:cNvSpPr/>
          <p:nvPr/>
        </p:nvSpPr>
        <p:spPr>
          <a:xfrm>
            <a:off x="886968" y="886968"/>
            <a:ext cx="54864" cy="54864"/>
          </a:xfrm>
          <a:prstGeom prst="ellipse">
            <a:avLst/>
          </a:prstGeom>
          <a:solidFill>
            <a:srgbClr val="FFFFFF">
              <a:alpha val="10000"/>
            </a:srgbClr>
          </a:solidFill>
          <a:ln w="12700">
            <a:solidFill>
              <a:srgbClr val="FFFFFF">
                <a:alpha val="10000"/>
              </a:srgbClr>
            </a:solidFill>
            <a:prstDash val="solid"/>
          </a:ln>
        </p:spPr>
      </p:sp>
      <p:sp>
        <p:nvSpPr>
          <p:cNvPr id="18" name="Shape 16"/>
          <p:cNvSpPr/>
          <p:nvPr/>
        </p:nvSpPr>
        <p:spPr>
          <a:xfrm>
            <a:off x="1591056" y="886968"/>
            <a:ext cx="54864" cy="54864"/>
          </a:xfrm>
          <a:prstGeom prst="ellipse">
            <a:avLst/>
          </a:prstGeom>
          <a:solidFill>
            <a:srgbClr val="FFFFFF">
              <a:alpha val="10000"/>
            </a:srgbClr>
          </a:solidFill>
          <a:ln w="12700">
            <a:solidFill>
              <a:srgbClr val="FFFFFF">
                <a:alpha val="10000"/>
              </a:srgbClr>
            </a:solidFill>
            <a:prstDash val="solid"/>
          </a:ln>
        </p:spPr>
      </p:sp>
      <p:sp>
        <p:nvSpPr>
          <p:cNvPr id="19" name="Shape 17"/>
          <p:cNvSpPr/>
          <p:nvPr/>
        </p:nvSpPr>
        <p:spPr>
          <a:xfrm>
            <a:off x="2295144" y="886968"/>
            <a:ext cx="54864" cy="54864"/>
          </a:xfrm>
          <a:prstGeom prst="ellipse">
            <a:avLst/>
          </a:prstGeom>
          <a:solidFill>
            <a:srgbClr val="FFFFFF">
              <a:alpha val="10000"/>
            </a:srgbClr>
          </a:solidFill>
          <a:ln w="12700">
            <a:solidFill>
              <a:srgbClr val="FFFFFF">
                <a:alpha val="10000"/>
              </a:srgbClr>
            </a:solidFill>
            <a:prstDash val="solid"/>
          </a:ln>
        </p:spPr>
      </p:sp>
      <p:sp>
        <p:nvSpPr>
          <p:cNvPr id="20" name="Shape 18"/>
          <p:cNvSpPr/>
          <p:nvPr/>
        </p:nvSpPr>
        <p:spPr>
          <a:xfrm>
            <a:off x="2999232" y="886968"/>
            <a:ext cx="54864" cy="54864"/>
          </a:xfrm>
          <a:prstGeom prst="ellipse">
            <a:avLst/>
          </a:prstGeom>
          <a:solidFill>
            <a:srgbClr val="FFFFFF">
              <a:alpha val="10000"/>
            </a:srgbClr>
          </a:solidFill>
          <a:ln w="12700">
            <a:solidFill>
              <a:srgbClr val="FFFFFF">
                <a:alpha val="10000"/>
              </a:srgbClr>
            </a:solidFill>
            <a:prstDash val="solid"/>
          </a:ln>
        </p:spPr>
      </p:sp>
      <p:sp>
        <p:nvSpPr>
          <p:cNvPr id="21" name="Shape 19"/>
          <p:cNvSpPr/>
          <p:nvPr/>
        </p:nvSpPr>
        <p:spPr>
          <a:xfrm>
            <a:off x="3703320" y="886968"/>
            <a:ext cx="54864" cy="54864"/>
          </a:xfrm>
          <a:prstGeom prst="ellipse">
            <a:avLst/>
          </a:prstGeom>
          <a:solidFill>
            <a:srgbClr val="FFFFFF">
              <a:alpha val="10000"/>
            </a:srgbClr>
          </a:solidFill>
          <a:ln w="12700">
            <a:solidFill>
              <a:srgbClr val="FFFFFF">
                <a:alpha val="10000"/>
              </a:srgbClr>
            </a:solidFill>
            <a:prstDash val="solid"/>
          </a:ln>
        </p:spPr>
      </p:sp>
      <p:sp>
        <p:nvSpPr>
          <p:cNvPr id="22" name="Shape 20"/>
          <p:cNvSpPr/>
          <p:nvPr/>
        </p:nvSpPr>
        <p:spPr>
          <a:xfrm>
            <a:off x="4407408" y="886968"/>
            <a:ext cx="54864" cy="54864"/>
          </a:xfrm>
          <a:prstGeom prst="ellipse">
            <a:avLst/>
          </a:prstGeom>
          <a:solidFill>
            <a:srgbClr val="FFFFFF">
              <a:alpha val="10000"/>
            </a:srgbClr>
          </a:solidFill>
          <a:ln w="12700">
            <a:solidFill>
              <a:srgbClr val="FFFFFF">
                <a:alpha val="10000"/>
              </a:srgbClr>
            </a:solidFill>
            <a:prstDash val="solid"/>
          </a:ln>
        </p:spPr>
      </p:sp>
      <p:sp>
        <p:nvSpPr>
          <p:cNvPr id="23" name="Shape 21"/>
          <p:cNvSpPr/>
          <p:nvPr/>
        </p:nvSpPr>
        <p:spPr>
          <a:xfrm>
            <a:off x="5111496" y="886968"/>
            <a:ext cx="54864" cy="54864"/>
          </a:xfrm>
          <a:prstGeom prst="ellipse">
            <a:avLst/>
          </a:prstGeom>
          <a:solidFill>
            <a:srgbClr val="FFFFFF">
              <a:alpha val="10000"/>
            </a:srgbClr>
          </a:solidFill>
          <a:ln w="12700">
            <a:solidFill>
              <a:srgbClr val="FFFFFF">
                <a:alpha val="10000"/>
              </a:srgbClr>
            </a:solidFill>
            <a:prstDash val="solid"/>
          </a:ln>
        </p:spPr>
      </p:sp>
      <p:sp>
        <p:nvSpPr>
          <p:cNvPr id="24" name="Shape 22"/>
          <p:cNvSpPr/>
          <p:nvPr/>
        </p:nvSpPr>
        <p:spPr>
          <a:xfrm>
            <a:off x="5815584" y="886968"/>
            <a:ext cx="54864" cy="54864"/>
          </a:xfrm>
          <a:prstGeom prst="ellipse">
            <a:avLst/>
          </a:prstGeom>
          <a:solidFill>
            <a:srgbClr val="FFFFFF">
              <a:alpha val="10000"/>
            </a:srgbClr>
          </a:solidFill>
          <a:ln w="12700">
            <a:solidFill>
              <a:srgbClr val="FFFFFF">
                <a:alpha val="10000"/>
              </a:srgbClr>
            </a:solidFill>
            <a:prstDash val="solid"/>
          </a:ln>
        </p:spPr>
      </p:sp>
      <p:sp>
        <p:nvSpPr>
          <p:cNvPr id="25" name="Shape 23"/>
          <p:cNvSpPr/>
          <p:nvPr/>
        </p:nvSpPr>
        <p:spPr>
          <a:xfrm>
            <a:off x="6519672" y="886968"/>
            <a:ext cx="54864" cy="54864"/>
          </a:xfrm>
          <a:prstGeom prst="ellipse">
            <a:avLst/>
          </a:prstGeom>
          <a:solidFill>
            <a:srgbClr val="FFFFFF">
              <a:alpha val="10000"/>
            </a:srgbClr>
          </a:solidFill>
          <a:ln w="12700">
            <a:solidFill>
              <a:srgbClr val="FFFFFF">
                <a:alpha val="10000"/>
              </a:srgbClr>
            </a:solidFill>
            <a:prstDash val="solid"/>
          </a:ln>
        </p:spPr>
      </p:sp>
      <p:sp>
        <p:nvSpPr>
          <p:cNvPr id="26" name="Shape 24"/>
          <p:cNvSpPr/>
          <p:nvPr/>
        </p:nvSpPr>
        <p:spPr>
          <a:xfrm>
            <a:off x="7223760" y="886968"/>
            <a:ext cx="54864" cy="54864"/>
          </a:xfrm>
          <a:prstGeom prst="ellipse">
            <a:avLst/>
          </a:prstGeom>
          <a:solidFill>
            <a:srgbClr val="FFFFFF">
              <a:alpha val="10000"/>
            </a:srgbClr>
          </a:solidFill>
          <a:ln w="12700">
            <a:solidFill>
              <a:srgbClr val="FFFFFF">
                <a:alpha val="10000"/>
              </a:srgbClr>
            </a:solidFill>
            <a:prstDash val="solid"/>
          </a:ln>
        </p:spPr>
      </p:sp>
      <p:sp>
        <p:nvSpPr>
          <p:cNvPr id="27" name="Shape 25"/>
          <p:cNvSpPr/>
          <p:nvPr/>
        </p:nvSpPr>
        <p:spPr>
          <a:xfrm>
            <a:off x="7927848" y="886968"/>
            <a:ext cx="54864" cy="54864"/>
          </a:xfrm>
          <a:prstGeom prst="ellipse">
            <a:avLst/>
          </a:prstGeom>
          <a:solidFill>
            <a:srgbClr val="FFFFFF">
              <a:alpha val="10000"/>
            </a:srgbClr>
          </a:solidFill>
          <a:ln w="12700">
            <a:solidFill>
              <a:srgbClr val="FFFFFF">
                <a:alpha val="10000"/>
              </a:srgbClr>
            </a:solidFill>
            <a:prstDash val="solid"/>
          </a:ln>
        </p:spPr>
      </p:sp>
      <p:sp>
        <p:nvSpPr>
          <p:cNvPr id="28" name="Shape 26"/>
          <p:cNvSpPr/>
          <p:nvPr/>
        </p:nvSpPr>
        <p:spPr>
          <a:xfrm>
            <a:off x="8631936" y="886968"/>
            <a:ext cx="54864" cy="54864"/>
          </a:xfrm>
          <a:prstGeom prst="ellipse">
            <a:avLst/>
          </a:prstGeom>
          <a:solidFill>
            <a:srgbClr val="FFFFFF">
              <a:alpha val="10000"/>
            </a:srgbClr>
          </a:solidFill>
          <a:ln w="12700">
            <a:solidFill>
              <a:srgbClr val="FFFFFF">
                <a:alpha val="10000"/>
              </a:srgbClr>
            </a:solidFill>
            <a:prstDash val="solid"/>
          </a:ln>
        </p:spPr>
      </p:sp>
      <p:sp>
        <p:nvSpPr>
          <p:cNvPr id="29" name="Shape 27"/>
          <p:cNvSpPr/>
          <p:nvPr/>
        </p:nvSpPr>
        <p:spPr>
          <a:xfrm>
            <a:off x="182880" y="1591056"/>
            <a:ext cx="54864" cy="54864"/>
          </a:xfrm>
          <a:prstGeom prst="ellipse">
            <a:avLst/>
          </a:prstGeom>
          <a:solidFill>
            <a:srgbClr val="FFFFFF">
              <a:alpha val="10000"/>
            </a:srgbClr>
          </a:solidFill>
          <a:ln w="12700">
            <a:solidFill>
              <a:srgbClr val="FFFFFF">
                <a:alpha val="10000"/>
              </a:srgbClr>
            </a:solidFill>
            <a:prstDash val="solid"/>
          </a:ln>
        </p:spPr>
      </p:sp>
      <p:sp>
        <p:nvSpPr>
          <p:cNvPr id="30" name="Shape 28"/>
          <p:cNvSpPr/>
          <p:nvPr/>
        </p:nvSpPr>
        <p:spPr>
          <a:xfrm>
            <a:off x="886968" y="1591056"/>
            <a:ext cx="54864" cy="54864"/>
          </a:xfrm>
          <a:prstGeom prst="ellipse">
            <a:avLst/>
          </a:prstGeom>
          <a:solidFill>
            <a:srgbClr val="FFFFFF">
              <a:alpha val="10000"/>
            </a:srgbClr>
          </a:solidFill>
          <a:ln w="12700">
            <a:solidFill>
              <a:srgbClr val="FFFFFF">
                <a:alpha val="10000"/>
              </a:srgbClr>
            </a:solidFill>
            <a:prstDash val="solid"/>
          </a:ln>
        </p:spPr>
      </p:sp>
      <p:sp>
        <p:nvSpPr>
          <p:cNvPr id="31" name="Shape 29"/>
          <p:cNvSpPr/>
          <p:nvPr/>
        </p:nvSpPr>
        <p:spPr>
          <a:xfrm>
            <a:off x="1591056" y="1591056"/>
            <a:ext cx="54864" cy="54864"/>
          </a:xfrm>
          <a:prstGeom prst="ellipse">
            <a:avLst/>
          </a:prstGeom>
          <a:solidFill>
            <a:srgbClr val="FFFFFF">
              <a:alpha val="10000"/>
            </a:srgbClr>
          </a:solidFill>
          <a:ln w="12700">
            <a:solidFill>
              <a:srgbClr val="FFFFFF">
                <a:alpha val="10000"/>
              </a:srgbClr>
            </a:solidFill>
            <a:prstDash val="solid"/>
          </a:ln>
        </p:spPr>
      </p:sp>
      <p:sp>
        <p:nvSpPr>
          <p:cNvPr id="32" name="Shape 30"/>
          <p:cNvSpPr/>
          <p:nvPr/>
        </p:nvSpPr>
        <p:spPr>
          <a:xfrm>
            <a:off x="2295144" y="1591056"/>
            <a:ext cx="54864" cy="54864"/>
          </a:xfrm>
          <a:prstGeom prst="ellipse">
            <a:avLst/>
          </a:prstGeom>
          <a:solidFill>
            <a:srgbClr val="FFFFFF">
              <a:alpha val="10000"/>
            </a:srgbClr>
          </a:solidFill>
          <a:ln w="12700">
            <a:solidFill>
              <a:srgbClr val="FFFFFF">
                <a:alpha val="10000"/>
              </a:srgbClr>
            </a:solidFill>
            <a:prstDash val="solid"/>
          </a:ln>
        </p:spPr>
      </p:sp>
      <p:sp>
        <p:nvSpPr>
          <p:cNvPr id="33" name="Shape 31"/>
          <p:cNvSpPr/>
          <p:nvPr/>
        </p:nvSpPr>
        <p:spPr>
          <a:xfrm>
            <a:off x="2999232" y="1591056"/>
            <a:ext cx="54864" cy="54864"/>
          </a:xfrm>
          <a:prstGeom prst="ellipse">
            <a:avLst/>
          </a:prstGeom>
          <a:solidFill>
            <a:srgbClr val="FFFFFF">
              <a:alpha val="10000"/>
            </a:srgbClr>
          </a:solidFill>
          <a:ln w="12700">
            <a:solidFill>
              <a:srgbClr val="FFFFFF">
                <a:alpha val="10000"/>
              </a:srgbClr>
            </a:solidFill>
            <a:prstDash val="solid"/>
          </a:ln>
        </p:spPr>
      </p:sp>
      <p:sp>
        <p:nvSpPr>
          <p:cNvPr id="34" name="Shape 32"/>
          <p:cNvSpPr/>
          <p:nvPr/>
        </p:nvSpPr>
        <p:spPr>
          <a:xfrm>
            <a:off x="3703320" y="1591056"/>
            <a:ext cx="54864" cy="54864"/>
          </a:xfrm>
          <a:prstGeom prst="ellipse">
            <a:avLst/>
          </a:prstGeom>
          <a:solidFill>
            <a:srgbClr val="FFFFFF">
              <a:alpha val="10000"/>
            </a:srgbClr>
          </a:solidFill>
          <a:ln w="12700">
            <a:solidFill>
              <a:srgbClr val="FFFFFF">
                <a:alpha val="10000"/>
              </a:srgbClr>
            </a:solidFill>
            <a:prstDash val="solid"/>
          </a:ln>
        </p:spPr>
      </p:sp>
      <p:sp>
        <p:nvSpPr>
          <p:cNvPr id="35" name="Shape 33"/>
          <p:cNvSpPr/>
          <p:nvPr/>
        </p:nvSpPr>
        <p:spPr>
          <a:xfrm>
            <a:off x="4407408" y="1591056"/>
            <a:ext cx="54864" cy="54864"/>
          </a:xfrm>
          <a:prstGeom prst="ellipse">
            <a:avLst/>
          </a:prstGeom>
          <a:solidFill>
            <a:srgbClr val="FFFFFF">
              <a:alpha val="10000"/>
            </a:srgbClr>
          </a:solidFill>
          <a:ln w="12700">
            <a:solidFill>
              <a:srgbClr val="FFFFFF">
                <a:alpha val="10000"/>
              </a:srgbClr>
            </a:solidFill>
            <a:prstDash val="solid"/>
          </a:ln>
        </p:spPr>
      </p:sp>
      <p:sp>
        <p:nvSpPr>
          <p:cNvPr id="36" name="Shape 34"/>
          <p:cNvSpPr/>
          <p:nvPr/>
        </p:nvSpPr>
        <p:spPr>
          <a:xfrm>
            <a:off x="5111496" y="1591056"/>
            <a:ext cx="54864" cy="54864"/>
          </a:xfrm>
          <a:prstGeom prst="ellipse">
            <a:avLst/>
          </a:prstGeom>
          <a:solidFill>
            <a:srgbClr val="FFFFFF">
              <a:alpha val="10000"/>
            </a:srgbClr>
          </a:solidFill>
          <a:ln w="12700">
            <a:solidFill>
              <a:srgbClr val="FFFFFF">
                <a:alpha val="10000"/>
              </a:srgbClr>
            </a:solidFill>
            <a:prstDash val="solid"/>
          </a:ln>
        </p:spPr>
      </p:sp>
      <p:sp>
        <p:nvSpPr>
          <p:cNvPr id="37" name="Shape 35"/>
          <p:cNvSpPr/>
          <p:nvPr/>
        </p:nvSpPr>
        <p:spPr>
          <a:xfrm>
            <a:off x="5815584" y="1591056"/>
            <a:ext cx="54864" cy="54864"/>
          </a:xfrm>
          <a:prstGeom prst="ellipse">
            <a:avLst/>
          </a:prstGeom>
          <a:solidFill>
            <a:srgbClr val="FFFFFF">
              <a:alpha val="10000"/>
            </a:srgbClr>
          </a:solidFill>
          <a:ln w="12700">
            <a:solidFill>
              <a:srgbClr val="FFFFFF">
                <a:alpha val="10000"/>
              </a:srgbClr>
            </a:solidFill>
            <a:prstDash val="solid"/>
          </a:ln>
        </p:spPr>
      </p:sp>
      <p:sp>
        <p:nvSpPr>
          <p:cNvPr id="38" name="Shape 36"/>
          <p:cNvSpPr/>
          <p:nvPr/>
        </p:nvSpPr>
        <p:spPr>
          <a:xfrm>
            <a:off x="6519672" y="1591056"/>
            <a:ext cx="54864" cy="54864"/>
          </a:xfrm>
          <a:prstGeom prst="ellipse">
            <a:avLst/>
          </a:prstGeom>
          <a:solidFill>
            <a:srgbClr val="FFFFFF">
              <a:alpha val="10000"/>
            </a:srgbClr>
          </a:solidFill>
          <a:ln w="12700">
            <a:solidFill>
              <a:srgbClr val="FFFFFF">
                <a:alpha val="10000"/>
              </a:srgbClr>
            </a:solidFill>
            <a:prstDash val="solid"/>
          </a:ln>
        </p:spPr>
      </p:sp>
      <p:sp>
        <p:nvSpPr>
          <p:cNvPr id="39" name="Shape 37"/>
          <p:cNvSpPr/>
          <p:nvPr/>
        </p:nvSpPr>
        <p:spPr>
          <a:xfrm>
            <a:off x="7223760" y="1591056"/>
            <a:ext cx="54864" cy="54864"/>
          </a:xfrm>
          <a:prstGeom prst="ellipse">
            <a:avLst/>
          </a:prstGeom>
          <a:solidFill>
            <a:srgbClr val="FFFFFF">
              <a:alpha val="10000"/>
            </a:srgbClr>
          </a:solidFill>
          <a:ln w="12700">
            <a:solidFill>
              <a:srgbClr val="FFFFFF">
                <a:alpha val="10000"/>
              </a:srgbClr>
            </a:solidFill>
            <a:prstDash val="solid"/>
          </a:ln>
        </p:spPr>
      </p:sp>
      <p:sp>
        <p:nvSpPr>
          <p:cNvPr id="40" name="Shape 38"/>
          <p:cNvSpPr/>
          <p:nvPr/>
        </p:nvSpPr>
        <p:spPr>
          <a:xfrm>
            <a:off x="7927848" y="1591056"/>
            <a:ext cx="54864" cy="54864"/>
          </a:xfrm>
          <a:prstGeom prst="ellipse">
            <a:avLst/>
          </a:prstGeom>
          <a:solidFill>
            <a:srgbClr val="FFFFFF">
              <a:alpha val="10000"/>
            </a:srgbClr>
          </a:solidFill>
          <a:ln w="12700">
            <a:solidFill>
              <a:srgbClr val="FFFFFF">
                <a:alpha val="10000"/>
              </a:srgbClr>
            </a:solidFill>
            <a:prstDash val="solid"/>
          </a:ln>
        </p:spPr>
      </p:sp>
      <p:sp>
        <p:nvSpPr>
          <p:cNvPr id="41" name="Shape 39"/>
          <p:cNvSpPr/>
          <p:nvPr/>
        </p:nvSpPr>
        <p:spPr>
          <a:xfrm>
            <a:off x="8631936" y="1591056"/>
            <a:ext cx="54864" cy="54864"/>
          </a:xfrm>
          <a:prstGeom prst="ellipse">
            <a:avLst/>
          </a:prstGeom>
          <a:solidFill>
            <a:srgbClr val="FFFFFF">
              <a:alpha val="10000"/>
            </a:srgbClr>
          </a:solidFill>
          <a:ln w="12700">
            <a:solidFill>
              <a:srgbClr val="FFFFFF">
                <a:alpha val="10000"/>
              </a:srgbClr>
            </a:solidFill>
            <a:prstDash val="solid"/>
          </a:ln>
        </p:spPr>
      </p:sp>
      <p:sp>
        <p:nvSpPr>
          <p:cNvPr id="42" name="Shape 40"/>
          <p:cNvSpPr/>
          <p:nvPr/>
        </p:nvSpPr>
        <p:spPr>
          <a:xfrm>
            <a:off x="182880" y="2295144"/>
            <a:ext cx="54864" cy="54864"/>
          </a:xfrm>
          <a:prstGeom prst="ellipse">
            <a:avLst/>
          </a:prstGeom>
          <a:solidFill>
            <a:srgbClr val="FFFFFF">
              <a:alpha val="10000"/>
            </a:srgbClr>
          </a:solidFill>
          <a:ln w="12700">
            <a:solidFill>
              <a:srgbClr val="FFFFFF">
                <a:alpha val="10000"/>
              </a:srgbClr>
            </a:solidFill>
            <a:prstDash val="solid"/>
          </a:ln>
        </p:spPr>
      </p:sp>
      <p:sp>
        <p:nvSpPr>
          <p:cNvPr id="43" name="Shape 41"/>
          <p:cNvSpPr/>
          <p:nvPr/>
        </p:nvSpPr>
        <p:spPr>
          <a:xfrm>
            <a:off x="886968" y="2295144"/>
            <a:ext cx="54864" cy="54864"/>
          </a:xfrm>
          <a:prstGeom prst="ellipse">
            <a:avLst/>
          </a:prstGeom>
          <a:solidFill>
            <a:srgbClr val="FFFFFF">
              <a:alpha val="10000"/>
            </a:srgbClr>
          </a:solidFill>
          <a:ln w="12700">
            <a:solidFill>
              <a:srgbClr val="FFFFFF">
                <a:alpha val="10000"/>
              </a:srgbClr>
            </a:solidFill>
            <a:prstDash val="solid"/>
          </a:ln>
        </p:spPr>
      </p:sp>
      <p:sp>
        <p:nvSpPr>
          <p:cNvPr id="44" name="Shape 42"/>
          <p:cNvSpPr/>
          <p:nvPr/>
        </p:nvSpPr>
        <p:spPr>
          <a:xfrm>
            <a:off x="1591056" y="2295144"/>
            <a:ext cx="54864" cy="54864"/>
          </a:xfrm>
          <a:prstGeom prst="ellipse">
            <a:avLst/>
          </a:prstGeom>
          <a:solidFill>
            <a:srgbClr val="FFFFFF">
              <a:alpha val="10000"/>
            </a:srgbClr>
          </a:solidFill>
          <a:ln w="12700">
            <a:solidFill>
              <a:srgbClr val="FFFFFF">
                <a:alpha val="10000"/>
              </a:srgbClr>
            </a:solidFill>
            <a:prstDash val="solid"/>
          </a:ln>
        </p:spPr>
      </p:sp>
      <p:sp>
        <p:nvSpPr>
          <p:cNvPr id="45" name="Shape 43"/>
          <p:cNvSpPr/>
          <p:nvPr/>
        </p:nvSpPr>
        <p:spPr>
          <a:xfrm>
            <a:off x="2295144" y="2295144"/>
            <a:ext cx="54864" cy="54864"/>
          </a:xfrm>
          <a:prstGeom prst="ellipse">
            <a:avLst/>
          </a:prstGeom>
          <a:solidFill>
            <a:srgbClr val="FFFFFF">
              <a:alpha val="10000"/>
            </a:srgbClr>
          </a:solidFill>
          <a:ln w="12700">
            <a:solidFill>
              <a:srgbClr val="FFFFFF">
                <a:alpha val="10000"/>
              </a:srgbClr>
            </a:solidFill>
            <a:prstDash val="solid"/>
          </a:ln>
        </p:spPr>
      </p:sp>
      <p:sp>
        <p:nvSpPr>
          <p:cNvPr id="46" name="Shape 44"/>
          <p:cNvSpPr/>
          <p:nvPr/>
        </p:nvSpPr>
        <p:spPr>
          <a:xfrm>
            <a:off x="2999232" y="2295144"/>
            <a:ext cx="54864" cy="54864"/>
          </a:xfrm>
          <a:prstGeom prst="ellipse">
            <a:avLst/>
          </a:prstGeom>
          <a:solidFill>
            <a:srgbClr val="FFFFFF">
              <a:alpha val="10000"/>
            </a:srgbClr>
          </a:solidFill>
          <a:ln w="12700">
            <a:solidFill>
              <a:srgbClr val="FFFFFF">
                <a:alpha val="10000"/>
              </a:srgbClr>
            </a:solidFill>
            <a:prstDash val="solid"/>
          </a:ln>
        </p:spPr>
      </p:sp>
      <p:sp>
        <p:nvSpPr>
          <p:cNvPr id="47" name="Shape 45"/>
          <p:cNvSpPr/>
          <p:nvPr/>
        </p:nvSpPr>
        <p:spPr>
          <a:xfrm>
            <a:off x="3703320" y="2295144"/>
            <a:ext cx="54864" cy="54864"/>
          </a:xfrm>
          <a:prstGeom prst="ellipse">
            <a:avLst/>
          </a:prstGeom>
          <a:solidFill>
            <a:srgbClr val="FFFFFF">
              <a:alpha val="10000"/>
            </a:srgbClr>
          </a:solidFill>
          <a:ln w="12700">
            <a:solidFill>
              <a:srgbClr val="FFFFFF">
                <a:alpha val="10000"/>
              </a:srgbClr>
            </a:solidFill>
            <a:prstDash val="solid"/>
          </a:ln>
        </p:spPr>
      </p:sp>
      <p:sp>
        <p:nvSpPr>
          <p:cNvPr id="48" name="Shape 46"/>
          <p:cNvSpPr/>
          <p:nvPr/>
        </p:nvSpPr>
        <p:spPr>
          <a:xfrm>
            <a:off x="4407408" y="2295144"/>
            <a:ext cx="54864" cy="54864"/>
          </a:xfrm>
          <a:prstGeom prst="ellipse">
            <a:avLst/>
          </a:prstGeom>
          <a:solidFill>
            <a:srgbClr val="FFFFFF">
              <a:alpha val="10000"/>
            </a:srgbClr>
          </a:solidFill>
          <a:ln w="12700">
            <a:solidFill>
              <a:srgbClr val="FFFFFF">
                <a:alpha val="10000"/>
              </a:srgbClr>
            </a:solidFill>
            <a:prstDash val="solid"/>
          </a:ln>
        </p:spPr>
      </p:sp>
      <p:sp>
        <p:nvSpPr>
          <p:cNvPr id="49" name="Shape 47"/>
          <p:cNvSpPr/>
          <p:nvPr/>
        </p:nvSpPr>
        <p:spPr>
          <a:xfrm>
            <a:off x="5111496" y="2295144"/>
            <a:ext cx="54864" cy="54864"/>
          </a:xfrm>
          <a:prstGeom prst="ellipse">
            <a:avLst/>
          </a:prstGeom>
          <a:solidFill>
            <a:srgbClr val="FFFFFF">
              <a:alpha val="10000"/>
            </a:srgbClr>
          </a:solidFill>
          <a:ln w="12700">
            <a:solidFill>
              <a:srgbClr val="FFFFFF">
                <a:alpha val="10000"/>
              </a:srgbClr>
            </a:solidFill>
            <a:prstDash val="solid"/>
          </a:ln>
        </p:spPr>
      </p:sp>
      <p:sp>
        <p:nvSpPr>
          <p:cNvPr id="50" name="Shape 48"/>
          <p:cNvSpPr/>
          <p:nvPr/>
        </p:nvSpPr>
        <p:spPr>
          <a:xfrm>
            <a:off x="5815584" y="2295144"/>
            <a:ext cx="54864" cy="54864"/>
          </a:xfrm>
          <a:prstGeom prst="ellipse">
            <a:avLst/>
          </a:prstGeom>
          <a:solidFill>
            <a:srgbClr val="FFFFFF">
              <a:alpha val="10000"/>
            </a:srgbClr>
          </a:solidFill>
          <a:ln w="12700">
            <a:solidFill>
              <a:srgbClr val="FFFFFF">
                <a:alpha val="10000"/>
              </a:srgbClr>
            </a:solidFill>
            <a:prstDash val="solid"/>
          </a:ln>
        </p:spPr>
      </p:sp>
      <p:sp>
        <p:nvSpPr>
          <p:cNvPr id="51" name="Shape 49"/>
          <p:cNvSpPr/>
          <p:nvPr/>
        </p:nvSpPr>
        <p:spPr>
          <a:xfrm>
            <a:off x="6519672" y="2295144"/>
            <a:ext cx="54864" cy="54864"/>
          </a:xfrm>
          <a:prstGeom prst="ellipse">
            <a:avLst/>
          </a:prstGeom>
          <a:solidFill>
            <a:srgbClr val="FFFFFF">
              <a:alpha val="10000"/>
            </a:srgbClr>
          </a:solidFill>
          <a:ln w="12700">
            <a:solidFill>
              <a:srgbClr val="FFFFFF">
                <a:alpha val="10000"/>
              </a:srgbClr>
            </a:solidFill>
            <a:prstDash val="solid"/>
          </a:ln>
        </p:spPr>
      </p:sp>
      <p:sp>
        <p:nvSpPr>
          <p:cNvPr id="52" name="Shape 50"/>
          <p:cNvSpPr/>
          <p:nvPr/>
        </p:nvSpPr>
        <p:spPr>
          <a:xfrm>
            <a:off x="7223760" y="2295144"/>
            <a:ext cx="54864" cy="54864"/>
          </a:xfrm>
          <a:prstGeom prst="ellipse">
            <a:avLst/>
          </a:prstGeom>
          <a:solidFill>
            <a:srgbClr val="FFFFFF">
              <a:alpha val="10000"/>
            </a:srgbClr>
          </a:solidFill>
          <a:ln w="12700">
            <a:solidFill>
              <a:srgbClr val="FFFFFF">
                <a:alpha val="10000"/>
              </a:srgbClr>
            </a:solidFill>
            <a:prstDash val="solid"/>
          </a:ln>
        </p:spPr>
      </p:sp>
      <p:sp>
        <p:nvSpPr>
          <p:cNvPr id="53" name="Shape 51"/>
          <p:cNvSpPr/>
          <p:nvPr/>
        </p:nvSpPr>
        <p:spPr>
          <a:xfrm>
            <a:off x="7927848" y="2295144"/>
            <a:ext cx="54864" cy="54864"/>
          </a:xfrm>
          <a:prstGeom prst="ellipse">
            <a:avLst/>
          </a:prstGeom>
          <a:solidFill>
            <a:srgbClr val="FFFFFF">
              <a:alpha val="10000"/>
            </a:srgbClr>
          </a:solidFill>
          <a:ln w="12700">
            <a:solidFill>
              <a:srgbClr val="FFFFFF">
                <a:alpha val="10000"/>
              </a:srgbClr>
            </a:solidFill>
            <a:prstDash val="solid"/>
          </a:ln>
        </p:spPr>
      </p:sp>
      <p:sp>
        <p:nvSpPr>
          <p:cNvPr id="54" name="Shape 52"/>
          <p:cNvSpPr/>
          <p:nvPr/>
        </p:nvSpPr>
        <p:spPr>
          <a:xfrm>
            <a:off x="8631936" y="2295144"/>
            <a:ext cx="54864" cy="54864"/>
          </a:xfrm>
          <a:prstGeom prst="ellipse">
            <a:avLst/>
          </a:prstGeom>
          <a:solidFill>
            <a:srgbClr val="FFFFFF">
              <a:alpha val="10000"/>
            </a:srgbClr>
          </a:solidFill>
          <a:ln w="12700">
            <a:solidFill>
              <a:srgbClr val="FFFFFF">
                <a:alpha val="10000"/>
              </a:srgbClr>
            </a:solidFill>
            <a:prstDash val="solid"/>
          </a:ln>
        </p:spPr>
      </p:sp>
      <p:sp>
        <p:nvSpPr>
          <p:cNvPr id="55" name="Shape 53"/>
          <p:cNvSpPr/>
          <p:nvPr/>
        </p:nvSpPr>
        <p:spPr>
          <a:xfrm>
            <a:off x="182880" y="2999232"/>
            <a:ext cx="54864" cy="54864"/>
          </a:xfrm>
          <a:prstGeom prst="ellipse">
            <a:avLst/>
          </a:prstGeom>
          <a:solidFill>
            <a:srgbClr val="FFFFFF">
              <a:alpha val="10000"/>
            </a:srgbClr>
          </a:solidFill>
          <a:ln w="12700">
            <a:solidFill>
              <a:srgbClr val="FFFFFF">
                <a:alpha val="10000"/>
              </a:srgbClr>
            </a:solidFill>
            <a:prstDash val="solid"/>
          </a:ln>
        </p:spPr>
      </p:sp>
      <p:sp>
        <p:nvSpPr>
          <p:cNvPr id="56" name="Shape 54"/>
          <p:cNvSpPr/>
          <p:nvPr/>
        </p:nvSpPr>
        <p:spPr>
          <a:xfrm>
            <a:off x="886968" y="2999232"/>
            <a:ext cx="54864" cy="54864"/>
          </a:xfrm>
          <a:prstGeom prst="ellipse">
            <a:avLst/>
          </a:prstGeom>
          <a:solidFill>
            <a:srgbClr val="FFFFFF">
              <a:alpha val="10000"/>
            </a:srgbClr>
          </a:solidFill>
          <a:ln w="12700">
            <a:solidFill>
              <a:srgbClr val="FFFFFF">
                <a:alpha val="10000"/>
              </a:srgbClr>
            </a:solidFill>
            <a:prstDash val="solid"/>
          </a:ln>
        </p:spPr>
      </p:sp>
      <p:sp>
        <p:nvSpPr>
          <p:cNvPr id="57" name="Shape 55"/>
          <p:cNvSpPr/>
          <p:nvPr/>
        </p:nvSpPr>
        <p:spPr>
          <a:xfrm>
            <a:off x="1591056" y="2999232"/>
            <a:ext cx="54864" cy="54864"/>
          </a:xfrm>
          <a:prstGeom prst="ellipse">
            <a:avLst/>
          </a:prstGeom>
          <a:solidFill>
            <a:srgbClr val="FFFFFF">
              <a:alpha val="10000"/>
            </a:srgbClr>
          </a:solidFill>
          <a:ln w="12700">
            <a:solidFill>
              <a:srgbClr val="FFFFFF">
                <a:alpha val="10000"/>
              </a:srgbClr>
            </a:solidFill>
            <a:prstDash val="solid"/>
          </a:ln>
        </p:spPr>
      </p:sp>
      <p:sp>
        <p:nvSpPr>
          <p:cNvPr id="58" name="Shape 56"/>
          <p:cNvSpPr/>
          <p:nvPr/>
        </p:nvSpPr>
        <p:spPr>
          <a:xfrm>
            <a:off x="2295144" y="2999232"/>
            <a:ext cx="54864" cy="54864"/>
          </a:xfrm>
          <a:prstGeom prst="ellipse">
            <a:avLst/>
          </a:prstGeom>
          <a:solidFill>
            <a:srgbClr val="FFFFFF">
              <a:alpha val="10000"/>
            </a:srgbClr>
          </a:solidFill>
          <a:ln w="12700">
            <a:solidFill>
              <a:srgbClr val="FFFFFF">
                <a:alpha val="10000"/>
              </a:srgbClr>
            </a:solidFill>
            <a:prstDash val="solid"/>
          </a:ln>
        </p:spPr>
      </p:sp>
      <p:sp>
        <p:nvSpPr>
          <p:cNvPr id="59" name="Shape 57"/>
          <p:cNvSpPr/>
          <p:nvPr/>
        </p:nvSpPr>
        <p:spPr>
          <a:xfrm>
            <a:off x="2999232" y="2999232"/>
            <a:ext cx="54864" cy="54864"/>
          </a:xfrm>
          <a:prstGeom prst="ellipse">
            <a:avLst/>
          </a:prstGeom>
          <a:solidFill>
            <a:srgbClr val="FFFFFF">
              <a:alpha val="10000"/>
            </a:srgbClr>
          </a:solidFill>
          <a:ln w="12700">
            <a:solidFill>
              <a:srgbClr val="FFFFFF">
                <a:alpha val="10000"/>
              </a:srgbClr>
            </a:solidFill>
            <a:prstDash val="solid"/>
          </a:ln>
        </p:spPr>
      </p:sp>
      <p:sp>
        <p:nvSpPr>
          <p:cNvPr id="60" name="Shape 58"/>
          <p:cNvSpPr/>
          <p:nvPr/>
        </p:nvSpPr>
        <p:spPr>
          <a:xfrm>
            <a:off x="3703320" y="2999232"/>
            <a:ext cx="54864" cy="54864"/>
          </a:xfrm>
          <a:prstGeom prst="ellipse">
            <a:avLst/>
          </a:prstGeom>
          <a:solidFill>
            <a:srgbClr val="FFFFFF">
              <a:alpha val="10000"/>
            </a:srgbClr>
          </a:solidFill>
          <a:ln w="12700">
            <a:solidFill>
              <a:srgbClr val="FFFFFF">
                <a:alpha val="10000"/>
              </a:srgbClr>
            </a:solidFill>
            <a:prstDash val="solid"/>
          </a:ln>
        </p:spPr>
      </p:sp>
      <p:sp>
        <p:nvSpPr>
          <p:cNvPr id="61" name="Shape 59"/>
          <p:cNvSpPr/>
          <p:nvPr/>
        </p:nvSpPr>
        <p:spPr>
          <a:xfrm>
            <a:off x="4407408" y="2999232"/>
            <a:ext cx="54864" cy="54864"/>
          </a:xfrm>
          <a:prstGeom prst="ellipse">
            <a:avLst/>
          </a:prstGeom>
          <a:solidFill>
            <a:srgbClr val="FFFFFF">
              <a:alpha val="10000"/>
            </a:srgbClr>
          </a:solidFill>
          <a:ln w="12700">
            <a:solidFill>
              <a:srgbClr val="FFFFFF">
                <a:alpha val="10000"/>
              </a:srgbClr>
            </a:solidFill>
            <a:prstDash val="solid"/>
          </a:ln>
        </p:spPr>
      </p:sp>
      <p:sp>
        <p:nvSpPr>
          <p:cNvPr id="62" name="Shape 60"/>
          <p:cNvSpPr/>
          <p:nvPr/>
        </p:nvSpPr>
        <p:spPr>
          <a:xfrm>
            <a:off x="5111496" y="2999232"/>
            <a:ext cx="54864" cy="54864"/>
          </a:xfrm>
          <a:prstGeom prst="ellipse">
            <a:avLst/>
          </a:prstGeom>
          <a:solidFill>
            <a:srgbClr val="FFFFFF">
              <a:alpha val="10000"/>
            </a:srgbClr>
          </a:solidFill>
          <a:ln w="12700">
            <a:solidFill>
              <a:srgbClr val="FFFFFF">
                <a:alpha val="10000"/>
              </a:srgbClr>
            </a:solidFill>
            <a:prstDash val="solid"/>
          </a:ln>
        </p:spPr>
      </p:sp>
      <p:sp>
        <p:nvSpPr>
          <p:cNvPr id="63" name="Shape 61"/>
          <p:cNvSpPr/>
          <p:nvPr/>
        </p:nvSpPr>
        <p:spPr>
          <a:xfrm>
            <a:off x="5815584" y="2999232"/>
            <a:ext cx="54864" cy="54864"/>
          </a:xfrm>
          <a:prstGeom prst="ellipse">
            <a:avLst/>
          </a:prstGeom>
          <a:solidFill>
            <a:srgbClr val="FFFFFF">
              <a:alpha val="10000"/>
            </a:srgbClr>
          </a:solidFill>
          <a:ln w="12700">
            <a:solidFill>
              <a:srgbClr val="FFFFFF">
                <a:alpha val="10000"/>
              </a:srgbClr>
            </a:solidFill>
            <a:prstDash val="solid"/>
          </a:ln>
        </p:spPr>
      </p:sp>
      <p:sp>
        <p:nvSpPr>
          <p:cNvPr id="64" name="Shape 62"/>
          <p:cNvSpPr/>
          <p:nvPr/>
        </p:nvSpPr>
        <p:spPr>
          <a:xfrm>
            <a:off x="6519672" y="2999232"/>
            <a:ext cx="54864" cy="54864"/>
          </a:xfrm>
          <a:prstGeom prst="ellipse">
            <a:avLst/>
          </a:prstGeom>
          <a:solidFill>
            <a:srgbClr val="FFFFFF">
              <a:alpha val="10000"/>
            </a:srgbClr>
          </a:solidFill>
          <a:ln w="12700">
            <a:solidFill>
              <a:srgbClr val="FFFFFF">
                <a:alpha val="10000"/>
              </a:srgbClr>
            </a:solidFill>
            <a:prstDash val="solid"/>
          </a:ln>
        </p:spPr>
      </p:sp>
      <p:sp>
        <p:nvSpPr>
          <p:cNvPr id="65" name="Shape 63"/>
          <p:cNvSpPr/>
          <p:nvPr/>
        </p:nvSpPr>
        <p:spPr>
          <a:xfrm>
            <a:off x="7223760" y="2999232"/>
            <a:ext cx="54864" cy="54864"/>
          </a:xfrm>
          <a:prstGeom prst="ellipse">
            <a:avLst/>
          </a:prstGeom>
          <a:solidFill>
            <a:srgbClr val="FFFFFF">
              <a:alpha val="10000"/>
            </a:srgbClr>
          </a:solidFill>
          <a:ln w="12700">
            <a:solidFill>
              <a:srgbClr val="FFFFFF">
                <a:alpha val="10000"/>
              </a:srgbClr>
            </a:solidFill>
            <a:prstDash val="solid"/>
          </a:ln>
        </p:spPr>
      </p:sp>
      <p:sp>
        <p:nvSpPr>
          <p:cNvPr id="66" name="Shape 64"/>
          <p:cNvSpPr/>
          <p:nvPr/>
        </p:nvSpPr>
        <p:spPr>
          <a:xfrm>
            <a:off x="7927848" y="2999232"/>
            <a:ext cx="54864" cy="54864"/>
          </a:xfrm>
          <a:prstGeom prst="ellipse">
            <a:avLst/>
          </a:prstGeom>
          <a:solidFill>
            <a:srgbClr val="FFFFFF">
              <a:alpha val="10000"/>
            </a:srgbClr>
          </a:solidFill>
          <a:ln w="12700">
            <a:solidFill>
              <a:srgbClr val="FFFFFF">
                <a:alpha val="10000"/>
              </a:srgbClr>
            </a:solidFill>
            <a:prstDash val="solid"/>
          </a:ln>
        </p:spPr>
      </p:sp>
      <p:sp>
        <p:nvSpPr>
          <p:cNvPr id="67" name="Shape 65"/>
          <p:cNvSpPr/>
          <p:nvPr/>
        </p:nvSpPr>
        <p:spPr>
          <a:xfrm>
            <a:off x="8631936" y="2999232"/>
            <a:ext cx="54864" cy="54864"/>
          </a:xfrm>
          <a:prstGeom prst="ellipse">
            <a:avLst/>
          </a:prstGeom>
          <a:solidFill>
            <a:srgbClr val="FFFFFF">
              <a:alpha val="10000"/>
            </a:srgbClr>
          </a:solidFill>
          <a:ln w="12700">
            <a:solidFill>
              <a:srgbClr val="FFFFFF">
                <a:alpha val="10000"/>
              </a:srgbClr>
            </a:solidFill>
            <a:prstDash val="solid"/>
          </a:ln>
        </p:spPr>
      </p:sp>
      <p:sp>
        <p:nvSpPr>
          <p:cNvPr id="68" name="Shape 66"/>
          <p:cNvSpPr/>
          <p:nvPr/>
        </p:nvSpPr>
        <p:spPr>
          <a:xfrm>
            <a:off x="182880" y="3703320"/>
            <a:ext cx="54864" cy="54864"/>
          </a:xfrm>
          <a:prstGeom prst="ellipse">
            <a:avLst/>
          </a:prstGeom>
          <a:solidFill>
            <a:srgbClr val="FFFFFF">
              <a:alpha val="10000"/>
            </a:srgbClr>
          </a:solidFill>
          <a:ln w="12700">
            <a:solidFill>
              <a:srgbClr val="FFFFFF">
                <a:alpha val="10000"/>
              </a:srgbClr>
            </a:solidFill>
            <a:prstDash val="solid"/>
          </a:ln>
        </p:spPr>
      </p:sp>
      <p:sp>
        <p:nvSpPr>
          <p:cNvPr id="69" name="Shape 67"/>
          <p:cNvSpPr/>
          <p:nvPr/>
        </p:nvSpPr>
        <p:spPr>
          <a:xfrm>
            <a:off x="886968" y="3703320"/>
            <a:ext cx="54864" cy="54864"/>
          </a:xfrm>
          <a:prstGeom prst="ellipse">
            <a:avLst/>
          </a:prstGeom>
          <a:solidFill>
            <a:srgbClr val="FFFFFF">
              <a:alpha val="10000"/>
            </a:srgbClr>
          </a:solidFill>
          <a:ln w="12700">
            <a:solidFill>
              <a:srgbClr val="FFFFFF">
                <a:alpha val="10000"/>
              </a:srgbClr>
            </a:solidFill>
            <a:prstDash val="solid"/>
          </a:ln>
        </p:spPr>
      </p:sp>
      <p:sp>
        <p:nvSpPr>
          <p:cNvPr id="70" name="Shape 68"/>
          <p:cNvSpPr/>
          <p:nvPr/>
        </p:nvSpPr>
        <p:spPr>
          <a:xfrm>
            <a:off x="1591056" y="3703320"/>
            <a:ext cx="54864" cy="54864"/>
          </a:xfrm>
          <a:prstGeom prst="ellipse">
            <a:avLst/>
          </a:prstGeom>
          <a:solidFill>
            <a:srgbClr val="FFFFFF">
              <a:alpha val="10000"/>
            </a:srgbClr>
          </a:solidFill>
          <a:ln w="12700">
            <a:solidFill>
              <a:srgbClr val="FFFFFF">
                <a:alpha val="10000"/>
              </a:srgbClr>
            </a:solidFill>
            <a:prstDash val="solid"/>
          </a:ln>
        </p:spPr>
      </p:sp>
      <p:sp>
        <p:nvSpPr>
          <p:cNvPr id="71" name="Shape 69"/>
          <p:cNvSpPr/>
          <p:nvPr/>
        </p:nvSpPr>
        <p:spPr>
          <a:xfrm>
            <a:off x="2295144" y="3703320"/>
            <a:ext cx="54864" cy="54864"/>
          </a:xfrm>
          <a:prstGeom prst="ellipse">
            <a:avLst/>
          </a:prstGeom>
          <a:solidFill>
            <a:srgbClr val="FFFFFF">
              <a:alpha val="10000"/>
            </a:srgbClr>
          </a:solidFill>
          <a:ln w="12700">
            <a:solidFill>
              <a:srgbClr val="FFFFFF">
                <a:alpha val="10000"/>
              </a:srgbClr>
            </a:solidFill>
            <a:prstDash val="solid"/>
          </a:ln>
        </p:spPr>
      </p:sp>
      <p:sp>
        <p:nvSpPr>
          <p:cNvPr id="72" name="Shape 70"/>
          <p:cNvSpPr/>
          <p:nvPr/>
        </p:nvSpPr>
        <p:spPr>
          <a:xfrm>
            <a:off x="2999232" y="3703320"/>
            <a:ext cx="54864" cy="54864"/>
          </a:xfrm>
          <a:prstGeom prst="ellipse">
            <a:avLst/>
          </a:prstGeom>
          <a:solidFill>
            <a:srgbClr val="FFFFFF">
              <a:alpha val="10000"/>
            </a:srgbClr>
          </a:solidFill>
          <a:ln w="12700">
            <a:solidFill>
              <a:srgbClr val="FFFFFF">
                <a:alpha val="10000"/>
              </a:srgbClr>
            </a:solidFill>
            <a:prstDash val="solid"/>
          </a:ln>
        </p:spPr>
      </p:sp>
      <p:sp>
        <p:nvSpPr>
          <p:cNvPr id="73" name="Shape 71"/>
          <p:cNvSpPr/>
          <p:nvPr/>
        </p:nvSpPr>
        <p:spPr>
          <a:xfrm>
            <a:off x="3703320" y="3703320"/>
            <a:ext cx="54864" cy="54864"/>
          </a:xfrm>
          <a:prstGeom prst="ellipse">
            <a:avLst/>
          </a:prstGeom>
          <a:solidFill>
            <a:srgbClr val="FFFFFF">
              <a:alpha val="10000"/>
            </a:srgbClr>
          </a:solidFill>
          <a:ln w="12700">
            <a:solidFill>
              <a:srgbClr val="FFFFFF">
                <a:alpha val="10000"/>
              </a:srgbClr>
            </a:solidFill>
            <a:prstDash val="solid"/>
          </a:ln>
        </p:spPr>
      </p:sp>
      <p:sp>
        <p:nvSpPr>
          <p:cNvPr id="74" name="Shape 72"/>
          <p:cNvSpPr/>
          <p:nvPr/>
        </p:nvSpPr>
        <p:spPr>
          <a:xfrm>
            <a:off x="4407408" y="3703320"/>
            <a:ext cx="54864" cy="54864"/>
          </a:xfrm>
          <a:prstGeom prst="ellipse">
            <a:avLst/>
          </a:prstGeom>
          <a:solidFill>
            <a:srgbClr val="FFFFFF">
              <a:alpha val="10000"/>
            </a:srgbClr>
          </a:solidFill>
          <a:ln w="12700">
            <a:solidFill>
              <a:srgbClr val="FFFFFF">
                <a:alpha val="10000"/>
              </a:srgbClr>
            </a:solidFill>
            <a:prstDash val="solid"/>
          </a:ln>
        </p:spPr>
      </p:sp>
      <p:sp>
        <p:nvSpPr>
          <p:cNvPr id="75" name="Shape 73"/>
          <p:cNvSpPr/>
          <p:nvPr/>
        </p:nvSpPr>
        <p:spPr>
          <a:xfrm>
            <a:off x="5111496" y="3703320"/>
            <a:ext cx="54864" cy="54864"/>
          </a:xfrm>
          <a:prstGeom prst="ellipse">
            <a:avLst/>
          </a:prstGeom>
          <a:solidFill>
            <a:srgbClr val="FFFFFF">
              <a:alpha val="10000"/>
            </a:srgbClr>
          </a:solidFill>
          <a:ln w="12700">
            <a:solidFill>
              <a:srgbClr val="FFFFFF">
                <a:alpha val="10000"/>
              </a:srgbClr>
            </a:solidFill>
            <a:prstDash val="solid"/>
          </a:ln>
        </p:spPr>
      </p:sp>
      <p:sp>
        <p:nvSpPr>
          <p:cNvPr id="76" name="Shape 74"/>
          <p:cNvSpPr/>
          <p:nvPr/>
        </p:nvSpPr>
        <p:spPr>
          <a:xfrm>
            <a:off x="5815584" y="3703320"/>
            <a:ext cx="54864" cy="54864"/>
          </a:xfrm>
          <a:prstGeom prst="ellipse">
            <a:avLst/>
          </a:prstGeom>
          <a:solidFill>
            <a:srgbClr val="FFFFFF">
              <a:alpha val="10000"/>
            </a:srgbClr>
          </a:solidFill>
          <a:ln w="12700">
            <a:solidFill>
              <a:srgbClr val="FFFFFF">
                <a:alpha val="10000"/>
              </a:srgbClr>
            </a:solidFill>
            <a:prstDash val="solid"/>
          </a:ln>
        </p:spPr>
      </p:sp>
      <p:sp>
        <p:nvSpPr>
          <p:cNvPr id="77" name="Shape 75"/>
          <p:cNvSpPr/>
          <p:nvPr/>
        </p:nvSpPr>
        <p:spPr>
          <a:xfrm>
            <a:off x="6519672" y="3703320"/>
            <a:ext cx="54864" cy="54864"/>
          </a:xfrm>
          <a:prstGeom prst="ellipse">
            <a:avLst/>
          </a:prstGeom>
          <a:solidFill>
            <a:srgbClr val="FFFFFF">
              <a:alpha val="10000"/>
            </a:srgbClr>
          </a:solidFill>
          <a:ln w="12700">
            <a:solidFill>
              <a:srgbClr val="FFFFFF">
                <a:alpha val="10000"/>
              </a:srgbClr>
            </a:solidFill>
            <a:prstDash val="solid"/>
          </a:ln>
        </p:spPr>
      </p:sp>
      <p:sp>
        <p:nvSpPr>
          <p:cNvPr id="78" name="Shape 76"/>
          <p:cNvSpPr/>
          <p:nvPr/>
        </p:nvSpPr>
        <p:spPr>
          <a:xfrm>
            <a:off x="7223760" y="3703320"/>
            <a:ext cx="54864" cy="54864"/>
          </a:xfrm>
          <a:prstGeom prst="ellipse">
            <a:avLst/>
          </a:prstGeom>
          <a:solidFill>
            <a:srgbClr val="FFFFFF">
              <a:alpha val="10000"/>
            </a:srgbClr>
          </a:solidFill>
          <a:ln w="12700">
            <a:solidFill>
              <a:srgbClr val="FFFFFF">
                <a:alpha val="10000"/>
              </a:srgbClr>
            </a:solidFill>
            <a:prstDash val="solid"/>
          </a:ln>
        </p:spPr>
      </p:sp>
      <p:sp>
        <p:nvSpPr>
          <p:cNvPr id="79" name="Shape 77"/>
          <p:cNvSpPr/>
          <p:nvPr/>
        </p:nvSpPr>
        <p:spPr>
          <a:xfrm>
            <a:off x="7927848" y="3703320"/>
            <a:ext cx="54864" cy="54864"/>
          </a:xfrm>
          <a:prstGeom prst="ellipse">
            <a:avLst/>
          </a:prstGeom>
          <a:solidFill>
            <a:srgbClr val="FFFFFF">
              <a:alpha val="10000"/>
            </a:srgbClr>
          </a:solidFill>
          <a:ln w="12700">
            <a:solidFill>
              <a:srgbClr val="FFFFFF">
                <a:alpha val="10000"/>
              </a:srgbClr>
            </a:solidFill>
            <a:prstDash val="solid"/>
          </a:ln>
        </p:spPr>
      </p:sp>
      <p:sp>
        <p:nvSpPr>
          <p:cNvPr id="80" name="Shape 78"/>
          <p:cNvSpPr/>
          <p:nvPr/>
        </p:nvSpPr>
        <p:spPr>
          <a:xfrm>
            <a:off x="8631936" y="3703320"/>
            <a:ext cx="54864" cy="54864"/>
          </a:xfrm>
          <a:prstGeom prst="ellipse">
            <a:avLst/>
          </a:prstGeom>
          <a:solidFill>
            <a:srgbClr val="FFFFFF">
              <a:alpha val="10000"/>
            </a:srgbClr>
          </a:solidFill>
          <a:ln w="12700">
            <a:solidFill>
              <a:srgbClr val="FFFFFF">
                <a:alpha val="10000"/>
              </a:srgbClr>
            </a:solidFill>
            <a:prstDash val="solid"/>
          </a:ln>
        </p:spPr>
      </p:sp>
      <p:sp>
        <p:nvSpPr>
          <p:cNvPr id="81" name="Shape 79"/>
          <p:cNvSpPr/>
          <p:nvPr/>
        </p:nvSpPr>
        <p:spPr>
          <a:xfrm>
            <a:off x="182880" y="4407408"/>
            <a:ext cx="54864" cy="54864"/>
          </a:xfrm>
          <a:prstGeom prst="ellipse">
            <a:avLst/>
          </a:prstGeom>
          <a:solidFill>
            <a:srgbClr val="FFFFFF">
              <a:alpha val="10000"/>
            </a:srgbClr>
          </a:solidFill>
          <a:ln w="12700">
            <a:solidFill>
              <a:srgbClr val="FFFFFF">
                <a:alpha val="10000"/>
              </a:srgbClr>
            </a:solidFill>
            <a:prstDash val="solid"/>
          </a:ln>
        </p:spPr>
      </p:sp>
      <p:sp>
        <p:nvSpPr>
          <p:cNvPr id="82" name="Shape 80"/>
          <p:cNvSpPr/>
          <p:nvPr/>
        </p:nvSpPr>
        <p:spPr>
          <a:xfrm>
            <a:off x="886968" y="4407408"/>
            <a:ext cx="54864" cy="54864"/>
          </a:xfrm>
          <a:prstGeom prst="ellipse">
            <a:avLst/>
          </a:prstGeom>
          <a:solidFill>
            <a:srgbClr val="FFFFFF">
              <a:alpha val="10000"/>
            </a:srgbClr>
          </a:solidFill>
          <a:ln w="12700">
            <a:solidFill>
              <a:srgbClr val="FFFFFF">
                <a:alpha val="10000"/>
              </a:srgbClr>
            </a:solidFill>
            <a:prstDash val="solid"/>
          </a:ln>
        </p:spPr>
      </p:sp>
      <p:sp>
        <p:nvSpPr>
          <p:cNvPr id="83" name="Shape 81"/>
          <p:cNvSpPr/>
          <p:nvPr/>
        </p:nvSpPr>
        <p:spPr>
          <a:xfrm>
            <a:off x="1591056" y="4407408"/>
            <a:ext cx="54864" cy="54864"/>
          </a:xfrm>
          <a:prstGeom prst="ellipse">
            <a:avLst/>
          </a:prstGeom>
          <a:solidFill>
            <a:srgbClr val="FFFFFF">
              <a:alpha val="10000"/>
            </a:srgbClr>
          </a:solidFill>
          <a:ln w="12700">
            <a:solidFill>
              <a:srgbClr val="FFFFFF">
                <a:alpha val="10000"/>
              </a:srgbClr>
            </a:solidFill>
            <a:prstDash val="solid"/>
          </a:ln>
        </p:spPr>
      </p:sp>
      <p:sp>
        <p:nvSpPr>
          <p:cNvPr id="84" name="Shape 82"/>
          <p:cNvSpPr/>
          <p:nvPr/>
        </p:nvSpPr>
        <p:spPr>
          <a:xfrm>
            <a:off x="2295144" y="4407408"/>
            <a:ext cx="54864" cy="54864"/>
          </a:xfrm>
          <a:prstGeom prst="ellipse">
            <a:avLst/>
          </a:prstGeom>
          <a:solidFill>
            <a:srgbClr val="FFFFFF">
              <a:alpha val="10000"/>
            </a:srgbClr>
          </a:solidFill>
          <a:ln w="12700">
            <a:solidFill>
              <a:srgbClr val="FFFFFF">
                <a:alpha val="10000"/>
              </a:srgbClr>
            </a:solidFill>
            <a:prstDash val="solid"/>
          </a:ln>
        </p:spPr>
      </p:sp>
      <p:sp>
        <p:nvSpPr>
          <p:cNvPr id="85" name="Shape 83"/>
          <p:cNvSpPr/>
          <p:nvPr/>
        </p:nvSpPr>
        <p:spPr>
          <a:xfrm>
            <a:off x="2999232" y="4407408"/>
            <a:ext cx="54864" cy="54864"/>
          </a:xfrm>
          <a:prstGeom prst="ellipse">
            <a:avLst/>
          </a:prstGeom>
          <a:solidFill>
            <a:srgbClr val="FFFFFF">
              <a:alpha val="10000"/>
            </a:srgbClr>
          </a:solidFill>
          <a:ln w="12700">
            <a:solidFill>
              <a:srgbClr val="FFFFFF">
                <a:alpha val="10000"/>
              </a:srgbClr>
            </a:solidFill>
            <a:prstDash val="solid"/>
          </a:ln>
        </p:spPr>
      </p:sp>
      <p:sp>
        <p:nvSpPr>
          <p:cNvPr id="86" name="Shape 84"/>
          <p:cNvSpPr/>
          <p:nvPr/>
        </p:nvSpPr>
        <p:spPr>
          <a:xfrm>
            <a:off x="3703320" y="4407408"/>
            <a:ext cx="54864" cy="54864"/>
          </a:xfrm>
          <a:prstGeom prst="ellipse">
            <a:avLst/>
          </a:prstGeom>
          <a:solidFill>
            <a:srgbClr val="FFFFFF">
              <a:alpha val="10000"/>
            </a:srgbClr>
          </a:solidFill>
          <a:ln w="12700">
            <a:solidFill>
              <a:srgbClr val="FFFFFF">
                <a:alpha val="10000"/>
              </a:srgbClr>
            </a:solidFill>
            <a:prstDash val="solid"/>
          </a:ln>
        </p:spPr>
      </p:sp>
      <p:sp>
        <p:nvSpPr>
          <p:cNvPr id="87" name="Shape 85"/>
          <p:cNvSpPr/>
          <p:nvPr/>
        </p:nvSpPr>
        <p:spPr>
          <a:xfrm>
            <a:off x="4407408" y="4407408"/>
            <a:ext cx="54864" cy="54864"/>
          </a:xfrm>
          <a:prstGeom prst="ellipse">
            <a:avLst/>
          </a:prstGeom>
          <a:solidFill>
            <a:srgbClr val="FFFFFF">
              <a:alpha val="10000"/>
            </a:srgbClr>
          </a:solidFill>
          <a:ln w="12700">
            <a:solidFill>
              <a:srgbClr val="FFFFFF">
                <a:alpha val="10000"/>
              </a:srgbClr>
            </a:solidFill>
            <a:prstDash val="solid"/>
          </a:ln>
        </p:spPr>
      </p:sp>
      <p:sp>
        <p:nvSpPr>
          <p:cNvPr id="88" name="Shape 86"/>
          <p:cNvSpPr/>
          <p:nvPr/>
        </p:nvSpPr>
        <p:spPr>
          <a:xfrm>
            <a:off x="5111496" y="4407408"/>
            <a:ext cx="54864" cy="54864"/>
          </a:xfrm>
          <a:prstGeom prst="ellipse">
            <a:avLst/>
          </a:prstGeom>
          <a:solidFill>
            <a:srgbClr val="FFFFFF">
              <a:alpha val="10000"/>
            </a:srgbClr>
          </a:solidFill>
          <a:ln w="12700">
            <a:solidFill>
              <a:srgbClr val="FFFFFF">
                <a:alpha val="10000"/>
              </a:srgbClr>
            </a:solidFill>
            <a:prstDash val="solid"/>
          </a:ln>
        </p:spPr>
      </p:sp>
      <p:sp>
        <p:nvSpPr>
          <p:cNvPr id="89" name="Shape 87"/>
          <p:cNvSpPr/>
          <p:nvPr/>
        </p:nvSpPr>
        <p:spPr>
          <a:xfrm>
            <a:off x="5815584" y="4407408"/>
            <a:ext cx="54864" cy="54864"/>
          </a:xfrm>
          <a:prstGeom prst="ellipse">
            <a:avLst/>
          </a:prstGeom>
          <a:solidFill>
            <a:srgbClr val="FFFFFF">
              <a:alpha val="10000"/>
            </a:srgbClr>
          </a:solidFill>
          <a:ln w="12700">
            <a:solidFill>
              <a:srgbClr val="FFFFFF">
                <a:alpha val="10000"/>
              </a:srgbClr>
            </a:solidFill>
            <a:prstDash val="solid"/>
          </a:ln>
        </p:spPr>
      </p:sp>
      <p:sp>
        <p:nvSpPr>
          <p:cNvPr id="90" name="Shape 88"/>
          <p:cNvSpPr/>
          <p:nvPr/>
        </p:nvSpPr>
        <p:spPr>
          <a:xfrm>
            <a:off x="6519672" y="4407408"/>
            <a:ext cx="54864" cy="54864"/>
          </a:xfrm>
          <a:prstGeom prst="ellipse">
            <a:avLst/>
          </a:prstGeom>
          <a:solidFill>
            <a:srgbClr val="FFFFFF">
              <a:alpha val="10000"/>
            </a:srgbClr>
          </a:solidFill>
          <a:ln w="12700">
            <a:solidFill>
              <a:srgbClr val="FFFFFF">
                <a:alpha val="10000"/>
              </a:srgbClr>
            </a:solidFill>
            <a:prstDash val="solid"/>
          </a:ln>
        </p:spPr>
      </p:sp>
      <p:sp>
        <p:nvSpPr>
          <p:cNvPr id="91" name="Shape 89"/>
          <p:cNvSpPr/>
          <p:nvPr/>
        </p:nvSpPr>
        <p:spPr>
          <a:xfrm>
            <a:off x="7223760" y="4407408"/>
            <a:ext cx="54864" cy="54864"/>
          </a:xfrm>
          <a:prstGeom prst="ellipse">
            <a:avLst/>
          </a:prstGeom>
          <a:solidFill>
            <a:srgbClr val="FFFFFF">
              <a:alpha val="10000"/>
            </a:srgbClr>
          </a:solidFill>
          <a:ln w="12700">
            <a:solidFill>
              <a:srgbClr val="FFFFFF">
                <a:alpha val="10000"/>
              </a:srgbClr>
            </a:solidFill>
            <a:prstDash val="solid"/>
          </a:ln>
        </p:spPr>
      </p:sp>
      <p:sp>
        <p:nvSpPr>
          <p:cNvPr id="92" name="Shape 90"/>
          <p:cNvSpPr/>
          <p:nvPr/>
        </p:nvSpPr>
        <p:spPr>
          <a:xfrm>
            <a:off x="7927848" y="4407408"/>
            <a:ext cx="54864" cy="54864"/>
          </a:xfrm>
          <a:prstGeom prst="ellipse">
            <a:avLst/>
          </a:prstGeom>
          <a:solidFill>
            <a:srgbClr val="FFFFFF">
              <a:alpha val="10000"/>
            </a:srgbClr>
          </a:solidFill>
          <a:ln w="12700">
            <a:solidFill>
              <a:srgbClr val="FFFFFF">
                <a:alpha val="10000"/>
              </a:srgbClr>
            </a:solidFill>
            <a:prstDash val="solid"/>
          </a:ln>
        </p:spPr>
      </p:sp>
      <p:sp>
        <p:nvSpPr>
          <p:cNvPr id="93" name="Shape 91"/>
          <p:cNvSpPr/>
          <p:nvPr/>
        </p:nvSpPr>
        <p:spPr>
          <a:xfrm>
            <a:off x="8631936" y="4407408"/>
            <a:ext cx="54864" cy="54864"/>
          </a:xfrm>
          <a:prstGeom prst="ellipse">
            <a:avLst/>
          </a:prstGeom>
          <a:solidFill>
            <a:srgbClr val="FFFFFF">
              <a:alpha val="10000"/>
            </a:srgbClr>
          </a:solidFill>
          <a:ln w="12700">
            <a:solidFill>
              <a:srgbClr val="FFFFFF">
                <a:alpha val="10000"/>
              </a:srgbClr>
            </a:solidFill>
            <a:prstDash val="solid"/>
          </a:ln>
        </p:spPr>
      </p:sp>
      <p:sp>
        <p:nvSpPr>
          <p:cNvPr id="94" name="Text 92"/>
          <p:cNvSpPr/>
          <p:nvPr/>
        </p:nvSpPr>
        <p:spPr>
          <a:xfrm>
            <a:off x="365760" y="201168"/>
            <a:ext cx="8412480" cy="621792"/>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RESULT &amp; CONCLUSION</a:t>
            </a:r>
            <a:endParaRPr lang="en-US" sz="2800" dirty="0"/>
          </a:p>
        </p:txBody>
      </p:sp>
      <p:sp>
        <p:nvSpPr>
          <p:cNvPr id="95" name="Shape 93"/>
          <p:cNvSpPr/>
          <p:nvPr/>
        </p:nvSpPr>
        <p:spPr>
          <a:xfrm>
            <a:off x="365760" y="841248"/>
            <a:ext cx="3200400" cy="45720"/>
          </a:xfrm>
          <a:prstGeom prst="rect">
            <a:avLst/>
          </a:prstGeom>
          <a:solidFill>
            <a:srgbClr val="00B4D8"/>
          </a:solidFill>
          <a:ln w="12700">
            <a:solidFill>
              <a:srgbClr val="00B4D8"/>
            </a:solidFill>
            <a:prstDash val="solid"/>
          </a:ln>
        </p:spPr>
      </p:sp>
      <p:sp>
        <p:nvSpPr>
          <p:cNvPr id="96" name="Shape 94"/>
          <p:cNvSpPr/>
          <p:nvPr/>
        </p:nvSpPr>
        <p:spPr>
          <a:xfrm>
            <a:off x="365760" y="1005840"/>
            <a:ext cx="8412480" cy="804672"/>
          </a:xfrm>
          <a:prstGeom prst="rect">
            <a:avLst/>
          </a:prstGeom>
          <a:solidFill>
            <a:srgbClr val="FFFFFF">
              <a:alpha val="92000"/>
            </a:srgbClr>
          </a:solidFill>
          <a:ln w="12700">
            <a:solidFill>
              <a:srgbClr val="00B4D8">
                <a:alpha val="50000"/>
              </a:srgbClr>
            </a:solidFill>
            <a:prstDash val="solid"/>
          </a:ln>
          <a:effectLst>
            <a:outerShdw sx="100000" sy="100000" kx="0" ky="0" algn="bl" rotWithShape="0" blurRad="101600" dist="38100" dir="8100000">
              <a:srgbClr val="000000">
                <a:alpha val="18000"/>
              </a:srgbClr>
            </a:outerShdw>
          </a:effectLst>
        </p:spPr>
      </p:sp>
      <p:sp>
        <p:nvSpPr>
          <p:cNvPr id="97" name="Shape 95"/>
          <p:cNvSpPr/>
          <p:nvPr/>
        </p:nvSpPr>
        <p:spPr>
          <a:xfrm>
            <a:off x="365760" y="1005840"/>
            <a:ext cx="109728" cy="804672"/>
          </a:xfrm>
          <a:prstGeom prst="rect">
            <a:avLst/>
          </a:prstGeom>
          <a:solidFill>
            <a:srgbClr val="00B4D8"/>
          </a:solidFill>
          <a:ln w="12700">
            <a:solidFill>
              <a:srgbClr val="00B4D8"/>
            </a:solidFill>
            <a:prstDash val="solid"/>
          </a:ln>
        </p:spPr>
      </p:sp>
      <p:sp>
        <p:nvSpPr>
          <p:cNvPr id="98" name="Text 96"/>
          <p:cNvSpPr/>
          <p:nvPr/>
        </p:nvSpPr>
        <p:spPr>
          <a:xfrm>
            <a:off x="566928" y="1024128"/>
            <a:ext cx="8046720" cy="777240"/>
          </a:xfrm>
          <a:prstGeom prst="rect">
            <a:avLst/>
          </a:prstGeom>
          <a:noFill/>
          <a:ln/>
        </p:spPr>
        <p:txBody>
          <a:bodyPr wrap="square" rtlCol="0" anchor="ctr"/>
          <a:lstStyle/>
          <a:p>
            <a:pPr indent="0" marL="0">
              <a:buNone/>
            </a:pPr>
            <a:r>
              <a:rPr lang="en-US" sz="1150" b="1" dirty="0">
                <a:solidFill>
                  <a:srgbClr val="00B4D8"/>
                </a:solidFill>
              </a:rPr>
              <a:t>RESULT:  </a:t>
            </a:r>
            <a:pPr indent="0" marL="0">
              <a:buNone/>
            </a:pPr>
            <a:r>
              <a:rPr lang="en-US" sz="1150" dirty="0">
                <a:solidFill>
                  <a:srgbClr val="FFFFFF"/>
                </a:solidFill>
              </a:rPr>
              <a:t>The Python program successfully integrated with four AI APIs (OpenAI, Claude, Gemini, Cohere). It automated prompt submission, collected responses, measured latency, and exported comparison data to JSON. Bar charts visualized the differences in verbosity and response speed across models.</a:t>
            </a:r>
            <a:endParaRPr lang="en-US" sz="1150" dirty="0"/>
          </a:p>
        </p:txBody>
      </p:sp>
      <p:sp>
        <p:nvSpPr>
          <p:cNvPr id="99" name="Text 97"/>
          <p:cNvSpPr/>
          <p:nvPr/>
        </p:nvSpPr>
        <p:spPr>
          <a:xfrm>
            <a:off x="365760" y="1938528"/>
            <a:ext cx="8412480" cy="329184"/>
          </a:xfrm>
          <a:prstGeom prst="rect">
            <a:avLst/>
          </a:prstGeom>
          <a:noFill/>
          <a:ln/>
        </p:spPr>
        <p:txBody>
          <a:bodyPr wrap="square" rtlCol="0" anchor="ctr"/>
          <a:lstStyle/>
          <a:p>
            <a:pPr indent="0" marL="0">
              <a:buNone/>
            </a:pPr>
            <a:r>
              <a:rPr lang="en-US" sz="1400" b="1" dirty="0">
                <a:solidFill>
                  <a:srgbClr val="FFFFFF"/>
                </a:solidFill>
              </a:rPr>
              <a:t>Conclusions:</a:t>
            </a:r>
            <a:endParaRPr lang="en-US" sz="1400" dirty="0"/>
          </a:p>
        </p:txBody>
      </p:sp>
      <p:sp>
        <p:nvSpPr>
          <p:cNvPr id="100" name="Text 98"/>
          <p:cNvSpPr/>
          <p:nvPr/>
        </p:nvSpPr>
        <p:spPr>
          <a:xfrm>
            <a:off x="502920" y="2304288"/>
            <a:ext cx="8229600" cy="347472"/>
          </a:xfrm>
          <a:prstGeom prst="rect">
            <a:avLst/>
          </a:prstGeom>
          <a:noFill/>
          <a:ln/>
        </p:spPr>
        <p:txBody>
          <a:bodyPr wrap="square" rtlCol="0" anchor="ctr"/>
          <a:lstStyle/>
          <a:p>
            <a:pPr indent="0" marL="0">
              <a:buNone/>
            </a:pPr>
            <a:r>
              <a:rPr lang="en-US" sz="1200" b="1" dirty="0">
                <a:solidFill>
                  <a:srgbClr val="00B4D8"/>
                </a:solidFill>
              </a:rPr>
              <a:t>✦  </a:t>
            </a:r>
            <a:pPr indent="0" marL="0">
              <a:buNone/>
            </a:pPr>
            <a:r>
              <a:rPr lang="en-US" sz="1200" dirty="0">
                <a:solidFill>
                  <a:srgbClr val="E0E0E0"/>
                </a:solidFill>
              </a:rPr>
              <a:t>Multi-API integration is straightforward using Python SDK libraries for each provider.</a:t>
            </a:r>
            <a:endParaRPr lang="en-US" sz="1200" dirty="0"/>
          </a:p>
        </p:txBody>
      </p:sp>
      <p:sp>
        <p:nvSpPr>
          <p:cNvPr id="101" name="Text 99"/>
          <p:cNvSpPr/>
          <p:nvPr/>
        </p:nvSpPr>
        <p:spPr>
          <a:xfrm>
            <a:off x="502920" y="2688336"/>
            <a:ext cx="8229600" cy="347472"/>
          </a:xfrm>
          <a:prstGeom prst="rect">
            <a:avLst/>
          </a:prstGeom>
          <a:noFill/>
          <a:ln/>
        </p:spPr>
        <p:txBody>
          <a:bodyPr wrap="square" rtlCol="0" anchor="ctr"/>
          <a:lstStyle/>
          <a:p>
            <a:pPr indent="0" marL="0">
              <a:buNone/>
            </a:pPr>
            <a:r>
              <a:rPr lang="en-US" sz="1200" b="1" dirty="0">
                <a:solidFill>
                  <a:srgbClr val="FFD600"/>
                </a:solidFill>
              </a:rPr>
              <a:t>✦  </a:t>
            </a:r>
            <a:pPr indent="0" marL="0">
              <a:buNone/>
            </a:pPr>
            <a:r>
              <a:rPr lang="en-US" sz="1200" dirty="0">
                <a:solidFill>
                  <a:srgbClr val="E0E0E0"/>
                </a:solidFill>
              </a:rPr>
              <a:t>Comparing AI outputs reveals trade-offs in response length, latency, and concept coverage.</a:t>
            </a:r>
            <a:endParaRPr lang="en-US" sz="1200" dirty="0"/>
          </a:p>
        </p:txBody>
      </p:sp>
      <p:sp>
        <p:nvSpPr>
          <p:cNvPr id="102" name="Text 100"/>
          <p:cNvSpPr/>
          <p:nvPr/>
        </p:nvSpPr>
        <p:spPr>
          <a:xfrm>
            <a:off x="502920" y="3072384"/>
            <a:ext cx="8229600" cy="347472"/>
          </a:xfrm>
          <a:prstGeom prst="rect">
            <a:avLst/>
          </a:prstGeom>
          <a:noFill/>
          <a:ln/>
        </p:spPr>
        <p:txBody>
          <a:bodyPr wrap="square" rtlCol="0" anchor="ctr"/>
          <a:lstStyle/>
          <a:p>
            <a:pPr indent="0" marL="0">
              <a:buNone/>
            </a:pPr>
            <a:r>
              <a:rPr lang="en-US" sz="1200" b="1" dirty="0">
                <a:solidFill>
                  <a:srgbClr val="00C853"/>
                </a:solidFill>
              </a:rPr>
              <a:t>✦  </a:t>
            </a:r>
            <a:pPr indent="0" marL="0">
              <a:buNone/>
            </a:pPr>
            <a:r>
              <a:rPr lang="en-US" sz="1200" dirty="0">
                <a:solidFill>
                  <a:srgbClr val="E0E0E0"/>
                </a:solidFill>
              </a:rPr>
              <a:t>Structured JSON export enables downstream dashboarding, reporting, and further NLP analysis.</a:t>
            </a:r>
            <a:endParaRPr lang="en-US" sz="1200" dirty="0"/>
          </a:p>
        </p:txBody>
      </p:sp>
      <p:sp>
        <p:nvSpPr>
          <p:cNvPr id="103" name="Text 101"/>
          <p:cNvSpPr/>
          <p:nvPr/>
        </p:nvSpPr>
        <p:spPr>
          <a:xfrm>
            <a:off x="502920" y="3456432"/>
            <a:ext cx="8229600" cy="347472"/>
          </a:xfrm>
          <a:prstGeom prst="rect">
            <a:avLst/>
          </a:prstGeom>
          <a:noFill/>
          <a:ln/>
        </p:spPr>
        <p:txBody>
          <a:bodyPr wrap="square" rtlCol="0" anchor="ctr"/>
          <a:lstStyle/>
          <a:p>
            <a:pPr indent="0" marL="0">
              <a:buNone/>
            </a:pPr>
            <a:r>
              <a:rPr lang="en-US" sz="1200" b="1" dirty="0">
                <a:solidFill>
                  <a:srgbClr val="FF8A65"/>
                </a:solidFill>
              </a:rPr>
              <a:t>✦  </a:t>
            </a:r>
            <a:pPr indent="0" marL="0">
              <a:buNone/>
            </a:pPr>
            <a:r>
              <a:rPr lang="en-US" sz="1200" dirty="0">
                <a:solidFill>
                  <a:srgbClr val="E0E0E0"/>
                </a:solidFill>
              </a:rPr>
              <a:t>This experiment builds a reusable framework for AI benchmarking applicable to any NLP task.</a:t>
            </a:r>
            <a:endParaRPr lang="en-US" sz="1200" dirty="0"/>
          </a:p>
        </p:txBody>
      </p:sp>
      <p:sp>
        <p:nvSpPr>
          <p:cNvPr id="104" name="Shape 102"/>
          <p:cNvSpPr/>
          <p:nvPr/>
        </p:nvSpPr>
        <p:spPr>
          <a:xfrm>
            <a:off x="365760" y="4681728"/>
            <a:ext cx="8412480" cy="274320"/>
          </a:xfrm>
          <a:prstGeom prst="rect">
            <a:avLst/>
          </a:prstGeom>
          <a:solidFill>
            <a:srgbClr val="00B4D8">
              <a:alpha val="12000"/>
            </a:srgbClr>
          </a:solidFill>
          <a:ln w="12700">
            <a:solidFill>
              <a:srgbClr val="00B4D8">
                <a:alpha val="40000"/>
              </a:srgbClr>
            </a:solidFill>
            <a:prstDash val="solid"/>
          </a:ln>
        </p:spPr>
      </p:sp>
      <p:sp>
        <p:nvSpPr>
          <p:cNvPr id="105" name="Text 103"/>
          <p:cNvSpPr/>
          <p:nvPr/>
        </p:nvSpPr>
        <p:spPr>
          <a:xfrm>
            <a:off x="365760" y="4681728"/>
            <a:ext cx="8412480" cy="274320"/>
          </a:xfrm>
          <a:prstGeom prst="rect">
            <a:avLst/>
          </a:prstGeom>
          <a:noFill/>
          <a:ln/>
        </p:spPr>
        <p:txBody>
          <a:bodyPr wrap="square" rtlCol="0" anchor="ctr"/>
          <a:lstStyle/>
          <a:p>
            <a:pPr algn="ctr" indent="0" marL="0">
              <a:buNone/>
            </a:pPr>
            <a:r>
              <a:rPr lang="en-US" sz="1000" dirty="0">
                <a:solidFill>
                  <a:srgbClr val="00B4D8"/>
                </a:solidFill>
              </a:rPr>
              <a:t>Experiment Completed — Python + Multiple AI Tools Integration  |  Ex.No.6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Ex.No.6 - Development of Python Code Compatible with Multiple AI Tools</dc:title>
  <dc:subject>PptxGenJS Presentation</dc:subject>
  <dc:creator>PptxGenJS</dc:creator>
  <cp:lastModifiedBy>PptxGenJS</cp:lastModifiedBy>
  <cp:revision>1</cp:revision>
  <dcterms:created xsi:type="dcterms:W3CDTF">2026-05-31T12:24:29Z</dcterms:created>
  <dcterms:modified xsi:type="dcterms:W3CDTF">2026-05-31T12:24:29Z</dcterms:modified>
</cp:coreProperties>
</file>